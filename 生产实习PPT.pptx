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69" r:id="rId2"/>
    <p:sldId id="258" r:id="rId3"/>
    <p:sldId id="259" r:id="rId4"/>
    <p:sldId id="265" r:id="rId5"/>
    <p:sldId id="260" r:id="rId6"/>
    <p:sldId id="262" r:id="rId7"/>
    <p:sldId id="268" r:id="rId8"/>
    <p:sldId id="270" r:id="rId9"/>
    <p:sldId id="263" r:id="rId10"/>
    <p:sldId id="271" r:id="rId11"/>
    <p:sldId id="272" r:id="rId12"/>
    <p:sldId id="280" r:id="rId13"/>
    <p:sldId id="281" r:id="rId14"/>
    <p:sldId id="288" r:id="rId15"/>
    <p:sldId id="282" r:id="rId16"/>
    <p:sldId id="283" r:id="rId17"/>
    <p:sldId id="284" r:id="rId18"/>
    <p:sldId id="285" r:id="rId19"/>
    <p:sldId id="287" r:id="rId20"/>
    <p:sldId id="289" r:id="rId21"/>
    <p:sldId id="290" r:id="rId22"/>
    <p:sldId id="266" r:id="rId23"/>
    <p:sldId id="291" r:id="rId24"/>
    <p:sldId id="292" r:id="rId25"/>
    <p:sldId id="293" r:id="rId26"/>
    <p:sldId id="294" r:id="rId27"/>
    <p:sldId id="295" r:id="rId28"/>
    <p:sldId id="261" r:id="rId29"/>
    <p:sldId id="296" r:id="rId30"/>
    <p:sldId id="298" r:id="rId31"/>
    <p:sldId id="273" r:id="rId32"/>
    <p:sldId id="274" r:id="rId33"/>
    <p:sldId id="275" r:id="rId34"/>
    <p:sldId id="276" r:id="rId35"/>
    <p:sldId id="312" r:id="rId36"/>
    <p:sldId id="299" r:id="rId37"/>
    <p:sldId id="313" r:id="rId38"/>
    <p:sldId id="314" r:id="rId39"/>
    <p:sldId id="316" r:id="rId40"/>
    <p:sldId id="317" r:id="rId41"/>
    <p:sldId id="300" r:id="rId42"/>
    <p:sldId id="301" r:id="rId43"/>
    <p:sldId id="302" r:id="rId44"/>
    <p:sldId id="303" r:id="rId45"/>
    <p:sldId id="307" r:id="rId46"/>
    <p:sldId id="308" r:id="rId47"/>
    <p:sldId id="309" r:id="rId48"/>
    <p:sldId id="310" r:id="rId49"/>
    <p:sldId id="311" r:id="rId50"/>
    <p:sldId id="304" r:id="rId51"/>
    <p:sldId id="305" r:id="rId5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3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489F3-7A55-46C1-9B5D-305AF87A6460}"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CA08E7-75DC-445B-963C-4AE4FB02A9BD}" type="slidenum">
              <a:rPr lang="zh-CN" altLang="en-US" smtClean="0"/>
              <a:t>‹#›</a:t>
            </a:fld>
            <a:endParaRPr lang="zh-CN" altLang="en-US"/>
          </a:p>
        </p:txBody>
      </p:sp>
    </p:spTree>
    <p:extLst>
      <p:ext uri="{BB962C8B-B14F-4D97-AF65-F5344CB8AC3E}">
        <p14:creationId xmlns:p14="http://schemas.microsoft.com/office/powerpoint/2010/main" val="113930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388C9B-CF80-41B8-A7C6-E568E2F41B7E}" type="slidenum">
              <a:rPr lang="zh-CN" altLang="en-US" smtClean="0"/>
              <a:t>19</a:t>
            </a:fld>
            <a:endParaRPr lang="zh-CN" altLang="en-US"/>
          </a:p>
        </p:txBody>
      </p:sp>
    </p:spTree>
    <p:extLst>
      <p:ext uri="{BB962C8B-B14F-4D97-AF65-F5344CB8AC3E}">
        <p14:creationId xmlns:p14="http://schemas.microsoft.com/office/powerpoint/2010/main" val="19836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4.tmp"/></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18742" y="-4486764"/>
            <a:ext cx="14954963" cy="21156019"/>
            <a:chOff x="0" y="0"/>
            <a:chExt cx="19939950" cy="28208025"/>
          </a:xfrm>
        </p:grpSpPr>
        <p:grpSp>
          <p:nvGrpSpPr>
            <p:cNvPr id="3" name="Group 3"/>
            <p:cNvGrpSpPr/>
            <p:nvPr/>
          </p:nvGrpSpPr>
          <p:grpSpPr>
            <a:xfrm>
              <a:off x="2979307" y="0"/>
              <a:ext cx="12531397" cy="11964703"/>
              <a:chOff x="0" y="0"/>
              <a:chExt cx="851297" cy="812800"/>
            </a:xfrm>
          </p:grpSpPr>
          <p:sp>
            <p:nvSpPr>
              <p:cNvPr id="4" name="Freeform 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641873" y="3801375"/>
              <a:ext cx="12531397" cy="11964703"/>
              <a:chOff x="0" y="0"/>
              <a:chExt cx="851297" cy="812800"/>
            </a:xfrm>
          </p:grpSpPr>
          <p:sp>
            <p:nvSpPr>
              <p:cNvPr id="7" name="Freeform 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7408553" y="6714596"/>
              <a:ext cx="12531397" cy="11964703"/>
              <a:chOff x="0" y="0"/>
              <a:chExt cx="851297" cy="812800"/>
            </a:xfrm>
          </p:grpSpPr>
          <p:sp>
            <p:nvSpPr>
              <p:cNvPr id="10" name="Freeform 1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568307" y="15697698"/>
              <a:ext cx="9353396" cy="8930418"/>
              <a:chOff x="0" y="0"/>
              <a:chExt cx="851297" cy="812800"/>
            </a:xfrm>
          </p:grpSpPr>
          <p:sp>
            <p:nvSpPr>
              <p:cNvPr id="13" name="Freeform 1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2700000">
              <a:off x="1734689" y="17150758"/>
              <a:ext cx="9714738" cy="8930418"/>
              <a:chOff x="0" y="0"/>
              <a:chExt cx="884185" cy="812800"/>
            </a:xfrm>
          </p:grpSpPr>
          <p:sp>
            <p:nvSpPr>
              <p:cNvPr id="16" name="Freeform 16"/>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sp>
        <p:nvSpPr>
          <p:cNvPr id="18" name="Freeform 18"/>
          <p:cNvSpPr/>
          <p:nvPr/>
        </p:nvSpPr>
        <p:spPr>
          <a:xfrm>
            <a:off x="1455513" y="6764503"/>
            <a:ext cx="382735" cy="407707"/>
          </a:xfrm>
          <a:custGeom>
            <a:avLst/>
            <a:gdLst/>
            <a:ahLst/>
            <a:cxnLst/>
            <a:rect l="l" t="t" r="r" b="b"/>
            <a:pathLst>
              <a:path w="382735" h="407707">
                <a:moveTo>
                  <a:pt x="0" y="0"/>
                </a:moveTo>
                <a:lnTo>
                  <a:pt x="382735" y="0"/>
                </a:lnTo>
                <a:lnTo>
                  <a:pt x="382735" y="407707"/>
                </a:lnTo>
                <a:lnTo>
                  <a:pt x="0" y="407707"/>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20" name="Group 20"/>
          <p:cNvGrpSpPr/>
          <p:nvPr/>
        </p:nvGrpSpPr>
        <p:grpSpPr>
          <a:xfrm rot="-10800000">
            <a:off x="1455513" y="5534715"/>
            <a:ext cx="9478044" cy="557007"/>
            <a:chOff x="0" y="0"/>
            <a:chExt cx="2496275" cy="146701"/>
          </a:xfrm>
        </p:grpSpPr>
        <p:sp>
          <p:nvSpPr>
            <p:cNvPr id="21" name="Freeform 21"/>
            <p:cNvSpPr/>
            <p:nvPr/>
          </p:nvSpPr>
          <p:spPr>
            <a:xfrm>
              <a:off x="0" y="0"/>
              <a:ext cx="2496275" cy="146701"/>
            </a:xfrm>
            <a:custGeom>
              <a:avLst/>
              <a:gdLst/>
              <a:ahLst/>
              <a:cxnLst/>
              <a:rect l="l" t="t" r="r" b="b"/>
              <a:pathLst>
                <a:path w="2496275" h="146701">
                  <a:moveTo>
                    <a:pt x="73351" y="0"/>
                  </a:moveTo>
                  <a:lnTo>
                    <a:pt x="2422924" y="0"/>
                  </a:lnTo>
                  <a:cubicBezTo>
                    <a:pt x="2463435" y="0"/>
                    <a:pt x="2496275" y="32840"/>
                    <a:pt x="2496275" y="73351"/>
                  </a:cubicBezTo>
                  <a:lnTo>
                    <a:pt x="2496275" y="73351"/>
                  </a:lnTo>
                  <a:cubicBezTo>
                    <a:pt x="2496275" y="92805"/>
                    <a:pt x="2488547" y="111462"/>
                    <a:pt x="2474791" y="125217"/>
                  </a:cubicBezTo>
                  <a:cubicBezTo>
                    <a:pt x="2461035" y="138973"/>
                    <a:pt x="2442378" y="146701"/>
                    <a:pt x="2422924" y="146701"/>
                  </a:cubicBezTo>
                  <a:lnTo>
                    <a:pt x="73351" y="146701"/>
                  </a:lnTo>
                  <a:cubicBezTo>
                    <a:pt x="32840" y="146701"/>
                    <a:pt x="0" y="113861"/>
                    <a:pt x="0" y="73351"/>
                  </a:cubicBezTo>
                  <a:lnTo>
                    <a:pt x="0" y="73351"/>
                  </a:lnTo>
                  <a:cubicBezTo>
                    <a:pt x="0" y="32840"/>
                    <a:pt x="32840" y="0"/>
                    <a:pt x="73351" y="0"/>
                  </a:cubicBezTo>
                  <a:close/>
                </a:path>
              </a:pathLst>
            </a:custGeom>
            <a:solidFill>
              <a:srgbClr val="263D6D"/>
            </a:solidFill>
            <a:ln cap="rnd">
              <a:noFill/>
              <a:prstDash val="solid"/>
              <a:round/>
            </a:ln>
          </p:spPr>
        </p:sp>
        <p:sp>
          <p:nvSpPr>
            <p:cNvPr id="22" name="TextBox 22"/>
            <p:cNvSpPr txBox="1"/>
            <p:nvPr/>
          </p:nvSpPr>
          <p:spPr>
            <a:xfrm>
              <a:off x="0" y="0"/>
              <a:ext cx="2496275" cy="146701"/>
            </a:xfrm>
            <a:prstGeom prst="rect">
              <a:avLst/>
            </a:prstGeom>
          </p:spPr>
          <p:txBody>
            <a:bodyPr lIns="50800" tIns="50800" rIns="50800" bIns="50800" rtlCol="0" anchor="ctr"/>
            <a:lstStyle/>
            <a:p>
              <a:pPr marL="0" lvl="0" indent="0" algn="l">
                <a:lnSpc>
                  <a:spcPts val="2724"/>
                </a:lnSpc>
                <a:spcBef>
                  <a:spcPct val="0"/>
                </a:spcBef>
              </a:pPr>
              <a:endParaRPr/>
            </a:p>
          </p:txBody>
        </p:sp>
      </p:grpSp>
      <p:sp>
        <p:nvSpPr>
          <p:cNvPr id="23" name="TextBox 23"/>
          <p:cNvSpPr txBox="1"/>
          <p:nvPr/>
        </p:nvSpPr>
        <p:spPr>
          <a:xfrm>
            <a:off x="1455513" y="3574607"/>
            <a:ext cx="12049039" cy="1733934"/>
          </a:xfrm>
          <a:prstGeom prst="rect">
            <a:avLst/>
          </a:prstGeom>
        </p:spPr>
        <p:txBody>
          <a:bodyPr lIns="0" tIns="0" rIns="0" bIns="0" rtlCol="0" anchor="t">
            <a:spAutoFit/>
          </a:bodyPr>
          <a:lstStyle/>
          <a:p>
            <a:pPr algn="l">
              <a:lnSpc>
                <a:spcPts val="13991"/>
              </a:lnSpc>
            </a:pPr>
            <a:r>
              <a:rPr lang="en-US" sz="10599" b="1">
                <a:solidFill>
                  <a:srgbClr val="1E1E1E"/>
                </a:solidFill>
                <a:latin typeface="思源黑体 1 Heavy"/>
                <a:ea typeface="思源黑体 1 Heavy"/>
                <a:cs typeface="思源黑体 1 Heavy"/>
                <a:sym typeface="思源黑体 1 Heavy"/>
              </a:rPr>
              <a:t>智能科研助理</a:t>
            </a:r>
          </a:p>
        </p:txBody>
      </p:sp>
      <p:sp>
        <p:nvSpPr>
          <p:cNvPr id="24" name="TextBox 24"/>
          <p:cNvSpPr txBox="1"/>
          <p:nvPr/>
        </p:nvSpPr>
        <p:spPr>
          <a:xfrm>
            <a:off x="1948924" y="6800218"/>
            <a:ext cx="3315554" cy="692497"/>
          </a:xfrm>
          <a:prstGeom prst="rect">
            <a:avLst/>
          </a:prstGeom>
        </p:spPr>
        <p:txBody>
          <a:bodyPr wrap="square" lIns="0" tIns="0" rIns="0" bIns="0" rtlCol="0" anchor="t">
            <a:spAutoFit/>
          </a:bodyPr>
          <a:lstStyle/>
          <a:p>
            <a:pPr marL="0" lvl="0" indent="0" algn="l">
              <a:lnSpc>
                <a:spcPts val="2720"/>
              </a:lnSpc>
              <a:spcBef>
                <a:spcPct val="0"/>
              </a:spcBef>
            </a:pPr>
            <a:r>
              <a:rPr lang="zh-CN" altLang="en-US" sz="2267" b="1" dirty="0">
                <a:solidFill>
                  <a:srgbClr val="1E1E1E"/>
                </a:solidFill>
                <a:latin typeface="思源黑体 2 Medium"/>
                <a:ea typeface="思源黑体 2 Medium"/>
                <a:cs typeface="思源黑体 2 Medium"/>
                <a:sym typeface="思源黑体 2 Medium"/>
              </a:rPr>
              <a:t>组员</a:t>
            </a:r>
            <a:r>
              <a:rPr lang="en-US" sz="2267" b="1" u="none" strike="noStrike" dirty="0">
                <a:solidFill>
                  <a:srgbClr val="1E1E1E"/>
                </a:solidFill>
                <a:latin typeface="思源黑体 2 Medium"/>
                <a:ea typeface="思源黑体 2 Medium"/>
                <a:cs typeface="思源黑体 2 Medium"/>
                <a:sym typeface="思源黑体 2 Medium"/>
              </a:rPr>
              <a:t>：</a:t>
            </a:r>
            <a:r>
              <a:rPr lang="zh-CN" altLang="en-US" sz="2267" b="1" u="none" strike="noStrike" dirty="0">
                <a:solidFill>
                  <a:srgbClr val="1E1E1E"/>
                </a:solidFill>
                <a:latin typeface="思源黑体 2 Medium"/>
                <a:ea typeface="思源黑体 2 Medium"/>
                <a:cs typeface="思源黑体 2 Medium"/>
                <a:sym typeface="思源黑体 2 Medium"/>
              </a:rPr>
              <a:t>丁园阳   管钰琪</a:t>
            </a:r>
            <a:endParaRPr lang="en-US" altLang="zh-CN" sz="2267" b="1" u="none" strike="noStrike" dirty="0">
              <a:solidFill>
                <a:srgbClr val="1E1E1E"/>
              </a:solidFill>
              <a:latin typeface="思源黑体 2 Medium"/>
              <a:ea typeface="思源黑体 2 Medium"/>
              <a:cs typeface="思源黑体 2 Medium"/>
              <a:sym typeface="思源黑体 2 Medium"/>
            </a:endParaRPr>
          </a:p>
          <a:p>
            <a:pPr marL="0" lvl="0" indent="0" algn="l">
              <a:lnSpc>
                <a:spcPts val="2720"/>
              </a:lnSpc>
              <a:spcBef>
                <a:spcPct val="0"/>
              </a:spcBef>
            </a:pPr>
            <a:r>
              <a:rPr lang="en-US" sz="2267" b="1" dirty="0">
                <a:solidFill>
                  <a:srgbClr val="1E1E1E"/>
                </a:solidFill>
                <a:latin typeface="思源黑体 2 Medium"/>
                <a:ea typeface="思源黑体 2 Medium"/>
                <a:cs typeface="思源黑体 2 Medium"/>
                <a:sym typeface="思源黑体 2 Medium"/>
              </a:rPr>
              <a:t>            </a:t>
            </a:r>
            <a:r>
              <a:rPr lang="zh-CN" altLang="en-US" sz="2267" b="1" dirty="0">
                <a:solidFill>
                  <a:srgbClr val="1E1E1E"/>
                </a:solidFill>
                <a:latin typeface="思源黑体 2 Medium"/>
                <a:ea typeface="思源黑体 2 Medium"/>
                <a:cs typeface="思源黑体 2 Medium"/>
                <a:sym typeface="思源黑体 2 Medium"/>
              </a:rPr>
              <a:t>李    睿   张    璇</a:t>
            </a:r>
            <a:endParaRPr lang="en-US" sz="2267" b="1" u="none" strike="noStrike" dirty="0">
              <a:solidFill>
                <a:srgbClr val="1E1E1E"/>
              </a:solidFill>
              <a:latin typeface="思源黑体 2 Medium"/>
              <a:ea typeface="思源黑体 2 Medium"/>
              <a:cs typeface="思源黑体 2 Medium"/>
              <a:sym typeface="思源黑体 2 Medium"/>
            </a:endParaRPr>
          </a:p>
        </p:txBody>
      </p:sp>
      <p:sp>
        <p:nvSpPr>
          <p:cNvPr id="26" name="TextBox 26"/>
          <p:cNvSpPr txBox="1"/>
          <p:nvPr/>
        </p:nvSpPr>
        <p:spPr>
          <a:xfrm>
            <a:off x="1870245" y="5528672"/>
            <a:ext cx="8648580" cy="511160"/>
          </a:xfrm>
          <a:prstGeom prst="rect">
            <a:avLst/>
          </a:prstGeom>
        </p:spPr>
        <p:txBody>
          <a:bodyPr lIns="0" tIns="0" rIns="0" bIns="0" rtlCol="0" anchor="t">
            <a:spAutoFit/>
          </a:bodyPr>
          <a:lstStyle/>
          <a:p>
            <a:pPr algn="ctr">
              <a:lnSpc>
                <a:spcPts val="3775"/>
              </a:lnSpc>
            </a:pPr>
            <a:r>
              <a:rPr lang="en-US" sz="2500" b="1">
                <a:solidFill>
                  <a:srgbClr val="FFFFFF"/>
                </a:solidFill>
                <a:latin typeface="Akzidenz-Grotesk Medium"/>
                <a:ea typeface="Akzidenz-Grotesk Medium"/>
                <a:cs typeface="Akzidenz-Grotesk Medium"/>
                <a:sym typeface="Akzidenz-Grotesk Medium"/>
              </a:rPr>
              <a:t>INTELLIGENT RESEARCH ASSISTANT</a:t>
            </a:r>
          </a:p>
        </p:txBody>
      </p:sp>
      <p:sp>
        <p:nvSpPr>
          <p:cNvPr id="27" name="TextBox 27"/>
          <p:cNvSpPr txBox="1"/>
          <p:nvPr/>
        </p:nvSpPr>
        <p:spPr>
          <a:xfrm>
            <a:off x="1455513" y="2982588"/>
            <a:ext cx="8863229" cy="619554"/>
          </a:xfrm>
          <a:prstGeom prst="rect">
            <a:avLst/>
          </a:prstGeom>
        </p:spPr>
        <p:txBody>
          <a:bodyPr wrap="square" lIns="0" tIns="0" rIns="0" bIns="0" rtlCol="0" anchor="t">
            <a:spAutoFit/>
          </a:bodyPr>
          <a:lstStyle/>
          <a:p>
            <a:pPr algn="l">
              <a:lnSpc>
                <a:spcPts val="5185"/>
              </a:lnSpc>
            </a:pPr>
            <a:r>
              <a:rPr lang="en-US" sz="3323" spc="1199" dirty="0" err="1">
                <a:solidFill>
                  <a:srgbClr val="1E1E1E"/>
                </a:solidFill>
                <a:latin typeface="思源黑体 3"/>
                <a:ea typeface="思源黑体 3"/>
                <a:cs typeface="思源黑体 3"/>
                <a:sym typeface="思源黑体 3"/>
              </a:rPr>
              <a:t>基于RAG+Agent的论文问答系统</a:t>
            </a:r>
            <a:endParaRPr lang="en-US" sz="3323" spc="1199" dirty="0">
              <a:solidFill>
                <a:srgbClr val="1E1E1E"/>
              </a:solidFill>
              <a:latin typeface="思源黑体 3"/>
              <a:ea typeface="思源黑体 3"/>
              <a:cs typeface="思源黑体 3"/>
              <a:sym typeface="思源黑体 3"/>
            </a:endParaRPr>
          </a:p>
        </p:txBody>
      </p:sp>
      <p:sp>
        <p:nvSpPr>
          <p:cNvPr id="28" name="TextBox 28"/>
          <p:cNvSpPr txBox="1"/>
          <p:nvPr/>
        </p:nvSpPr>
        <p:spPr>
          <a:xfrm>
            <a:off x="842218" y="9239250"/>
            <a:ext cx="4247486" cy="321945"/>
          </a:xfrm>
          <a:prstGeom prst="rect">
            <a:avLst/>
          </a:prstGeom>
        </p:spPr>
        <p:txBody>
          <a:bodyPr lIns="0" tIns="0" rIns="0" bIns="0" rtlCol="0" anchor="t">
            <a:spAutoFit/>
          </a:bodyPr>
          <a:lstStyle/>
          <a:p>
            <a:pPr algn="l">
              <a:lnSpc>
                <a:spcPts val="2640"/>
              </a:lnSpc>
            </a:pPr>
            <a:r>
              <a:rPr lang="en-US" sz="2000" spc="196">
                <a:solidFill>
                  <a:srgbClr val="263D6D"/>
                </a:solidFill>
                <a:latin typeface="思源黑体 4"/>
                <a:ea typeface="思源黑体 4"/>
                <a:cs typeface="思源黑体 4"/>
                <a:sym typeface="思源黑体 4"/>
              </a:rPr>
              <a:t>智慧农业学院（人工智能学院）</a:t>
            </a:r>
          </a:p>
        </p:txBody>
      </p:sp>
      <p:sp>
        <p:nvSpPr>
          <p:cNvPr id="29" name="TextBox 29"/>
          <p:cNvSpPr txBox="1"/>
          <p:nvPr/>
        </p:nvSpPr>
        <p:spPr>
          <a:xfrm>
            <a:off x="824838" y="604947"/>
            <a:ext cx="5356760" cy="382485"/>
          </a:xfrm>
          <a:prstGeom prst="rect">
            <a:avLst/>
          </a:prstGeom>
        </p:spPr>
        <p:txBody>
          <a:bodyPr lIns="0" tIns="0" rIns="0" bIns="0" rtlCol="0" anchor="t">
            <a:spAutoFit/>
          </a:bodyPr>
          <a:lstStyle/>
          <a:p>
            <a:pPr algn="l">
              <a:lnSpc>
                <a:spcPts val="2865"/>
              </a:lnSpc>
            </a:pPr>
            <a:r>
              <a:rPr lang="en-US" sz="1897">
                <a:solidFill>
                  <a:srgbClr val="263D6D"/>
                </a:solidFill>
                <a:latin typeface="Akzidenz-Grotesk"/>
                <a:ea typeface="Akzidenz-Grotesk"/>
                <a:cs typeface="Akzidenz-Grotesk"/>
                <a:sym typeface="Akzidenz-Grotesk"/>
              </a:rPr>
              <a:t>南京农业大学 · 生产实践课程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51784" y="-4585021"/>
            <a:ext cx="14954963" cy="21156019"/>
            <a:chOff x="0" y="0"/>
            <a:chExt cx="19939950" cy="28208025"/>
          </a:xfrm>
        </p:grpSpPr>
        <p:grpSp>
          <p:nvGrpSpPr>
            <p:cNvPr id="3" name="Group 3"/>
            <p:cNvGrpSpPr/>
            <p:nvPr/>
          </p:nvGrpSpPr>
          <p:grpSpPr>
            <a:xfrm>
              <a:off x="2979307" y="0"/>
              <a:ext cx="12531397" cy="11964703"/>
              <a:chOff x="0" y="0"/>
              <a:chExt cx="851297" cy="812800"/>
            </a:xfrm>
          </p:grpSpPr>
          <p:sp>
            <p:nvSpPr>
              <p:cNvPr id="4" name="Freeform 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641873" y="3801375"/>
              <a:ext cx="12531397" cy="11964703"/>
              <a:chOff x="0" y="0"/>
              <a:chExt cx="851297" cy="812800"/>
            </a:xfrm>
          </p:grpSpPr>
          <p:sp>
            <p:nvSpPr>
              <p:cNvPr id="7" name="Freeform 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7408553" y="6714596"/>
              <a:ext cx="12531397" cy="11964703"/>
              <a:chOff x="0" y="0"/>
              <a:chExt cx="851297" cy="812800"/>
            </a:xfrm>
          </p:grpSpPr>
          <p:sp>
            <p:nvSpPr>
              <p:cNvPr id="10" name="Freeform 1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568307" y="15697698"/>
              <a:ext cx="9353396" cy="8930418"/>
              <a:chOff x="0" y="0"/>
              <a:chExt cx="851297" cy="812800"/>
            </a:xfrm>
          </p:grpSpPr>
          <p:sp>
            <p:nvSpPr>
              <p:cNvPr id="13" name="Freeform 1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2700000">
              <a:off x="1734689" y="17150758"/>
              <a:ext cx="9714738" cy="8930418"/>
              <a:chOff x="0" y="0"/>
              <a:chExt cx="884185" cy="812800"/>
            </a:xfrm>
          </p:grpSpPr>
          <p:sp>
            <p:nvSpPr>
              <p:cNvPr id="16" name="Freeform 16"/>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grpSp>
        <p:nvGrpSpPr>
          <p:cNvPr id="18" name="Group 18"/>
          <p:cNvGrpSpPr/>
          <p:nvPr/>
        </p:nvGrpSpPr>
        <p:grpSpPr>
          <a:xfrm>
            <a:off x="-7716935" y="-5325030"/>
            <a:ext cx="14954963" cy="21156019"/>
            <a:chOff x="0" y="0"/>
            <a:chExt cx="19939950" cy="28208025"/>
          </a:xfrm>
        </p:grpSpPr>
        <p:grpSp>
          <p:nvGrpSpPr>
            <p:cNvPr id="19" name="Group 19"/>
            <p:cNvGrpSpPr/>
            <p:nvPr/>
          </p:nvGrpSpPr>
          <p:grpSpPr>
            <a:xfrm rot="-10800000">
              <a:off x="4429246" y="16243322"/>
              <a:ext cx="12531397" cy="11964703"/>
              <a:chOff x="0" y="0"/>
              <a:chExt cx="851297" cy="812800"/>
            </a:xfrm>
          </p:grpSpPr>
          <p:sp>
            <p:nvSpPr>
              <p:cNvPr id="20" name="Freeform 2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10800000">
              <a:off x="1766680" y="12441947"/>
              <a:ext cx="12531397" cy="11964703"/>
              <a:chOff x="0" y="0"/>
              <a:chExt cx="851297" cy="812800"/>
            </a:xfrm>
          </p:grpSpPr>
          <p:sp>
            <p:nvSpPr>
              <p:cNvPr id="23" name="Freeform 2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10800000">
              <a:off x="0" y="9528727"/>
              <a:ext cx="12531397" cy="11964703"/>
              <a:chOff x="0" y="0"/>
              <a:chExt cx="851297" cy="812800"/>
            </a:xfrm>
          </p:grpSpPr>
          <p:sp>
            <p:nvSpPr>
              <p:cNvPr id="26" name="Freeform 26"/>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6018247" y="3579910"/>
              <a:ext cx="9353396" cy="8930418"/>
              <a:chOff x="0" y="0"/>
              <a:chExt cx="851297" cy="812800"/>
            </a:xfrm>
          </p:grpSpPr>
          <p:sp>
            <p:nvSpPr>
              <p:cNvPr id="29" name="Freeform 29"/>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8100000">
              <a:off x="8490523" y="2126849"/>
              <a:ext cx="9714738" cy="8930418"/>
              <a:chOff x="0" y="0"/>
              <a:chExt cx="884185" cy="812800"/>
            </a:xfrm>
          </p:grpSpPr>
          <p:sp>
            <p:nvSpPr>
              <p:cNvPr id="32" name="Freeform 32"/>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sp>
        <p:nvSpPr>
          <p:cNvPr id="34" name="TextBox 34"/>
          <p:cNvSpPr txBox="1"/>
          <p:nvPr/>
        </p:nvSpPr>
        <p:spPr>
          <a:xfrm>
            <a:off x="5543409" y="3194165"/>
            <a:ext cx="7368964" cy="4790992"/>
          </a:xfrm>
          <a:prstGeom prst="rect">
            <a:avLst/>
          </a:prstGeom>
        </p:spPr>
        <p:txBody>
          <a:bodyPr wrap="square" lIns="0" tIns="0" rIns="0" bIns="0" rtlCol="0" anchor="t">
            <a:spAutoFit/>
          </a:bodyPr>
          <a:lstStyle/>
          <a:p>
            <a:pPr algn="ctr">
              <a:lnSpc>
                <a:spcPts val="18969"/>
              </a:lnSpc>
            </a:pPr>
            <a:r>
              <a:rPr lang="en-US" altLang="zh-CN" sz="9600" b="1" dirty="0" err="1">
                <a:solidFill>
                  <a:srgbClr val="1E1E1E"/>
                </a:solidFill>
                <a:latin typeface="思源黑体 4 Bold"/>
                <a:ea typeface="思源黑体 4 Bold"/>
                <a:cs typeface="思源黑体 4 Bold"/>
                <a:sym typeface="思源黑体 4 Bold"/>
              </a:rPr>
              <a:t>项目背景</a:t>
            </a:r>
            <a:endParaRPr lang="en-US" altLang="zh-CN" sz="9600" b="1" dirty="0">
              <a:solidFill>
                <a:srgbClr val="1E1E1E"/>
              </a:solidFill>
              <a:latin typeface="思源黑体 4 Bold"/>
              <a:ea typeface="思源黑体 4 Bold"/>
              <a:cs typeface="思源黑体 4 Bold"/>
              <a:sym typeface="思源黑体 4 Bold"/>
            </a:endParaRPr>
          </a:p>
          <a:p>
            <a:pPr algn="ctr">
              <a:lnSpc>
                <a:spcPts val="18969"/>
              </a:lnSpc>
            </a:pPr>
            <a:endParaRPr lang="en-US" sz="15808" b="1" dirty="0">
              <a:solidFill>
                <a:srgbClr val="263D6D"/>
              </a:solidFill>
              <a:latin typeface="Akzidenz-Grotesk Bold"/>
              <a:ea typeface="Akzidenz-Grotesk Bold"/>
              <a:cs typeface="Akzidenz-Grotesk Bold"/>
              <a:sym typeface="Akzidenz-Grotesk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项目背景</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Project background</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5400000">
            <a:off x="11540971" y="408125"/>
            <a:ext cx="2712215" cy="7932235"/>
            <a:chOff x="0" y="0"/>
            <a:chExt cx="812800" cy="2377143"/>
          </a:xfrm>
        </p:grpSpPr>
        <p:sp>
          <p:nvSpPr>
            <p:cNvPr id="23" name="Freeform 23"/>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4" name="TextBox 24"/>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5" name="Group 25"/>
          <p:cNvGrpSpPr/>
          <p:nvPr/>
        </p:nvGrpSpPr>
        <p:grpSpPr>
          <a:xfrm rot="5400000">
            <a:off x="11540971" y="3396564"/>
            <a:ext cx="2712215" cy="7932235"/>
            <a:chOff x="0" y="0"/>
            <a:chExt cx="812800" cy="2377143"/>
          </a:xfrm>
        </p:grpSpPr>
        <p:sp>
          <p:nvSpPr>
            <p:cNvPr id="26" name="Freeform 26"/>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7" name="TextBox 27"/>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8" name="Group 28"/>
          <p:cNvGrpSpPr/>
          <p:nvPr/>
        </p:nvGrpSpPr>
        <p:grpSpPr>
          <a:xfrm>
            <a:off x="8390646" y="3833927"/>
            <a:ext cx="1080630" cy="108063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0" name="TextBox 30"/>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grpSp>
        <p:nvGrpSpPr>
          <p:cNvPr id="31" name="Group 31"/>
          <p:cNvGrpSpPr/>
          <p:nvPr/>
        </p:nvGrpSpPr>
        <p:grpSpPr>
          <a:xfrm>
            <a:off x="8390646" y="6822367"/>
            <a:ext cx="1080630" cy="108063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3" name="TextBox 33"/>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sp>
        <p:nvSpPr>
          <p:cNvPr id="34" name="Freeform 34"/>
          <p:cNvSpPr/>
          <p:nvPr/>
        </p:nvSpPr>
        <p:spPr>
          <a:xfrm>
            <a:off x="8644924" y="7076645"/>
            <a:ext cx="572074" cy="572074"/>
          </a:xfrm>
          <a:custGeom>
            <a:avLst/>
            <a:gdLst/>
            <a:ahLst/>
            <a:cxnLst/>
            <a:rect l="l" t="t" r="r" b="b"/>
            <a:pathLst>
              <a:path w="572074" h="572074">
                <a:moveTo>
                  <a:pt x="0" y="0"/>
                </a:moveTo>
                <a:lnTo>
                  <a:pt x="572074" y="0"/>
                </a:lnTo>
                <a:lnTo>
                  <a:pt x="572074" y="572074"/>
                </a:lnTo>
                <a:lnTo>
                  <a:pt x="0" y="572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8601149" y="4088205"/>
            <a:ext cx="659624" cy="572074"/>
          </a:xfrm>
          <a:custGeom>
            <a:avLst/>
            <a:gdLst/>
            <a:ahLst/>
            <a:cxnLst/>
            <a:rect l="l" t="t" r="r" b="b"/>
            <a:pathLst>
              <a:path w="659624" h="572074">
                <a:moveTo>
                  <a:pt x="0" y="0"/>
                </a:moveTo>
                <a:lnTo>
                  <a:pt x="659624" y="0"/>
                </a:lnTo>
                <a:lnTo>
                  <a:pt x="659624" y="572074"/>
                </a:lnTo>
                <a:lnTo>
                  <a:pt x="0" y="5720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6" name="TextBox 36"/>
          <p:cNvSpPr txBox="1"/>
          <p:nvPr/>
        </p:nvSpPr>
        <p:spPr>
          <a:xfrm>
            <a:off x="9976101" y="3854591"/>
            <a:ext cx="6283175" cy="1429893"/>
          </a:xfrm>
          <a:prstGeom prst="rect">
            <a:avLst/>
          </a:prstGeom>
        </p:spPr>
        <p:txBody>
          <a:bodyPr lIns="0" tIns="0" rIns="0" bIns="0" rtlCol="0" anchor="t">
            <a:spAutoFit/>
          </a:bodyPr>
          <a:lstStyle/>
          <a:p>
            <a:pPr marL="0" lvl="0" indent="0" algn="just">
              <a:lnSpc>
                <a:spcPts val="2856"/>
              </a:lnSpc>
              <a:spcBef>
                <a:spcPct val="0"/>
              </a:spcBef>
            </a:pPr>
            <a:r>
              <a:rPr lang="en-US" sz="1700" u="none" strike="noStrike">
                <a:solidFill>
                  <a:srgbClr val="1E1E1E"/>
                </a:solidFill>
                <a:latin typeface="思源黑体 2"/>
                <a:ea typeface="思源黑体 2"/>
                <a:cs typeface="思源黑体 2"/>
                <a:sym typeface="思源黑体 2"/>
              </a:rPr>
              <a:t>学术文献总量持续高速增长，研究者面临「文献太多、精力有限」的矛盾。通用大模型存在知识更新滞后、易产生幻觉、无法触及私有文献库三大短板，答案难以溯源。</a:t>
            </a:r>
          </a:p>
        </p:txBody>
      </p:sp>
      <p:sp>
        <p:nvSpPr>
          <p:cNvPr id="37" name="TextBox 37"/>
          <p:cNvSpPr txBox="1"/>
          <p:nvPr/>
        </p:nvSpPr>
        <p:spPr>
          <a:xfrm>
            <a:off x="9976101" y="3283025"/>
            <a:ext cx="2889059" cy="510158"/>
          </a:xfrm>
          <a:prstGeom prst="rect">
            <a:avLst/>
          </a:prstGeom>
        </p:spPr>
        <p:txBody>
          <a:bodyPr lIns="0" tIns="0" rIns="0" bIns="0" rtlCol="0" anchor="t">
            <a:spAutoFit/>
          </a:bodyPr>
          <a:lstStyle/>
          <a:p>
            <a:pPr marL="0" lvl="0" indent="0" algn="l">
              <a:lnSpc>
                <a:spcPts val="4368"/>
              </a:lnSpc>
              <a:spcBef>
                <a:spcPct val="0"/>
              </a:spcBef>
            </a:pPr>
            <a:r>
              <a:rPr lang="en-US" sz="2800" b="1">
                <a:solidFill>
                  <a:srgbClr val="1E1E1E"/>
                </a:solidFill>
                <a:latin typeface="思源黑体 2 Bold"/>
                <a:ea typeface="思源黑体 2 Bold"/>
                <a:cs typeface="思源黑体 2 Bold"/>
                <a:sym typeface="思源黑体 2 Bold"/>
              </a:rPr>
              <a:t>课题来源与需求</a:t>
            </a:r>
          </a:p>
        </p:txBody>
      </p:sp>
      <p:sp>
        <p:nvSpPr>
          <p:cNvPr id="38" name="TextBox 38"/>
          <p:cNvSpPr txBox="1"/>
          <p:nvPr/>
        </p:nvSpPr>
        <p:spPr>
          <a:xfrm>
            <a:off x="9976101" y="6271465"/>
            <a:ext cx="2889059" cy="510158"/>
          </a:xfrm>
          <a:prstGeom prst="rect">
            <a:avLst/>
          </a:prstGeom>
        </p:spPr>
        <p:txBody>
          <a:bodyPr lIns="0" tIns="0" rIns="0" bIns="0" rtlCol="0" anchor="t">
            <a:spAutoFit/>
          </a:bodyPr>
          <a:lstStyle/>
          <a:p>
            <a:pPr marL="0" lvl="0" indent="0" algn="l">
              <a:lnSpc>
                <a:spcPts val="4368"/>
              </a:lnSpc>
              <a:spcBef>
                <a:spcPct val="0"/>
              </a:spcBef>
            </a:pPr>
            <a:r>
              <a:rPr lang="en-US" sz="2800" b="1">
                <a:solidFill>
                  <a:srgbClr val="1E1E1E"/>
                </a:solidFill>
                <a:latin typeface="思源黑体 2 Bold"/>
                <a:ea typeface="思源黑体 2 Bold"/>
                <a:cs typeface="思源黑体 2 Bold"/>
                <a:sym typeface="思源黑体 2 Bold"/>
              </a:rPr>
              <a:t>课程背景与定位</a:t>
            </a:r>
          </a:p>
        </p:txBody>
      </p:sp>
      <p:sp>
        <p:nvSpPr>
          <p:cNvPr id="39" name="TextBox 39"/>
          <p:cNvSpPr txBox="1"/>
          <p:nvPr/>
        </p:nvSpPr>
        <p:spPr>
          <a:xfrm>
            <a:off x="9976101" y="6843031"/>
            <a:ext cx="6283175" cy="1429893"/>
          </a:xfrm>
          <a:prstGeom prst="rect">
            <a:avLst/>
          </a:prstGeom>
        </p:spPr>
        <p:txBody>
          <a:bodyPr lIns="0" tIns="0" rIns="0" bIns="0" rtlCol="0" anchor="t">
            <a:spAutoFit/>
          </a:bodyPr>
          <a:lstStyle/>
          <a:p>
            <a:pPr marL="0" lvl="0" indent="0" algn="just">
              <a:lnSpc>
                <a:spcPts val="2856"/>
              </a:lnSpc>
              <a:spcBef>
                <a:spcPct val="0"/>
              </a:spcBef>
            </a:pPr>
            <a:r>
              <a:rPr lang="en-US" sz="1700" u="none" strike="noStrike">
                <a:solidFill>
                  <a:srgbClr val="1E1E1E"/>
                </a:solidFill>
                <a:latin typeface="思源黑体 2"/>
                <a:ea typeface="思源黑体 2"/>
                <a:cs typeface="思源黑体 2"/>
                <a:sym typeface="思源黑体 2"/>
              </a:rPr>
              <a:t>本项目为南京农业大学智慧农业学院生产实践课程考核课题，要求4人组队完成。以「智能科研助理」工程落地为主线，将RAG、Agent等核心技术应用于真实开发场景。</a:t>
            </a:r>
          </a:p>
        </p:txBody>
      </p:sp>
      <p:grpSp>
        <p:nvGrpSpPr>
          <p:cNvPr id="40" name="Group 40"/>
          <p:cNvGrpSpPr/>
          <p:nvPr/>
        </p:nvGrpSpPr>
        <p:grpSpPr>
          <a:xfrm>
            <a:off x="1424804" y="6247576"/>
            <a:ext cx="2649378" cy="2649378"/>
            <a:chOff x="0" y="0"/>
            <a:chExt cx="812800" cy="812800"/>
          </a:xfrm>
        </p:grpSpPr>
        <p:sp>
          <p:nvSpPr>
            <p:cNvPr id="41" name="Freeform 4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263D6D"/>
            </a:solidFill>
          </p:spPr>
        </p:sp>
        <p:sp>
          <p:nvSpPr>
            <p:cNvPr id="42" name="TextBox 42"/>
            <p:cNvSpPr txBox="1"/>
            <p:nvPr/>
          </p:nvSpPr>
          <p:spPr>
            <a:xfrm>
              <a:off x="0" y="0"/>
              <a:ext cx="812800" cy="812800"/>
            </a:xfrm>
            <a:prstGeom prst="rect">
              <a:avLst/>
            </a:prstGeom>
          </p:spPr>
          <p:txBody>
            <a:bodyPr lIns="50800" tIns="50800" rIns="50800" bIns="50800" rtlCol="0" anchor="ctr"/>
            <a:lstStyle/>
            <a:p>
              <a:pPr algn="ctr">
                <a:lnSpc>
                  <a:spcPts val="2987"/>
                </a:lnSpc>
              </a:pPr>
              <a:endParaRPr/>
            </a:p>
          </p:txBody>
        </p:sp>
      </p:grpSp>
      <p:grpSp>
        <p:nvGrpSpPr>
          <p:cNvPr id="43" name="Group 43"/>
          <p:cNvGrpSpPr/>
          <p:nvPr/>
        </p:nvGrpSpPr>
        <p:grpSpPr>
          <a:xfrm>
            <a:off x="1581270" y="3018135"/>
            <a:ext cx="6461017" cy="5700654"/>
            <a:chOff x="0" y="0"/>
            <a:chExt cx="20472247" cy="18062976"/>
          </a:xfrm>
        </p:grpSpPr>
        <p:sp>
          <p:nvSpPr>
            <p:cNvPr id="44" name="Freeform 44"/>
            <p:cNvSpPr/>
            <p:nvPr/>
          </p:nvSpPr>
          <p:spPr>
            <a:xfrm>
              <a:off x="0" y="0"/>
              <a:ext cx="20472260" cy="18062970"/>
            </a:xfrm>
            <a:custGeom>
              <a:avLst/>
              <a:gdLst/>
              <a:ahLst/>
              <a:cxnLst/>
              <a:rect l="l" t="t" r="r" b="b"/>
              <a:pathLst>
                <a:path w="20472260" h="18062970">
                  <a:moveTo>
                    <a:pt x="0" y="0"/>
                  </a:moveTo>
                  <a:lnTo>
                    <a:pt x="20472260" y="0"/>
                  </a:lnTo>
                  <a:lnTo>
                    <a:pt x="20472260" y="18062970"/>
                  </a:lnTo>
                  <a:lnTo>
                    <a:pt x="0" y="18062970"/>
                  </a:lnTo>
                </a:path>
              </a:pathLst>
            </a:custGeom>
            <a:blipFill>
              <a:blip r:embed="rId4"/>
              <a:stretch>
                <a:fillRect l="-42793" r="-42793"/>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技术背景</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Technical background</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2403501" y="2875150"/>
            <a:ext cx="6249754" cy="792056"/>
            <a:chOff x="0" y="0"/>
            <a:chExt cx="1646026" cy="208607"/>
          </a:xfrm>
        </p:grpSpPr>
        <p:sp>
          <p:nvSpPr>
            <p:cNvPr id="23" name="Freeform 23"/>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24" name="TextBox 24"/>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2403501" y="3657681"/>
            <a:ext cx="6249754" cy="2052989"/>
            <a:chOff x="0" y="0"/>
            <a:chExt cx="1646026" cy="540705"/>
          </a:xfrm>
        </p:grpSpPr>
        <p:sp>
          <p:nvSpPr>
            <p:cNvPr id="26" name="Freeform 26"/>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27" name="TextBox 27"/>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2945815" y="3987650"/>
            <a:ext cx="5165125" cy="1429893"/>
          </a:xfrm>
          <a:prstGeom prst="rect">
            <a:avLst/>
          </a:prstGeom>
        </p:spPr>
        <p:txBody>
          <a:bodyPr lIns="0" tIns="0" rIns="0" bIns="0" rtlCol="0" anchor="t">
            <a:spAutoFit/>
          </a:bodyPr>
          <a:lstStyle/>
          <a:p>
            <a:pPr algn="just">
              <a:lnSpc>
                <a:spcPts val="2856"/>
              </a:lnSpc>
            </a:pPr>
            <a:r>
              <a:rPr lang="en-US" sz="1700" dirty="0">
                <a:solidFill>
                  <a:srgbClr val="1E1E1E"/>
                </a:solidFill>
                <a:latin typeface="思源黑体 2"/>
                <a:ea typeface="思源黑体 2"/>
                <a:cs typeface="思源黑体 2"/>
                <a:sym typeface="思源黑体 2"/>
              </a:rPr>
              <a:t>RAG由Lewis等于2020年提出，先检索证据再据此生成，把模型从「凭记忆作答」转为「查资料作答」，</a:t>
            </a:r>
            <a:r>
              <a:rPr lang="en-US" sz="1700" dirty="0" err="1">
                <a:solidFill>
                  <a:srgbClr val="1E1E1E"/>
                </a:solidFill>
                <a:latin typeface="思源黑体 2"/>
                <a:ea typeface="思源黑体 2"/>
                <a:cs typeface="思源黑体 2"/>
                <a:sym typeface="思源黑体 2"/>
              </a:rPr>
              <a:t>从源头缓解幻觉</a:t>
            </a:r>
            <a:r>
              <a:rPr lang="en-US" sz="1700" dirty="0">
                <a:solidFill>
                  <a:srgbClr val="1E1E1E"/>
                </a:solidFill>
                <a:latin typeface="思源黑体 2"/>
                <a:ea typeface="思源黑体 2"/>
                <a:cs typeface="思源黑体 2"/>
                <a:sym typeface="思源黑体 2"/>
              </a:rPr>
              <a:t>。</a:t>
            </a:r>
          </a:p>
        </p:txBody>
      </p:sp>
      <p:sp>
        <p:nvSpPr>
          <p:cNvPr id="29" name="TextBox 29"/>
          <p:cNvSpPr txBox="1"/>
          <p:nvPr/>
        </p:nvSpPr>
        <p:spPr>
          <a:xfrm>
            <a:off x="4083848" y="2954187"/>
            <a:ext cx="2889059" cy="510158"/>
          </a:xfrm>
          <a:prstGeom prst="rect">
            <a:avLst/>
          </a:prstGeom>
        </p:spPr>
        <p:txBody>
          <a:bodyPr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检索增强生成</a:t>
            </a:r>
          </a:p>
        </p:txBody>
      </p:sp>
      <p:grpSp>
        <p:nvGrpSpPr>
          <p:cNvPr id="30" name="Group 30"/>
          <p:cNvGrpSpPr/>
          <p:nvPr/>
        </p:nvGrpSpPr>
        <p:grpSpPr>
          <a:xfrm>
            <a:off x="5359438" y="3644380"/>
            <a:ext cx="337879" cy="295645"/>
            <a:chOff x="0" y="0"/>
            <a:chExt cx="812800" cy="711200"/>
          </a:xfrm>
        </p:grpSpPr>
        <p:sp>
          <p:nvSpPr>
            <p:cNvPr id="31" name="Freeform 3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32" name="TextBox 32"/>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9634745" y="2875150"/>
            <a:ext cx="6249754" cy="792056"/>
            <a:chOff x="0" y="0"/>
            <a:chExt cx="1646026" cy="208607"/>
          </a:xfrm>
        </p:grpSpPr>
        <p:sp>
          <p:nvSpPr>
            <p:cNvPr id="34" name="Freeform 34"/>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35" name="TextBox 35"/>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9634745" y="3657681"/>
            <a:ext cx="6249754" cy="2052989"/>
            <a:chOff x="0" y="0"/>
            <a:chExt cx="1646026" cy="540705"/>
          </a:xfrm>
        </p:grpSpPr>
        <p:sp>
          <p:nvSpPr>
            <p:cNvPr id="37" name="Freeform 37"/>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38" name="TextBox 38"/>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10177060" y="3987650"/>
            <a:ext cx="5165125" cy="142989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bge系列嵌入模型支撑语义检索；RRF融合向量与BM25两路结果；交叉编码器重排序校准相关性，构成检索底座。</a:t>
            </a:r>
          </a:p>
        </p:txBody>
      </p:sp>
      <p:sp>
        <p:nvSpPr>
          <p:cNvPr id="40" name="TextBox 40"/>
          <p:cNvSpPr txBox="1"/>
          <p:nvPr/>
        </p:nvSpPr>
        <p:spPr>
          <a:xfrm>
            <a:off x="11315093" y="2954187"/>
            <a:ext cx="2889059" cy="510158"/>
          </a:xfrm>
          <a:prstGeom prst="rect">
            <a:avLst/>
          </a:prstGeom>
        </p:spPr>
        <p:txBody>
          <a:bodyPr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混合检索与重排序</a:t>
            </a:r>
          </a:p>
        </p:txBody>
      </p:sp>
      <p:grpSp>
        <p:nvGrpSpPr>
          <p:cNvPr id="41" name="Group 41"/>
          <p:cNvGrpSpPr/>
          <p:nvPr/>
        </p:nvGrpSpPr>
        <p:grpSpPr>
          <a:xfrm>
            <a:off x="12590682" y="3644380"/>
            <a:ext cx="337879" cy="295645"/>
            <a:chOff x="0" y="0"/>
            <a:chExt cx="812800" cy="711200"/>
          </a:xfrm>
        </p:grpSpPr>
        <p:sp>
          <p:nvSpPr>
            <p:cNvPr id="42" name="Freeform 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43" name="TextBox 43"/>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2403501" y="6120245"/>
            <a:ext cx="6249754" cy="792056"/>
            <a:chOff x="0" y="0"/>
            <a:chExt cx="1646026" cy="208607"/>
          </a:xfrm>
        </p:grpSpPr>
        <p:sp>
          <p:nvSpPr>
            <p:cNvPr id="45" name="Freeform 45"/>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46" name="TextBox 46"/>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47" name="Group 47"/>
          <p:cNvGrpSpPr/>
          <p:nvPr/>
        </p:nvGrpSpPr>
        <p:grpSpPr>
          <a:xfrm>
            <a:off x="2403501" y="6902776"/>
            <a:ext cx="6249754" cy="2052989"/>
            <a:chOff x="0" y="0"/>
            <a:chExt cx="1646026" cy="540705"/>
          </a:xfrm>
        </p:grpSpPr>
        <p:sp>
          <p:nvSpPr>
            <p:cNvPr id="48" name="Freeform 48"/>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49" name="TextBox 49"/>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50" name="TextBox 50"/>
          <p:cNvSpPr txBox="1"/>
          <p:nvPr/>
        </p:nvSpPr>
        <p:spPr>
          <a:xfrm>
            <a:off x="2945815" y="7232745"/>
            <a:ext cx="5165125" cy="142989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Yao等提出ReAct框架，推理与行动交替，形成「思考—行动—观察」循环，在多步推理任务上显著提升准确率。</a:t>
            </a:r>
          </a:p>
        </p:txBody>
      </p:sp>
      <p:sp>
        <p:nvSpPr>
          <p:cNvPr id="51" name="TextBox 51"/>
          <p:cNvSpPr txBox="1"/>
          <p:nvPr/>
        </p:nvSpPr>
        <p:spPr>
          <a:xfrm>
            <a:off x="4083848" y="6199282"/>
            <a:ext cx="2889059" cy="510158"/>
          </a:xfrm>
          <a:prstGeom prst="rect">
            <a:avLst/>
          </a:prstGeom>
        </p:spPr>
        <p:txBody>
          <a:bodyPr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ReAct智能体</a:t>
            </a:r>
          </a:p>
        </p:txBody>
      </p:sp>
      <p:grpSp>
        <p:nvGrpSpPr>
          <p:cNvPr id="52" name="Group 52"/>
          <p:cNvGrpSpPr/>
          <p:nvPr/>
        </p:nvGrpSpPr>
        <p:grpSpPr>
          <a:xfrm>
            <a:off x="5359438" y="6889475"/>
            <a:ext cx="337879" cy="295645"/>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54" name="TextBox 54"/>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55" name="Group 55"/>
          <p:cNvGrpSpPr/>
          <p:nvPr/>
        </p:nvGrpSpPr>
        <p:grpSpPr>
          <a:xfrm>
            <a:off x="9634745" y="6120245"/>
            <a:ext cx="6249754" cy="792056"/>
            <a:chOff x="0" y="0"/>
            <a:chExt cx="1646026" cy="208607"/>
          </a:xfrm>
        </p:grpSpPr>
        <p:sp>
          <p:nvSpPr>
            <p:cNvPr id="56" name="Freeform 56"/>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57" name="TextBox 57"/>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58" name="Group 58"/>
          <p:cNvGrpSpPr/>
          <p:nvPr/>
        </p:nvGrpSpPr>
        <p:grpSpPr>
          <a:xfrm>
            <a:off x="9634745" y="6902776"/>
            <a:ext cx="6249754" cy="2052989"/>
            <a:chOff x="0" y="0"/>
            <a:chExt cx="1646026" cy="540705"/>
          </a:xfrm>
        </p:grpSpPr>
        <p:sp>
          <p:nvSpPr>
            <p:cNvPr id="59" name="Freeform 59"/>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60" name="TextBox 60"/>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61" name="TextBox 61"/>
          <p:cNvSpPr txBox="1"/>
          <p:nvPr/>
        </p:nvSpPr>
        <p:spPr>
          <a:xfrm>
            <a:off x="10177060" y="7232745"/>
            <a:ext cx="5165125" cy="142989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华盛顿大学OpenScholar基于大规模开放文献构建检索增强模型，引文准确率接近人类专家，印证可溯源路线价值。</a:t>
            </a:r>
          </a:p>
        </p:txBody>
      </p:sp>
      <p:sp>
        <p:nvSpPr>
          <p:cNvPr id="62" name="TextBox 62"/>
          <p:cNvSpPr txBox="1"/>
          <p:nvPr/>
        </p:nvSpPr>
        <p:spPr>
          <a:xfrm>
            <a:off x="11315093" y="6199282"/>
            <a:ext cx="2889059" cy="510158"/>
          </a:xfrm>
          <a:prstGeom prst="rect">
            <a:avLst/>
          </a:prstGeom>
        </p:spPr>
        <p:txBody>
          <a:bodyPr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学术可溯源实践</a:t>
            </a:r>
          </a:p>
        </p:txBody>
      </p:sp>
      <p:grpSp>
        <p:nvGrpSpPr>
          <p:cNvPr id="63" name="Group 63"/>
          <p:cNvGrpSpPr/>
          <p:nvPr/>
        </p:nvGrpSpPr>
        <p:grpSpPr>
          <a:xfrm>
            <a:off x="12590682" y="6889475"/>
            <a:ext cx="337879" cy="295645"/>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65" name="TextBox 65"/>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研究现状</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Research status</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2704707" y="3152604"/>
            <a:ext cx="2649378" cy="264937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alpha val="26667"/>
              </a:srgbClr>
            </a:solidFill>
          </p:spPr>
        </p:sp>
        <p:sp>
          <p:nvSpPr>
            <p:cNvPr id="24" name="TextBox 24"/>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grpSp>
        <p:nvGrpSpPr>
          <p:cNvPr id="25" name="Group 25"/>
          <p:cNvGrpSpPr/>
          <p:nvPr/>
        </p:nvGrpSpPr>
        <p:grpSpPr>
          <a:xfrm>
            <a:off x="2908315" y="3356212"/>
            <a:ext cx="2242162" cy="224216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263D6D"/>
              </a:solidFill>
              <a:prstDash val="solid"/>
              <a:miter/>
            </a:ln>
          </p:spPr>
        </p:sp>
        <p:sp>
          <p:nvSpPr>
            <p:cNvPr id="27" name="TextBox 27"/>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sp>
        <p:nvSpPr>
          <p:cNvPr id="28" name="Freeform 28"/>
          <p:cNvSpPr/>
          <p:nvPr/>
        </p:nvSpPr>
        <p:spPr>
          <a:xfrm>
            <a:off x="3523397" y="3933740"/>
            <a:ext cx="1011997" cy="1087106"/>
          </a:xfrm>
          <a:custGeom>
            <a:avLst/>
            <a:gdLst/>
            <a:ahLst/>
            <a:cxnLst/>
            <a:rect l="l" t="t" r="r" b="b"/>
            <a:pathLst>
              <a:path w="1011997" h="1087106">
                <a:moveTo>
                  <a:pt x="0" y="0"/>
                </a:moveTo>
                <a:lnTo>
                  <a:pt x="1011997" y="0"/>
                </a:lnTo>
                <a:lnTo>
                  <a:pt x="1011997" y="1087106"/>
                </a:lnTo>
                <a:lnTo>
                  <a:pt x="0" y="108710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9" name="TextBox 29"/>
          <p:cNvSpPr txBox="1"/>
          <p:nvPr/>
        </p:nvSpPr>
        <p:spPr>
          <a:xfrm>
            <a:off x="1921984" y="6741624"/>
            <a:ext cx="4214824" cy="1791843"/>
          </a:xfrm>
          <a:prstGeom prst="rect">
            <a:avLst/>
          </a:prstGeom>
        </p:spPr>
        <p:txBody>
          <a:bodyPr lIns="0" tIns="0" rIns="0" bIns="0" rtlCol="0" anchor="t">
            <a:spAutoFit/>
          </a:bodyPr>
          <a:lstStyle/>
          <a:p>
            <a:pPr marL="0" lvl="0" indent="0" algn="ctr">
              <a:lnSpc>
                <a:spcPts val="2856"/>
              </a:lnSpc>
              <a:spcBef>
                <a:spcPct val="0"/>
              </a:spcBef>
            </a:pPr>
            <a:r>
              <a:rPr lang="en-US" sz="1700">
                <a:solidFill>
                  <a:srgbClr val="100F0D"/>
                </a:solidFill>
                <a:latin typeface="思源黑体 2"/>
                <a:ea typeface="思源黑体 2"/>
                <a:cs typeface="思源黑体 2"/>
                <a:sym typeface="思源黑体 2"/>
              </a:rPr>
              <a:t>NotebookLM围绕用户上传资料构建有据问答；Elicit、SciSpace聚焦文献综述自动化与数据抽取。</a:t>
            </a:r>
          </a:p>
        </p:txBody>
      </p:sp>
      <p:sp>
        <p:nvSpPr>
          <p:cNvPr id="30" name="TextBox 30"/>
          <p:cNvSpPr txBox="1"/>
          <p:nvPr/>
        </p:nvSpPr>
        <p:spPr>
          <a:xfrm>
            <a:off x="2728974" y="6124734"/>
            <a:ext cx="2600842" cy="510158"/>
          </a:xfrm>
          <a:prstGeom prst="rect">
            <a:avLst/>
          </a:prstGeom>
        </p:spPr>
        <p:txBody>
          <a:bodyPr lIns="0" tIns="0" rIns="0" bIns="0" rtlCol="0" anchor="t">
            <a:spAutoFit/>
          </a:bodyPr>
          <a:lstStyle/>
          <a:p>
            <a:pPr marL="0" lvl="0" indent="0" algn="ctr">
              <a:lnSpc>
                <a:spcPts val="4368"/>
              </a:lnSpc>
              <a:spcBef>
                <a:spcPct val="0"/>
              </a:spcBef>
            </a:pPr>
            <a:r>
              <a:rPr lang="en-US" sz="2800" b="1">
                <a:solidFill>
                  <a:srgbClr val="1E1E1E"/>
                </a:solidFill>
                <a:latin typeface="思源黑体 2 Bold"/>
                <a:ea typeface="思源黑体 2 Bold"/>
                <a:cs typeface="思源黑体 2 Bold"/>
                <a:sym typeface="思源黑体 2 Bold"/>
              </a:rPr>
              <a:t>国外学术助手</a:t>
            </a:r>
          </a:p>
        </p:txBody>
      </p:sp>
      <p:grpSp>
        <p:nvGrpSpPr>
          <p:cNvPr id="31" name="Group 31"/>
          <p:cNvGrpSpPr/>
          <p:nvPr/>
        </p:nvGrpSpPr>
        <p:grpSpPr>
          <a:xfrm>
            <a:off x="7819311" y="3152604"/>
            <a:ext cx="2649378" cy="2649378"/>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3" name="TextBox 33"/>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grpSp>
        <p:nvGrpSpPr>
          <p:cNvPr id="34" name="Group 34"/>
          <p:cNvGrpSpPr/>
          <p:nvPr/>
        </p:nvGrpSpPr>
        <p:grpSpPr>
          <a:xfrm>
            <a:off x="8022919" y="3356212"/>
            <a:ext cx="2242162" cy="224216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36" name="TextBox 36"/>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sp>
        <p:nvSpPr>
          <p:cNvPr id="37" name="TextBox 37"/>
          <p:cNvSpPr txBox="1"/>
          <p:nvPr/>
        </p:nvSpPr>
        <p:spPr>
          <a:xfrm>
            <a:off x="7036588" y="6741624"/>
            <a:ext cx="4214824" cy="1791843"/>
          </a:xfrm>
          <a:prstGeom prst="rect">
            <a:avLst/>
          </a:prstGeom>
        </p:spPr>
        <p:txBody>
          <a:bodyPr lIns="0" tIns="0" rIns="0" bIns="0" rtlCol="0" anchor="t">
            <a:spAutoFit/>
          </a:bodyPr>
          <a:lstStyle/>
          <a:p>
            <a:pPr marL="0" lvl="0" indent="0" algn="ctr">
              <a:lnSpc>
                <a:spcPts val="2856"/>
              </a:lnSpc>
              <a:spcBef>
                <a:spcPct val="0"/>
              </a:spcBef>
            </a:pPr>
            <a:r>
              <a:rPr lang="en-US" sz="1700">
                <a:solidFill>
                  <a:srgbClr val="100F0D"/>
                </a:solidFill>
                <a:latin typeface="思源黑体 2"/>
                <a:ea typeface="思源黑体 2"/>
                <a:cs typeface="思源黑体 2"/>
                <a:sym typeface="思源黑体 2"/>
              </a:rPr>
              <a:t>腾讯ima支持多格式文档导入并标注回答出处；复旦NLP团队2026年推出「切问学术」。</a:t>
            </a:r>
          </a:p>
        </p:txBody>
      </p:sp>
      <p:sp>
        <p:nvSpPr>
          <p:cNvPr id="38" name="TextBox 38"/>
          <p:cNvSpPr txBox="1"/>
          <p:nvPr/>
        </p:nvSpPr>
        <p:spPr>
          <a:xfrm>
            <a:off x="7843579" y="6124734"/>
            <a:ext cx="2600842" cy="510158"/>
          </a:xfrm>
          <a:prstGeom prst="rect">
            <a:avLst/>
          </a:prstGeom>
        </p:spPr>
        <p:txBody>
          <a:bodyPr lIns="0" tIns="0" rIns="0" bIns="0" rtlCol="0" anchor="t">
            <a:spAutoFit/>
          </a:bodyPr>
          <a:lstStyle/>
          <a:p>
            <a:pPr marL="0" lvl="0" indent="0" algn="ctr">
              <a:lnSpc>
                <a:spcPts val="4368"/>
              </a:lnSpc>
              <a:spcBef>
                <a:spcPct val="0"/>
              </a:spcBef>
            </a:pPr>
            <a:r>
              <a:rPr lang="en-US" sz="2800" b="1">
                <a:solidFill>
                  <a:srgbClr val="1E1E1E"/>
                </a:solidFill>
                <a:latin typeface="思源黑体 2 Bold"/>
                <a:ea typeface="思源黑体 2 Bold"/>
                <a:cs typeface="思源黑体 2 Bold"/>
                <a:sym typeface="思源黑体 2 Bold"/>
              </a:rPr>
              <a:t>国内学术助手</a:t>
            </a:r>
          </a:p>
        </p:txBody>
      </p:sp>
      <p:grpSp>
        <p:nvGrpSpPr>
          <p:cNvPr id="39" name="Group 39"/>
          <p:cNvGrpSpPr/>
          <p:nvPr/>
        </p:nvGrpSpPr>
        <p:grpSpPr>
          <a:xfrm>
            <a:off x="12933916" y="3152604"/>
            <a:ext cx="2649378" cy="2649378"/>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alpha val="26667"/>
              </a:srgbClr>
            </a:solidFill>
          </p:spPr>
        </p:sp>
        <p:sp>
          <p:nvSpPr>
            <p:cNvPr id="41" name="TextBox 41"/>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grpSp>
        <p:nvGrpSpPr>
          <p:cNvPr id="42" name="Group 42"/>
          <p:cNvGrpSpPr/>
          <p:nvPr/>
        </p:nvGrpSpPr>
        <p:grpSpPr>
          <a:xfrm>
            <a:off x="13137523" y="3356212"/>
            <a:ext cx="2242162" cy="2242162"/>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263D6D"/>
              </a:solidFill>
              <a:prstDash val="solid"/>
              <a:miter/>
            </a:ln>
          </p:spPr>
        </p:sp>
        <p:sp>
          <p:nvSpPr>
            <p:cNvPr id="44" name="TextBox 44"/>
            <p:cNvSpPr txBox="1"/>
            <p:nvPr/>
          </p:nvSpPr>
          <p:spPr>
            <a:xfrm>
              <a:off x="76200" y="76200"/>
              <a:ext cx="660400" cy="660400"/>
            </a:xfrm>
            <a:prstGeom prst="rect">
              <a:avLst/>
            </a:prstGeom>
          </p:spPr>
          <p:txBody>
            <a:bodyPr lIns="50800" tIns="50800" rIns="50800" bIns="50800" rtlCol="0" anchor="ctr"/>
            <a:lstStyle/>
            <a:p>
              <a:pPr algn="ctr">
                <a:lnSpc>
                  <a:spcPts val="2987"/>
                </a:lnSpc>
              </a:pPr>
              <a:endParaRPr/>
            </a:p>
          </p:txBody>
        </p:sp>
      </p:grpSp>
      <p:sp>
        <p:nvSpPr>
          <p:cNvPr id="45" name="TextBox 45"/>
          <p:cNvSpPr txBox="1"/>
          <p:nvPr/>
        </p:nvSpPr>
        <p:spPr>
          <a:xfrm>
            <a:off x="12151193" y="6741624"/>
            <a:ext cx="4214824" cy="1791843"/>
          </a:xfrm>
          <a:prstGeom prst="rect">
            <a:avLst/>
          </a:prstGeom>
        </p:spPr>
        <p:txBody>
          <a:bodyPr lIns="0" tIns="0" rIns="0" bIns="0" rtlCol="0" anchor="t">
            <a:spAutoFit/>
          </a:bodyPr>
          <a:lstStyle/>
          <a:p>
            <a:pPr marL="0" lvl="0" indent="0" algn="ctr">
              <a:lnSpc>
                <a:spcPts val="2856"/>
              </a:lnSpc>
              <a:spcBef>
                <a:spcPct val="0"/>
              </a:spcBef>
            </a:pPr>
            <a:r>
              <a:rPr lang="en-US" sz="1700">
                <a:solidFill>
                  <a:srgbClr val="100F0D"/>
                </a:solidFill>
                <a:latin typeface="思源黑体 2"/>
                <a:ea typeface="思源黑体 2"/>
                <a:cs typeface="思源黑体 2"/>
                <a:sym typeface="思源黑体 2"/>
              </a:rPr>
              <a:t>面向课题组私有文献库、支持深度定制与评测的轻量级开源实现，仍是教学与科研实践中的现实缺口。</a:t>
            </a:r>
          </a:p>
        </p:txBody>
      </p:sp>
      <p:sp>
        <p:nvSpPr>
          <p:cNvPr id="46" name="TextBox 46"/>
          <p:cNvSpPr txBox="1"/>
          <p:nvPr/>
        </p:nvSpPr>
        <p:spPr>
          <a:xfrm>
            <a:off x="12958183" y="6124734"/>
            <a:ext cx="2600842" cy="510158"/>
          </a:xfrm>
          <a:prstGeom prst="rect">
            <a:avLst/>
          </a:prstGeom>
        </p:spPr>
        <p:txBody>
          <a:bodyPr lIns="0" tIns="0" rIns="0" bIns="0" rtlCol="0" anchor="t">
            <a:spAutoFit/>
          </a:bodyPr>
          <a:lstStyle/>
          <a:p>
            <a:pPr marL="0" lvl="0" indent="0" algn="ctr">
              <a:lnSpc>
                <a:spcPts val="4368"/>
              </a:lnSpc>
              <a:spcBef>
                <a:spcPct val="0"/>
              </a:spcBef>
            </a:pPr>
            <a:r>
              <a:rPr lang="en-US" sz="2800" b="1">
                <a:solidFill>
                  <a:srgbClr val="1E1E1E"/>
                </a:solidFill>
                <a:latin typeface="思源黑体 2 Bold"/>
                <a:ea typeface="思源黑体 2 Bold"/>
                <a:cs typeface="思源黑体 2 Bold"/>
                <a:sym typeface="思源黑体 2 Bold"/>
              </a:rPr>
              <a:t>本项目的切入点</a:t>
            </a:r>
          </a:p>
        </p:txBody>
      </p:sp>
      <p:sp>
        <p:nvSpPr>
          <p:cNvPr id="47" name="Freeform 47"/>
          <p:cNvSpPr/>
          <p:nvPr/>
        </p:nvSpPr>
        <p:spPr>
          <a:xfrm>
            <a:off x="13861233" y="3956926"/>
            <a:ext cx="794742" cy="1040733"/>
          </a:xfrm>
          <a:custGeom>
            <a:avLst/>
            <a:gdLst/>
            <a:ahLst/>
            <a:cxnLst/>
            <a:rect l="l" t="t" r="r" b="b"/>
            <a:pathLst>
              <a:path w="794742" h="1040733">
                <a:moveTo>
                  <a:pt x="0" y="0"/>
                </a:moveTo>
                <a:lnTo>
                  <a:pt x="794742" y="0"/>
                </a:lnTo>
                <a:lnTo>
                  <a:pt x="794742" y="1040734"/>
                </a:lnTo>
                <a:lnTo>
                  <a:pt x="0" y="104073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8" name="Freeform 48"/>
          <p:cNvSpPr/>
          <p:nvPr/>
        </p:nvSpPr>
        <p:spPr>
          <a:xfrm>
            <a:off x="8677195" y="4032555"/>
            <a:ext cx="933610" cy="889475"/>
          </a:xfrm>
          <a:custGeom>
            <a:avLst/>
            <a:gdLst/>
            <a:ahLst/>
            <a:cxnLst/>
            <a:rect l="l" t="t" r="r" b="b"/>
            <a:pathLst>
              <a:path w="933610" h="889475">
                <a:moveTo>
                  <a:pt x="0" y="0"/>
                </a:moveTo>
                <a:lnTo>
                  <a:pt x="933610" y="0"/>
                </a:lnTo>
                <a:lnTo>
                  <a:pt x="933610" y="889476"/>
                </a:lnTo>
                <a:lnTo>
                  <a:pt x="0" y="889476"/>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任务分工</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Team division</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9815278" y="0"/>
            <a:ext cx="8472722" cy="10287000"/>
            <a:chOff x="0" y="0"/>
            <a:chExt cx="26846492" cy="32595176"/>
          </a:xfrm>
        </p:grpSpPr>
        <p:sp>
          <p:nvSpPr>
            <p:cNvPr id="17" name="Freeform 17"/>
            <p:cNvSpPr/>
            <p:nvPr/>
          </p:nvSpPr>
          <p:spPr>
            <a:xfrm>
              <a:off x="0" y="0"/>
              <a:ext cx="26846507" cy="32595167"/>
            </a:xfrm>
            <a:custGeom>
              <a:avLst/>
              <a:gdLst/>
              <a:ahLst/>
              <a:cxnLst/>
              <a:rect l="l" t="t" r="r" b="b"/>
              <a:pathLst>
                <a:path w="26846507" h="32595167">
                  <a:moveTo>
                    <a:pt x="0" y="0"/>
                  </a:moveTo>
                  <a:lnTo>
                    <a:pt x="26846507" y="0"/>
                  </a:lnTo>
                  <a:lnTo>
                    <a:pt x="26846507" y="32595167"/>
                  </a:lnTo>
                  <a:lnTo>
                    <a:pt x="0" y="32595167"/>
                  </a:lnTo>
                </a:path>
              </a:pathLst>
            </a:custGeom>
            <a:blipFill>
              <a:blip r:embed="rId2"/>
              <a:stretch>
                <a:fillRect l="-41059" r="-41059"/>
              </a:stretch>
            </a:blipFill>
          </p:spPr>
        </p:sp>
      </p:grpSp>
      <p:grpSp>
        <p:nvGrpSpPr>
          <p:cNvPr id="18" name="Group 18"/>
          <p:cNvGrpSpPr/>
          <p:nvPr/>
        </p:nvGrpSpPr>
        <p:grpSpPr>
          <a:xfrm>
            <a:off x="16978402" y="9330128"/>
            <a:ext cx="2319341" cy="2214456"/>
            <a:chOff x="0" y="0"/>
            <a:chExt cx="851297" cy="812800"/>
          </a:xfrm>
        </p:grpSpPr>
        <p:sp>
          <p:nvSpPr>
            <p:cNvPr id="19" name="Freeform 19"/>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2700000">
            <a:off x="16275755" y="9690440"/>
            <a:ext cx="2408942" cy="2214456"/>
            <a:chOff x="0" y="0"/>
            <a:chExt cx="884185" cy="812800"/>
          </a:xfrm>
        </p:grpSpPr>
        <p:sp>
          <p:nvSpPr>
            <p:cNvPr id="22" name="Freeform 22"/>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p:cNvSpPr/>
          <p:nvPr/>
        </p:nvSpPr>
        <p:spPr>
          <a:xfrm flipH="1" flipV="1">
            <a:off x="1969238" y="4119124"/>
            <a:ext cx="0" cy="3241073"/>
          </a:xfrm>
          <a:prstGeom prst="line">
            <a:avLst/>
          </a:prstGeom>
          <a:ln w="19050" cap="flat">
            <a:solidFill>
              <a:srgbClr val="263D6D"/>
            </a:solidFill>
            <a:prstDash val="sysDot"/>
            <a:headEnd type="none" w="sm" len="sm"/>
            <a:tailEnd type="none" w="sm" len="sm"/>
          </a:ln>
        </p:spPr>
      </p:sp>
      <p:grpSp>
        <p:nvGrpSpPr>
          <p:cNvPr id="25" name="Group 25"/>
          <p:cNvGrpSpPr/>
          <p:nvPr/>
        </p:nvGrpSpPr>
        <p:grpSpPr>
          <a:xfrm>
            <a:off x="1470474" y="3260092"/>
            <a:ext cx="997527" cy="857250"/>
            <a:chOff x="0" y="0"/>
            <a:chExt cx="812800" cy="698500"/>
          </a:xfrm>
        </p:grpSpPr>
        <p:sp>
          <p:nvSpPr>
            <p:cNvPr id="26" name="Freeform 2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263D6D"/>
            </a:solidFill>
            <a:ln cap="sq">
              <a:noFill/>
              <a:prstDash val="solid"/>
              <a:miter/>
            </a:ln>
          </p:spPr>
        </p:sp>
        <p:sp>
          <p:nvSpPr>
            <p:cNvPr id="27" name="TextBox 27"/>
            <p:cNvSpPr txBox="1"/>
            <p:nvPr/>
          </p:nvSpPr>
          <p:spPr>
            <a:xfrm>
              <a:off x="114300" y="-47625"/>
              <a:ext cx="584200" cy="746125"/>
            </a:xfrm>
            <a:prstGeom prst="rect">
              <a:avLst/>
            </a:prstGeom>
          </p:spPr>
          <p:txBody>
            <a:bodyPr lIns="71897" tIns="71897" rIns="71897" bIns="71897" rtlCol="0" anchor="ctr"/>
            <a:lstStyle/>
            <a:p>
              <a:pPr algn="ctr">
                <a:lnSpc>
                  <a:spcPts val="3107"/>
                </a:lnSpc>
              </a:pPr>
              <a:endParaRPr/>
            </a:p>
          </p:txBody>
        </p:sp>
      </p:grpSp>
      <p:grpSp>
        <p:nvGrpSpPr>
          <p:cNvPr id="28" name="Group 28"/>
          <p:cNvGrpSpPr/>
          <p:nvPr/>
        </p:nvGrpSpPr>
        <p:grpSpPr>
          <a:xfrm>
            <a:off x="1470474" y="5310145"/>
            <a:ext cx="997527" cy="857250"/>
            <a:chOff x="0" y="0"/>
            <a:chExt cx="812800" cy="698500"/>
          </a:xfrm>
        </p:grpSpPr>
        <p:sp>
          <p:nvSpPr>
            <p:cNvPr id="29" name="Freeform 2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263D6D"/>
            </a:solidFill>
            <a:ln cap="sq">
              <a:noFill/>
              <a:prstDash val="solid"/>
              <a:miter/>
            </a:ln>
          </p:spPr>
        </p:sp>
        <p:sp>
          <p:nvSpPr>
            <p:cNvPr id="30" name="TextBox 30"/>
            <p:cNvSpPr txBox="1"/>
            <p:nvPr/>
          </p:nvSpPr>
          <p:spPr>
            <a:xfrm>
              <a:off x="114300" y="-47625"/>
              <a:ext cx="584200" cy="746125"/>
            </a:xfrm>
            <a:prstGeom prst="rect">
              <a:avLst/>
            </a:prstGeom>
          </p:spPr>
          <p:txBody>
            <a:bodyPr lIns="71897" tIns="71897" rIns="71897" bIns="71897" rtlCol="0" anchor="ctr"/>
            <a:lstStyle/>
            <a:p>
              <a:pPr algn="ctr">
                <a:lnSpc>
                  <a:spcPts val="3107"/>
                </a:lnSpc>
              </a:pPr>
              <a:endParaRPr/>
            </a:p>
          </p:txBody>
        </p:sp>
      </p:grpSp>
      <p:grpSp>
        <p:nvGrpSpPr>
          <p:cNvPr id="31" name="Group 31"/>
          <p:cNvGrpSpPr/>
          <p:nvPr/>
        </p:nvGrpSpPr>
        <p:grpSpPr>
          <a:xfrm>
            <a:off x="1470474" y="7360197"/>
            <a:ext cx="997527" cy="857250"/>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263D6D"/>
            </a:solidFill>
            <a:ln cap="sq">
              <a:noFill/>
              <a:prstDash val="solid"/>
              <a:miter/>
            </a:ln>
          </p:spPr>
        </p:sp>
        <p:sp>
          <p:nvSpPr>
            <p:cNvPr id="33" name="TextBox 33"/>
            <p:cNvSpPr txBox="1"/>
            <p:nvPr/>
          </p:nvSpPr>
          <p:spPr>
            <a:xfrm>
              <a:off x="114300" y="-47625"/>
              <a:ext cx="584200" cy="746125"/>
            </a:xfrm>
            <a:prstGeom prst="rect">
              <a:avLst/>
            </a:prstGeom>
          </p:spPr>
          <p:txBody>
            <a:bodyPr lIns="71897" tIns="71897" rIns="71897" bIns="71897" rtlCol="0" anchor="ctr"/>
            <a:lstStyle/>
            <a:p>
              <a:pPr algn="ctr">
                <a:lnSpc>
                  <a:spcPts val="3107"/>
                </a:lnSpc>
              </a:pPr>
              <a:endParaRPr/>
            </a:p>
          </p:txBody>
        </p:sp>
      </p:grpSp>
      <p:grpSp>
        <p:nvGrpSpPr>
          <p:cNvPr id="34" name="Group 34"/>
          <p:cNvGrpSpPr/>
          <p:nvPr/>
        </p:nvGrpSpPr>
        <p:grpSpPr>
          <a:xfrm>
            <a:off x="1846434" y="4552840"/>
            <a:ext cx="245606" cy="24560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a:p>
          </p:txBody>
        </p:sp>
      </p:grpSp>
      <p:grpSp>
        <p:nvGrpSpPr>
          <p:cNvPr id="37" name="Group 37"/>
          <p:cNvGrpSpPr/>
          <p:nvPr/>
        </p:nvGrpSpPr>
        <p:grpSpPr>
          <a:xfrm>
            <a:off x="1846434" y="6607327"/>
            <a:ext cx="245606" cy="24560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a:p>
          </p:txBody>
        </p:sp>
      </p:grpSp>
      <p:sp>
        <p:nvSpPr>
          <p:cNvPr id="40" name="Freeform 40"/>
          <p:cNvSpPr/>
          <p:nvPr/>
        </p:nvSpPr>
        <p:spPr>
          <a:xfrm>
            <a:off x="1704792" y="7524377"/>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1" name="Freeform 41"/>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2" name="Freeform 42"/>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3" name="TextBox 43"/>
          <p:cNvSpPr txBox="1"/>
          <p:nvPr/>
        </p:nvSpPr>
        <p:spPr>
          <a:xfrm>
            <a:off x="2750613" y="3086860"/>
            <a:ext cx="2889059" cy="510158"/>
          </a:xfrm>
          <a:prstGeom prst="rect">
            <a:avLst/>
          </a:prstGeom>
        </p:spPr>
        <p:txBody>
          <a:bodyPr lIns="0" tIns="0" rIns="0" bIns="0" rtlCol="0" anchor="t">
            <a:spAutoFit/>
          </a:bodyPr>
          <a:lstStyle/>
          <a:p>
            <a:pPr algn="l">
              <a:lnSpc>
                <a:spcPts val="4368"/>
              </a:lnSpc>
            </a:pPr>
            <a:r>
              <a:rPr lang="en-US" sz="2800" b="1">
                <a:solidFill>
                  <a:srgbClr val="1E1E1E"/>
                </a:solidFill>
                <a:latin typeface="思源黑体 2 Bold"/>
                <a:ea typeface="思源黑体 2 Bold"/>
                <a:cs typeface="思源黑体 2 Bold"/>
                <a:sym typeface="思源黑体 2 Bold"/>
              </a:rPr>
              <a:t>后端：RAG全链路</a:t>
            </a:r>
          </a:p>
        </p:txBody>
      </p:sp>
      <p:sp>
        <p:nvSpPr>
          <p:cNvPr id="44" name="TextBox 44"/>
          <p:cNvSpPr txBox="1"/>
          <p:nvPr/>
        </p:nvSpPr>
        <p:spPr>
          <a:xfrm>
            <a:off x="2750613" y="3625593"/>
            <a:ext cx="5910180" cy="106794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成员A负责模块一、二：多格式解析与分块、FAISS向量索引、混合检索与重排序、Prompt工程与流式生成。</a:t>
            </a:r>
          </a:p>
        </p:txBody>
      </p:sp>
      <p:sp>
        <p:nvSpPr>
          <p:cNvPr id="45" name="TextBox 45"/>
          <p:cNvSpPr txBox="1"/>
          <p:nvPr/>
        </p:nvSpPr>
        <p:spPr>
          <a:xfrm>
            <a:off x="2750613" y="5136913"/>
            <a:ext cx="2889059" cy="510158"/>
          </a:xfrm>
          <a:prstGeom prst="rect">
            <a:avLst/>
          </a:prstGeom>
        </p:spPr>
        <p:txBody>
          <a:bodyPr lIns="0" tIns="0" rIns="0" bIns="0" rtlCol="0" anchor="t">
            <a:spAutoFit/>
          </a:bodyPr>
          <a:lstStyle/>
          <a:p>
            <a:pPr algn="l">
              <a:lnSpc>
                <a:spcPts val="4368"/>
              </a:lnSpc>
            </a:pPr>
            <a:r>
              <a:rPr lang="en-US" sz="2800" b="1">
                <a:solidFill>
                  <a:srgbClr val="1E1E1E"/>
                </a:solidFill>
                <a:latin typeface="思源黑体 2 Bold"/>
                <a:ea typeface="思源黑体 2 Bold"/>
                <a:cs typeface="思源黑体 2 Bold"/>
                <a:sym typeface="思源黑体 2 Bold"/>
              </a:rPr>
              <a:t>Agent与前端集成</a:t>
            </a:r>
          </a:p>
        </p:txBody>
      </p:sp>
      <p:sp>
        <p:nvSpPr>
          <p:cNvPr id="46" name="TextBox 46"/>
          <p:cNvSpPr txBox="1"/>
          <p:nvPr/>
        </p:nvSpPr>
        <p:spPr>
          <a:xfrm>
            <a:off x="2750613" y="5675646"/>
            <a:ext cx="5910180" cy="106794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成员B负责模块三：手写ReAct循环、8个工具集、多轮记忆；成员C负责模块四：Streamlit界面与联调。</a:t>
            </a:r>
          </a:p>
        </p:txBody>
      </p:sp>
      <p:sp>
        <p:nvSpPr>
          <p:cNvPr id="47" name="TextBox 47"/>
          <p:cNvSpPr txBox="1"/>
          <p:nvPr/>
        </p:nvSpPr>
        <p:spPr>
          <a:xfrm>
            <a:off x="2750613" y="7186965"/>
            <a:ext cx="2889059" cy="510158"/>
          </a:xfrm>
          <a:prstGeom prst="rect">
            <a:avLst/>
          </a:prstGeom>
        </p:spPr>
        <p:txBody>
          <a:bodyPr lIns="0" tIns="0" rIns="0" bIns="0" rtlCol="0" anchor="t">
            <a:spAutoFit/>
          </a:bodyPr>
          <a:lstStyle/>
          <a:p>
            <a:pPr algn="l">
              <a:lnSpc>
                <a:spcPts val="4368"/>
              </a:lnSpc>
            </a:pPr>
            <a:r>
              <a:rPr lang="en-US" sz="2800" b="1">
                <a:solidFill>
                  <a:srgbClr val="1E1E1E"/>
                </a:solidFill>
                <a:latin typeface="思源黑体 2 Bold"/>
                <a:ea typeface="思源黑体 2 Bold"/>
                <a:cs typeface="思源黑体 2 Bold"/>
                <a:sym typeface="思源黑体 2 Bold"/>
              </a:rPr>
              <a:t>评测与质量保证</a:t>
            </a:r>
          </a:p>
        </p:txBody>
      </p:sp>
      <p:sp>
        <p:nvSpPr>
          <p:cNvPr id="48" name="TextBox 48"/>
          <p:cNvSpPr txBox="1"/>
          <p:nvPr/>
        </p:nvSpPr>
        <p:spPr>
          <a:xfrm>
            <a:off x="2750613" y="7725698"/>
            <a:ext cx="5910180" cy="106794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成员D负责模块五：构建50+评测问答对、性能评估、Bad Case分析，统筹技术文档与使用手册交付。</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研究目标</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Research objectives</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459309" y="3083497"/>
            <a:ext cx="2998451" cy="2882260"/>
            <a:chOff x="0" y="0"/>
            <a:chExt cx="3997935" cy="3843013"/>
          </a:xfrm>
        </p:grpSpPr>
        <p:pic>
          <p:nvPicPr>
            <p:cNvPr id="23" name="Picture 23"/>
            <p:cNvPicPr>
              <a:picLocks noChangeAspect="1"/>
            </p:cNvPicPr>
            <p:nvPr/>
          </p:nvPicPr>
          <p:blipFill>
            <a:blip r:embed="rId2"/>
            <a:srcRect l="15322" r="15322"/>
            <a:stretch>
              <a:fillRect/>
            </a:stretch>
          </p:blipFill>
          <p:spPr>
            <a:xfrm>
              <a:off x="0" y="0"/>
              <a:ext cx="3997935" cy="3843013"/>
            </a:xfrm>
            <a:prstGeom prst="rect">
              <a:avLst/>
            </a:prstGeom>
          </p:spPr>
        </p:pic>
      </p:grpSp>
      <p:grpSp>
        <p:nvGrpSpPr>
          <p:cNvPr id="24" name="Group 24"/>
          <p:cNvGrpSpPr/>
          <p:nvPr/>
        </p:nvGrpSpPr>
        <p:grpSpPr>
          <a:xfrm>
            <a:off x="7570595" y="3083497"/>
            <a:ext cx="9258097" cy="2882260"/>
            <a:chOff x="0" y="0"/>
            <a:chExt cx="1249847" cy="389106"/>
          </a:xfrm>
        </p:grpSpPr>
        <p:sp>
          <p:nvSpPr>
            <p:cNvPr id="25" name="Freeform 25"/>
            <p:cNvSpPr/>
            <p:nvPr/>
          </p:nvSpPr>
          <p:spPr>
            <a:xfrm>
              <a:off x="0" y="0"/>
              <a:ext cx="1249847" cy="389106"/>
            </a:xfrm>
            <a:custGeom>
              <a:avLst/>
              <a:gdLst/>
              <a:ahLst/>
              <a:cxnLst/>
              <a:rect l="l" t="t" r="r" b="b"/>
              <a:pathLst>
                <a:path w="1249847" h="389106">
                  <a:moveTo>
                    <a:pt x="0" y="0"/>
                  </a:moveTo>
                  <a:lnTo>
                    <a:pt x="1249847" y="0"/>
                  </a:lnTo>
                  <a:lnTo>
                    <a:pt x="1249847" y="389106"/>
                  </a:lnTo>
                  <a:lnTo>
                    <a:pt x="0" y="389106"/>
                  </a:lnTo>
                  <a:close/>
                </a:path>
              </a:pathLst>
            </a:custGeom>
            <a:solidFill>
              <a:srgbClr val="263D6D"/>
            </a:solidFill>
            <a:ln cap="sq">
              <a:noFill/>
              <a:prstDash val="solid"/>
              <a:miter/>
            </a:ln>
          </p:spPr>
        </p:sp>
        <p:sp>
          <p:nvSpPr>
            <p:cNvPr id="26" name="TextBox 26"/>
            <p:cNvSpPr txBox="1"/>
            <p:nvPr/>
          </p:nvSpPr>
          <p:spPr>
            <a:xfrm>
              <a:off x="0" y="-28575"/>
              <a:ext cx="1249847" cy="41768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7" name="TextBox 27"/>
          <p:cNvSpPr txBox="1"/>
          <p:nvPr/>
        </p:nvSpPr>
        <p:spPr>
          <a:xfrm>
            <a:off x="8485141" y="3981102"/>
            <a:ext cx="7429005" cy="1429893"/>
          </a:xfrm>
          <a:prstGeom prst="rect">
            <a:avLst/>
          </a:prstGeom>
        </p:spPr>
        <p:txBody>
          <a:bodyPr lIns="0" tIns="0" rIns="0" bIns="0" rtlCol="0" anchor="t">
            <a:spAutoFit/>
          </a:bodyPr>
          <a:lstStyle/>
          <a:p>
            <a:pPr algn="just">
              <a:lnSpc>
                <a:spcPts val="2856"/>
              </a:lnSpc>
            </a:pPr>
            <a:r>
              <a:rPr lang="en-US" sz="1700" dirty="0" err="1">
                <a:solidFill>
                  <a:srgbClr val="FFFFFF"/>
                </a:solidFill>
                <a:latin typeface="思源黑体 2"/>
                <a:ea typeface="思源黑体 2"/>
                <a:cs typeface="思源黑体 2"/>
                <a:sym typeface="思源黑体 2"/>
              </a:rPr>
              <a:t>完整落地「文档处理</a:t>
            </a:r>
            <a:r>
              <a:rPr lang="en-US" sz="1700" dirty="0">
                <a:solidFill>
                  <a:srgbClr val="FFFFFF"/>
                </a:solidFill>
                <a:latin typeface="思源黑体 2"/>
                <a:ea typeface="思源黑体 2"/>
                <a:cs typeface="思源黑体 2"/>
                <a:sym typeface="思源黑体 2"/>
              </a:rPr>
              <a:t>—</a:t>
            </a:r>
            <a:r>
              <a:rPr lang="en-US" sz="1700" dirty="0" err="1">
                <a:solidFill>
                  <a:srgbClr val="FFFFFF"/>
                </a:solidFill>
                <a:latin typeface="思源黑体 2"/>
                <a:ea typeface="思源黑体 2"/>
                <a:cs typeface="思源黑体 2"/>
                <a:sym typeface="思源黑体 2"/>
              </a:rPr>
              <a:t>混合检索</a:t>
            </a:r>
            <a:r>
              <a:rPr lang="en-US" sz="1700" dirty="0">
                <a:solidFill>
                  <a:srgbClr val="FFFFFF"/>
                </a:solidFill>
                <a:latin typeface="思源黑体 2"/>
                <a:ea typeface="思源黑体 2"/>
                <a:cs typeface="思源黑体 2"/>
                <a:sym typeface="思源黑体 2"/>
              </a:rPr>
              <a:t>—</a:t>
            </a:r>
            <a:r>
              <a:rPr lang="en-US" sz="1700" dirty="0" err="1">
                <a:solidFill>
                  <a:srgbClr val="FFFFFF"/>
                </a:solidFill>
                <a:latin typeface="思源黑体 2"/>
                <a:ea typeface="思源黑体 2"/>
                <a:cs typeface="思源黑体 2"/>
                <a:sym typeface="思源黑体 2"/>
              </a:rPr>
              <a:t>生成</a:t>
            </a:r>
            <a:r>
              <a:rPr lang="en-US" sz="1700" dirty="0">
                <a:solidFill>
                  <a:srgbClr val="FFFFFF"/>
                </a:solidFill>
                <a:latin typeface="思源黑体 2"/>
                <a:ea typeface="思源黑体 2"/>
                <a:cs typeface="思源黑体 2"/>
                <a:sym typeface="思源黑体 2"/>
              </a:rPr>
              <a:t>—</a:t>
            </a:r>
            <a:r>
              <a:rPr lang="en-US" sz="1700" dirty="0" err="1">
                <a:solidFill>
                  <a:srgbClr val="FFFFFF"/>
                </a:solidFill>
                <a:latin typeface="思源黑体 2"/>
                <a:ea typeface="思源黑体 2"/>
                <a:cs typeface="思源黑体 2"/>
                <a:sym typeface="思源黑体 2"/>
              </a:rPr>
              <a:t>Agent编排</a:t>
            </a:r>
            <a:r>
              <a:rPr lang="en-US" sz="1700" dirty="0">
                <a:solidFill>
                  <a:srgbClr val="FFFFFF"/>
                </a:solidFill>
                <a:latin typeface="思源黑体 2"/>
                <a:ea typeface="思源黑体 2"/>
                <a:cs typeface="思源黑体 2"/>
                <a:sym typeface="思源黑体 2"/>
              </a:rPr>
              <a:t>—</a:t>
            </a:r>
            <a:r>
              <a:rPr lang="en-US" sz="1700" dirty="0" err="1">
                <a:solidFill>
                  <a:srgbClr val="FFFFFF"/>
                </a:solidFill>
                <a:latin typeface="思源黑体 2"/>
                <a:ea typeface="思源黑体 2"/>
                <a:cs typeface="思源黑体 2"/>
                <a:sym typeface="思源黑体 2"/>
              </a:rPr>
              <a:t>评测」工程链路；主线「上传论文→提问→获得带引用可溯源回答」完整可用，多轮对话与工具调用生效，Web界面可现场演示</a:t>
            </a:r>
            <a:r>
              <a:rPr lang="en-US" sz="1700" dirty="0">
                <a:solidFill>
                  <a:srgbClr val="FFFFFF"/>
                </a:solidFill>
                <a:latin typeface="思源黑体 2"/>
                <a:ea typeface="思源黑体 2"/>
                <a:cs typeface="思源黑体 2"/>
                <a:sym typeface="思源黑体 2"/>
              </a:rPr>
              <a:t>。</a:t>
            </a:r>
          </a:p>
        </p:txBody>
      </p:sp>
      <p:sp>
        <p:nvSpPr>
          <p:cNvPr id="28" name="TextBox 28"/>
          <p:cNvSpPr txBox="1"/>
          <p:nvPr/>
        </p:nvSpPr>
        <p:spPr>
          <a:xfrm>
            <a:off x="8485141" y="3390495"/>
            <a:ext cx="2800655" cy="510158"/>
          </a:xfrm>
          <a:prstGeom prst="rect">
            <a:avLst/>
          </a:prstGeom>
        </p:spPr>
        <p:txBody>
          <a:bodyPr lIns="0" tIns="0" rIns="0" bIns="0" rtlCol="0" anchor="t">
            <a:spAutoFit/>
          </a:bodyPr>
          <a:lstStyle/>
          <a:p>
            <a:pPr algn="l">
              <a:lnSpc>
                <a:spcPts val="4368"/>
              </a:lnSpc>
            </a:pPr>
            <a:r>
              <a:rPr lang="en-US" sz="2800" b="1">
                <a:solidFill>
                  <a:srgbClr val="FFFFFF"/>
                </a:solidFill>
                <a:latin typeface="思源黑体 2 Bold"/>
                <a:ea typeface="思源黑体 2 Bold"/>
                <a:cs typeface="思源黑体 2 Bold"/>
                <a:sym typeface="思源黑体 2 Bold"/>
              </a:rPr>
              <a:t>技术与能力目标</a:t>
            </a:r>
          </a:p>
        </p:txBody>
      </p:sp>
      <p:grpSp>
        <p:nvGrpSpPr>
          <p:cNvPr id="29" name="Group 29"/>
          <p:cNvGrpSpPr/>
          <p:nvPr/>
        </p:nvGrpSpPr>
        <p:grpSpPr>
          <a:xfrm>
            <a:off x="4514952" y="3083497"/>
            <a:ext cx="2998451" cy="2882260"/>
            <a:chOff x="0" y="0"/>
            <a:chExt cx="3997935" cy="3843013"/>
          </a:xfrm>
        </p:grpSpPr>
        <p:pic>
          <p:nvPicPr>
            <p:cNvPr id="30" name="Picture 30"/>
            <p:cNvPicPr>
              <a:picLocks noChangeAspect="1"/>
            </p:cNvPicPr>
            <p:nvPr/>
          </p:nvPicPr>
          <p:blipFill>
            <a:blip r:embed="rId3"/>
            <a:srcRect l="15322" r="15322"/>
            <a:stretch>
              <a:fillRect/>
            </a:stretch>
          </p:blipFill>
          <p:spPr>
            <a:xfrm>
              <a:off x="0" y="0"/>
              <a:ext cx="3997935" cy="3843013"/>
            </a:xfrm>
            <a:prstGeom prst="rect">
              <a:avLst/>
            </a:prstGeom>
          </p:spPr>
        </p:pic>
      </p:grpSp>
      <p:sp>
        <p:nvSpPr>
          <p:cNvPr id="31" name="TextBox 31"/>
          <p:cNvSpPr txBox="1"/>
          <p:nvPr/>
        </p:nvSpPr>
        <p:spPr>
          <a:xfrm>
            <a:off x="1459309" y="6389156"/>
            <a:ext cx="2889059" cy="510158"/>
          </a:xfrm>
          <a:prstGeom prst="rect">
            <a:avLst/>
          </a:prstGeom>
        </p:spPr>
        <p:txBody>
          <a:bodyPr lIns="0" tIns="0" rIns="0" bIns="0" rtlCol="0" anchor="t">
            <a:spAutoFit/>
          </a:bodyPr>
          <a:lstStyle/>
          <a:p>
            <a:pPr algn="l">
              <a:lnSpc>
                <a:spcPts val="4368"/>
              </a:lnSpc>
            </a:pPr>
            <a:r>
              <a:rPr lang="en-US" sz="2800" b="1" dirty="0" err="1">
                <a:solidFill>
                  <a:srgbClr val="1E1E1E"/>
                </a:solidFill>
                <a:latin typeface="思源黑体 2 Bold"/>
                <a:ea typeface="思源黑体 2 Bold"/>
                <a:cs typeface="思源黑体 2 Bold"/>
                <a:sym typeface="思源黑体 2 Bold"/>
              </a:rPr>
              <a:t>目标</a:t>
            </a:r>
            <a:endParaRPr lang="en-US" sz="2800" b="1" dirty="0">
              <a:solidFill>
                <a:srgbClr val="1E1E1E"/>
              </a:solidFill>
              <a:latin typeface="思源黑体 2 Bold"/>
              <a:ea typeface="思源黑体 2 Bold"/>
              <a:cs typeface="思源黑体 2 Bold"/>
              <a:sym typeface="思源黑体 2 Bold"/>
            </a:endParaRPr>
          </a:p>
        </p:txBody>
      </p:sp>
      <p:sp>
        <p:nvSpPr>
          <p:cNvPr id="32" name="TextBox 32"/>
          <p:cNvSpPr txBox="1"/>
          <p:nvPr/>
        </p:nvSpPr>
        <p:spPr>
          <a:xfrm>
            <a:off x="1459309" y="6927888"/>
            <a:ext cx="15369383" cy="1791843"/>
          </a:xfrm>
          <a:prstGeom prst="rect">
            <a:avLst/>
          </a:prstGeom>
        </p:spPr>
        <p:txBody>
          <a:bodyPr lIns="0" tIns="0" rIns="0" bIns="0" rtlCol="0" anchor="t">
            <a:spAutoFit/>
          </a:bodyPr>
          <a:lstStyle/>
          <a:p>
            <a:pPr algn="just">
              <a:lnSpc>
                <a:spcPts val="2856"/>
              </a:lnSpc>
            </a:pPr>
            <a:r>
              <a:rPr lang="en-US" sz="1700">
                <a:solidFill>
                  <a:srgbClr val="1E1E1E"/>
                </a:solidFill>
                <a:latin typeface="思源黑体 2"/>
                <a:ea typeface="思源黑体 2"/>
                <a:cs typeface="思源黑体 2"/>
                <a:sym typeface="思源黑体 2"/>
              </a:rPr>
              <a:t>以50条以上自建评测问答对使检索质量与响应指标可量化，形成可复现的Bad Case分析与优化报告，通过全周期小组开发掌握大模型应用的工程实现方法与团队协作规范。</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37656-18F8-41B4-FC83-BA05B4EFEA8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EE66E9-65EC-AA20-477C-22A0D5C502B8}"/>
              </a:ext>
            </a:extLst>
          </p:cNvPr>
          <p:cNvGrpSpPr/>
          <p:nvPr/>
        </p:nvGrpSpPr>
        <p:grpSpPr>
          <a:xfrm>
            <a:off x="11951784" y="-4585021"/>
            <a:ext cx="14954963" cy="21156019"/>
            <a:chOff x="0" y="0"/>
            <a:chExt cx="19939950" cy="28208025"/>
          </a:xfrm>
        </p:grpSpPr>
        <p:grpSp>
          <p:nvGrpSpPr>
            <p:cNvPr id="3" name="Group 3">
              <a:extLst>
                <a:ext uri="{FF2B5EF4-FFF2-40B4-BE49-F238E27FC236}">
                  <a16:creationId xmlns:a16="http://schemas.microsoft.com/office/drawing/2014/main" id="{174B9407-FC3E-68CB-42EE-D1EE804B495B}"/>
                </a:ext>
              </a:extLst>
            </p:cNvPr>
            <p:cNvGrpSpPr/>
            <p:nvPr/>
          </p:nvGrpSpPr>
          <p:grpSpPr>
            <a:xfrm>
              <a:off x="2979307" y="0"/>
              <a:ext cx="12531397" cy="11964703"/>
              <a:chOff x="0" y="0"/>
              <a:chExt cx="851297" cy="812800"/>
            </a:xfrm>
          </p:grpSpPr>
          <p:sp>
            <p:nvSpPr>
              <p:cNvPr id="4" name="Freeform 4">
                <a:extLst>
                  <a:ext uri="{FF2B5EF4-FFF2-40B4-BE49-F238E27FC236}">
                    <a16:creationId xmlns:a16="http://schemas.microsoft.com/office/drawing/2014/main" id="{8C6284D9-996E-51E7-35D4-3A6709BF8C8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a:extLst>
                  <a:ext uri="{FF2B5EF4-FFF2-40B4-BE49-F238E27FC236}">
                    <a16:creationId xmlns:a16="http://schemas.microsoft.com/office/drawing/2014/main" id="{D123277C-131C-BE6E-0089-EA5CB514C37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a:extLst>
                <a:ext uri="{FF2B5EF4-FFF2-40B4-BE49-F238E27FC236}">
                  <a16:creationId xmlns:a16="http://schemas.microsoft.com/office/drawing/2014/main" id="{C4D27A57-2880-F963-0A1C-971DDF6EA8DB}"/>
                </a:ext>
              </a:extLst>
            </p:cNvPr>
            <p:cNvGrpSpPr/>
            <p:nvPr/>
          </p:nvGrpSpPr>
          <p:grpSpPr>
            <a:xfrm>
              <a:off x="5641873" y="3801375"/>
              <a:ext cx="12531397" cy="11964703"/>
              <a:chOff x="0" y="0"/>
              <a:chExt cx="851297" cy="812800"/>
            </a:xfrm>
          </p:grpSpPr>
          <p:sp>
            <p:nvSpPr>
              <p:cNvPr id="7" name="Freeform 7">
                <a:extLst>
                  <a:ext uri="{FF2B5EF4-FFF2-40B4-BE49-F238E27FC236}">
                    <a16:creationId xmlns:a16="http://schemas.microsoft.com/office/drawing/2014/main" id="{EBC97A8F-E9EE-5699-4FEA-EDAB3FF3157E}"/>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a:extLst>
                  <a:ext uri="{FF2B5EF4-FFF2-40B4-BE49-F238E27FC236}">
                    <a16:creationId xmlns:a16="http://schemas.microsoft.com/office/drawing/2014/main" id="{E8876F0D-A94E-1423-4D22-8C23B0A578D8}"/>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a:extLst>
                <a:ext uri="{FF2B5EF4-FFF2-40B4-BE49-F238E27FC236}">
                  <a16:creationId xmlns:a16="http://schemas.microsoft.com/office/drawing/2014/main" id="{CB5273F2-456E-13C8-2D29-86BE9562D390}"/>
                </a:ext>
              </a:extLst>
            </p:cNvPr>
            <p:cNvGrpSpPr/>
            <p:nvPr/>
          </p:nvGrpSpPr>
          <p:grpSpPr>
            <a:xfrm>
              <a:off x="7408553" y="6714596"/>
              <a:ext cx="12531397" cy="11964703"/>
              <a:chOff x="0" y="0"/>
              <a:chExt cx="851297" cy="812800"/>
            </a:xfrm>
          </p:grpSpPr>
          <p:sp>
            <p:nvSpPr>
              <p:cNvPr id="10" name="Freeform 10">
                <a:extLst>
                  <a:ext uri="{FF2B5EF4-FFF2-40B4-BE49-F238E27FC236}">
                    <a16:creationId xmlns:a16="http://schemas.microsoft.com/office/drawing/2014/main" id="{9156382A-37C9-EEFF-C350-BCBF7F949D8E}"/>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a:extLst>
                  <a:ext uri="{FF2B5EF4-FFF2-40B4-BE49-F238E27FC236}">
                    <a16:creationId xmlns:a16="http://schemas.microsoft.com/office/drawing/2014/main" id="{DF0695AE-6532-96F2-B495-9B12C1205C43}"/>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a:extLst>
                <a:ext uri="{FF2B5EF4-FFF2-40B4-BE49-F238E27FC236}">
                  <a16:creationId xmlns:a16="http://schemas.microsoft.com/office/drawing/2014/main" id="{DD0114C6-EB15-49B6-5BF1-7212B38F9FF8}"/>
                </a:ext>
              </a:extLst>
            </p:cNvPr>
            <p:cNvGrpSpPr/>
            <p:nvPr/>
          </p:nvGrpSpPr>
          <p:grpSpPr>
            <a:xfrm>
              <a:off x="4568307" y="15697698"/>
              <a:ext cx="9353396" cy="8930418"/>
              <a:chOff x="0" y="0"/>
              <a:chExt cx="851297" cy="812800"/>
            </a:xfrm>
          </p:grpSpPr>
          <p:sp>
            <p:nvSpPr>
              <p:cNvPr id="13" name="Freeform 13">
                <a:extLst>
                  <a:ext uri="{FF2B5EF4-FFF2-40B4-BE49-F238E27FC236}">
                    <a16:creationId xmlns:a16="http://schemas.microsoft.com/office/drawing/2014/main" id="{89F25080-36B7-A74E-B92C-F8AE4773274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a:extLst>
                  <a:ext uri="{FF2B5EF4-FFF2-40B4-BE49-F238E27FC236}">
                    <a16:creationId xmlns:a16="http://schemas.microsoft.com/office/drawing/2014/main" id="{AA8C82E5-1CFF-FCFA-FEB1-E4B7D0E3929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a:extLst>
                <a:ext uri="{FF2B5EF4-FFF2-40B4-BE49-F238E27FC236}">
                  <a16:creationId xmlns:a16="http://schemas.microsoft.com/office/drawing/2014/main" id="{C2D084D8-79C5-1E64-ECE9-7FEA6D21155E}"/>
                </a:ext>
              </a:extLst>
            </p:cNvPr>
            <p:cNvGrpSpPr/>
            <p:nvPr/>
          </p:nvGrpSpPr>
          <p:grpSpPr>
            <a:xfrm rot="2700000">
              <a:off x="1734689" y="17150758"/>
              <a:ext cx="9714738" cy="8930418"/>
              <a:chOff x="0" y="0"/>
              <a:chExt cx="884185" cy="812800"/>
            </a:xfrm>
          </p:grpSpPr>
          <p:sp>
            <p:nvSpPr>
              <p:cNvPr id="16" name="Freeform 16">
                <a:extLst>
                  <a:ext uri="{FF2B5EF4-FFF2-40B4-BE49-F238E27FC236}">
                    <a16:creationId xmlns:a16="http://schemas.microsoft.com/office/drawing/2014/main" id="{5725F710-43C9-D289-BA39-F19EC1FBA890}"/>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a:extLst>
                  <a:ext uri="{FF2B5EF4-FFF2-40B4-BE49-F238E27FC236}">
                    <a16:creationId xmlns:a16="http://schemas.microsoft.com/office/drawing/2014/main" id="{4B30D35D-51D9-B874-DD31-566487B53BAE}"/>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8" name="Group 18">
            <a:extLst>
              <a:ext uri="{FF2B5EF4-FFF2-40B4-BE49-F238E27FC236}">
                <a16:creationId xmlns:a16="http://schemas.microsoft.com/office/drawing/2014/main" id="{D8E1212D-2BC9-1B52-C321-EE712F825C05}"/>
              </a:ext>
            </a:extLst>
          </p:cNvPr>
          <p:cNvGrpSpPr/>
          <p:nvPr/>
        </p:nvGrpSpPr>
        <p:grpSpPr>
          <a:xfrm>
            <a:off x="-7716935" y="-5325030"/>
            <a:ext cx="14954963" cy="21156019"/>
            <a:chOff x="0" y="0"/>
            <a:chExt cx="19939950" cy="28208025"/>
          </a:xfrm>
        </p:grpSpPr>
        <p:grpSp>
          <p:nvGrpSpPr>
            <p:cNvPr id="19" name="Group 19">
              <a:extLst>
                <a:ext uri="{FF2B5EF4-FFF2-40B4-BE49-F238E27FC236}">
                  <a16:creationId xmlns:a16="http://schemas.microsoft.com/office/drawing/2014/main" id="{E611C86E-B40B-00F3-B7D6-3035D2F548E1}"/>
                </a:ext>
              </a:extLst>
            </p:cNvPr>
            <p:cNvGrpSpPr/>
            <p:nvPr/>
          </p:nvGrpSpPr>
          <p:grpSpPr>
            <a:xfrm rot="-10800000">
              <a:off x="4429246" y="16243322"/>
              <a:ext cx="12531397" cy="11964703"/>
              <a:chOff x="0" y="0"/>
              <a:chExt cx="851297" cy="812800"/>
            </a:xfrm>
          </p:grpSpPr>
          <p:sp>
            <p:nvSpPr>
              <p:cNvPr id="20" name="Freeform 20">
                <a:extLst>
                  <a:ext uri="{FF2B5EF4-FFF2-40B4-BE49-F238E27FC236}">
                    <a16:creationId xmlns:a16="http://schemas.microsoft.com/office/drawing/2014/main" id="{E6CEA488-97D4-47DE-70F4-4E322B696EA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a:extLst>
                  <a:ext uri="{FF2B5EF4-FFF2-40B4-BE49-F238E27FC236}">
                    <a16:creationId xmlns:a16="http://schemas.microsoft.com/office/drawing/2014/main" id="{E0802B44-EB6F-C8B4-A4CA-58743F5060F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488C0CA4-A296-D076-D9CC-64291F24AB7B}"/>
                </a:ext>
              </a:extLst>
            </p:cNvPr>
            <p:cNvGrpSpPr/>
            <p:nvPr/>
          </p:nvGrpSpPr>
          <p:grpSpPr>
            <a:xfrm rot="-10800000">
              <a:off x="1766680" y="12441947"/>
              <a:ext cx="12531397" cy="11964703"/>
              <a:chOff x="0" y="0"/>
              <a:chExt cx="851297" cy="812800"/>
            </a:xfrm>
          </p:grpSpPr>
          <p:sp>
            <p:nvSpPr>
              <p:cNvPr id="23" name="Freeform 23">
                <a:extLst>
                  <a:ext uri="{FF2B5EF4-FFF2-40B4-BE49-F238E27FC236}">
                    <a16:creationId xmlns:a16="http://schemas.microsoft.com/office/drawing/2014/main" id="{452AB056-AA84-8697-341C-AA3360A0A24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a:extLst>
                  <a:ext uri="{FF2B5EF4-FFF2-40B4-BE49-F238E27FC236}">
                    <a16:creationId xmlns:a16="http://schemas.microsoft.com/office/drawing/2014/main" id="{ADE62259-9A46-C07F-7B3D-CB41D33C5361}"/>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795A2EC8-29CA-4BD3-0029-3EAD7C5AF892}"/>
                </a:ext>
              </a:extLst>
            </p:cNvPr>
            <p:cNvGrpSpPr/>
            <p:nvPr/>
          </p:nvGrpSpPr>
          <p:grpSpPr>
            <a:xfrm rot="-10800000">
              <a:off x="0" y="9528727"/>
              <a:ext cx="12531397" cy="11964703"/>
              <a:chOff x="0" y="0"/>
              <a:chExt cx="851297" cy="812800"/>
            </a:xfrm>
          </p:grpSpPr>
          <p:sp>
            <p:nvSpPr>
              <p:cNvPr id="26" name="Freeform 26">
                <a:extLst>
                  <a:ext uri="{FF2B5EF4-FFF2-40B4-BE49-F238E27FC236}">
                    <a16:creationId xmlns:a16="http://schemas.microsoft.com/office/drawing/2014/main" id="{F12EF769-BCC5-2B33-B017-FAAF53C6C00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a:extLst>
                  <a:ext uri="{FF2B5EF4-FFF2-40B4-BE49-F238E27FC236}">
                    <a16:creationId xmlns:a16="http://schemas.microsoft.com/office/drawing/2014/main" id="{82B78462-4C75-C2FC-1A4C-B5FED7EFA34F}"/>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8">
              <a:extLst>
                <a:ext uri="{FF2B5EF4-FFF2-40B4-BE49-F238E27FC236}">
                  <a16:creationId xmlns:a16="http://schemas.microsoft.com/office/drawing/2014/main" id="{C3C95D3B-341D-CB5B-6D44-08E4B5AAAA3D}"/>
                </a:ext>
              </a:extLst>
            </p:cNvPr>
            <p:cNvGrpSpPr/>
            <p:nvPr/>
          </p:nvGrpSpPr>
          <p:grpSpPr>
            <a:xfrm rot="-10800000">
              <a:off x="6018247" y="3579910"/>
              <a:ext cx="9353396" cy="8930418"/>
              <a:chOff x="0" y="0"/>
              <a:chExt cx="851297" cy="812800"/>
            </a:xfrm>
          </p:grpSpPr>
          <p:sp>
            <p:nvSpPr>
              <p:cNvPr id="29" name="Freeform 29">
                <a:extLst>
                  <a:ext uri="{FF2B5EF4-FFF2-40B4-BE49-F238E27FC236}">
                    <a16:creationId xmlns:a16="http://schemas.microsoft.com/office/drawing/2014/main" id="{0A782494-DD7D-1EB6-82A8-D6485BA7479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a:extLst>
                  <a:ext uri="{FF2B5EF4-FFF2-40B4-BE49-F238E27FC236}">
                    <a16:creationId xmlns:a16="http://schemas.microsoft.com/office/drawing/2014/main" id="{72FBF1C8-97F4-9167-5B54-3DEA6ECA391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a:extLst>
                <a:ext uri="{FF2B5EF4-FFF2-40B4-BE49-F238E27FC236}">
                  <a16:creationId xmlns:a16="http://schemas.microsoft.com/office/drawing/2014/main" id="{5412742B-C67E-807B-715A-5783CC3E953F}"/>
                </a:ext>
              </a:extLst>
            </p:cNvPr>
            <p:cNvGrpSpPr/>
            <p:nvPr/>
          </p:nvGrpSpPr>
          <p:grpSpPr>
            <a:xfrm rot="-8100000">
              <a:off x="8490523" y="2126849"/>
              <a:ext cx="9714738" cy="8930418"/>
              <a:chOff x="0" y="0"/>
              <a:chExt cx="884185" cy="812800"/>
            </a:xfrm>
          </p:grpSpPr>
          <p:sp>
            <p:nvSpPr>
              <p:cNvPr id="32" name="Freeform 32">
                <a:extLst>
                  <a:ext uri="{FF2B5EF4-FFF2-40B4-BE49-F238E27FC236}">
                    <a16:creationId xmlns:a16="http://schemas.microsoft.com/office/drawing/2014/main" id="{0E42A276-6583-8085-7835-30F812E5D742}"/>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a:extLst>
                  <a:ext uri="{FF2B5EF4-FFF2-40B4-BE49-F238E27FC236}">
                    <a16:creationId xmlns:a16="http://schemas.microsoft.com/office/drawing/2014/main" id="{10BB45C8-B63F-BB5C-F404-6F6427F0BF77}"/>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4" name="TextBox 34">
            <a:extLst>
              <a:ext uri="{FF2B5EF4-FFF2-40B4-BE49-F238E27FC236}">
                <a16:creationId xmlns:a16="http://schemas.microsoft.com/office/drawing/2014/main" id="{976D9599-182F-51B0-472A-2AC9C72D2132}"/>
              </a:ext>
            </a:extLst>
          </p:cNvPr>
          <p:cNvSpPr txBox="1"/>
          <p:nvPr/>
        </p:nvSpPr>
        <p:spPr>
          <a:xfrm>
            <a:off x="5543409" y="3194165"/>
            <a:ext cx="7368964" cy="4790992"/>
          </a:xfrm>
          <a:prstGeom prst="rect">
            <a:avLst/>
          </a:prstGeom>
        </p:spPr>
        <p:txBody>
          <a:bodyPr wrap="square" lIns="0" tIns="0" rIns="0" bIns="0" rtlCol="0" anchor="t">
            <a:spAutoFit/>
          </a:bodyPr>
          <a:lstStyle/>
          <a:p>
            <a:pPr marL="0" marR="0" lvl="0" indent="0" algn="ctr" defTabSz="914400" rtl="0" eaLnBrk="1" fontAlgn="auto" latinLnBrk="0" hangingPunct="1">
              <a:lnSpc>
                <a:spcPts val="18969"/>
              </a:lnSpc>
              <a:spcBef>
                <a:spcPts val="0"/>
              </a:spcBef>
              <a:spcAft>
                <a:spcPts val="0"/>
              </a:spcAft>
              <a:buClrTx/>
              <a:buSzTx/>
              <a:buFontTx/>
              <a:buNone/>
              <a:tabLst/>
              <a:defRPr/>
            </a:pPr>
            <a:r>
              <a:rPr lang="zh-CN" altLang="en-US" sz="9600" b="1" dirty="0">
                <a:solidFill>
                  <a:srgbClr val="1E1E1E"/>
                </a:solidFill>
                <a:latin typeface="思源黑体 4 Bold"/>
                <a:ea typeface="思源黑体 4 Bold"/>
                <a:cs typeface="思源黑体 4 Bold"/>
                <a:sym typeface="思源黑体 4 Bold"/>
              </a:rPr>
              <a:t>技术架构</a:t>
            </a:r>
            <a:endParaRPr kumimoji="0" lang="en-US" altLang="zh-CN" sz="96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endParaRPr>
          </a:p>
          <a:p>
            <a:pPr marL="0" marR="0" lvl="0" indent="0" algn="ctr" defTabSz="914400" rtl="0" eaLnBrk="1" fontAlgn="auto" latinLnBrk="0" hangingPunct="1">
              <a:lnSpc>
                <a:spcPts val="18969"/>
              </a:lnSpc>
              <a:spcBef>
                <a:spcPts val="0"/>
              </a:spcBef>
              <a:spcAft>
                <a:spcPts val="0"/>
              </a:spcAft>
              <a:buClrTx/>
              <a:buSzTx/>
              <a:buFontTx/>
              <a:buNone/>
              <a:tabLst/>
              <a:defRPr/>
            </a:pPr>
            <a:endParaRPr kumimoji="0" lang="en-US" sz="15808" b="1" i="0" u="none" strike="noStrike" kern="1200" cap="none" spc="0" normalizeH="0" baseline="0" noProof="0" dirty="0">
              <a:ln>
                <a:noFill/>
              </a:ln>
              <a:solidFill>
                <a:srgbClr val="263D6D"/>
              </a:solidFill>
              <a:effectLst/>
              <a:uLnTx/>
              <a:uFillTx/>
              <a:latin typeface="Akzidenz-Grotesk Bold"/>
              <a:ea typeface="Akzidenz-Grotesk Bold"/>
              <a:cs typeface="Akzidenz-Grotesk Bold"/>
              <a:sym typeface="Akzidenz-Grotesk Bold"/>
            </a:endParaRPr>
          </a:p>
        </p:txBody>
      </p:sp>
    </p:spTree>
    <p:extLst>
      <p:ext uri="{BB962C8B-B14F-4D97-AF65-F5344CB8AC3E}">
        <p14:creationId xmlns:p14="http://schemas.microsoft.com/office/powerpoint/2010/main" val="916386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26876" y="251721"/>
            <a:ext cx="6122248" cy="790575"/>
          </a:xfrm>
          <a:prstGeom prst="rect">
            <a:avLst/>
          </a:prstGeom>
        </p:spPr>
        <p:txBody>
          <a:bodyPr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系统架构</a:t>
            </a:r>
            <a:endParaRPr lang="en-US" sz="5199" b="1">
              <a:solidFill>
                <a:srgbClr val="100F0D"/>
              </a:solidFill>
              <a:latin typeface="思源黑体 2 Heavy"/>
              <a:ea typeface="思源黑体 2 Heavy"/>
              <a:cs typeface="思源黑体 2 Heavy"/>
              <a:sym typeface="思源黑体 2 Heavy"/>
            </a:endParaRPr>
          </a:p>
        </p:txBody>
      </p:sp>
      <p:sp>
        <p:nvSpPr>
          <p:cNvPr id="3" name="TextBox 3"/>
          <p:cNvSpPr txBox="1"/>
          <p:nvPr/>
        </p:nvSpPr>
        <p:spPr>
          <a:xfrm>
            <a:off x="15226876" y="1095944"/>
            <a:ext cx="6095025" cy="287451"/>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System Architecture</a:t>
            </a:r>
          </a:p>
        </p:txBody>
      </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sp>
        <p:nvSpPr>
          <p:cNvPr id="28" name="TextBox 28"/>
          <p:cNvSpPr txBox="1"/>
          <p:nvPr/>
        </p:nvSpPr>
        <p:spPr>
          <a:xfrm>
            <a:off x="7652325" y="2593320"/>
            <a:ext cx="2983349" cy="510158"/>
          </a:xfrm>
          <a:prstGeom prst="rect">
            <a:avLst/>
          </a:prstGeom>
        </p:spPr>
        <p:txBody>
          <a:bodyPr lIns="0" tIns="0" rIns="0" bIns="0" rtlCol="0" anchor="t">
            <a:spAutoFit/>
          </a:bodyPr>
          <a:lstStyle/>
          <a:p>
            <a:pPr marL="0" lvl="0" indent="0" algn="ctr">
              <a:lnSpc>
                <a:spcPts val="4368"/>
              </a:lnSpc>
              <a:spcBef>
                <a:spcPct val="0"/>
              </a:spcBef>
            </a:pPr>
            <a:r>
              <a:rPr lang="en-US" sz="2800" b="1">
                <a:solidFill>
                  <a:srgbClr val="FFFFFF"/>
                </a:solidFill>
                <a:latin typeface="思源黑体 2 Bold"/>
                <a:ea typeface="思源黑体 2 Bold"/>
                <a:cs typeface="思源黑体 2 Bold"/>
                <a:sym typeface="思源黑体 2 Bold"/>
              </a:rPr>
              <a:t>最终研究过程</a:t>
            </a:r>
          </a:p>
        </p:txBody>
      </p:sp>
      <p:pic>
        <p:nvPicPr>
          <p:cNvPr id="43" name="图片 42">
            <a:extLst>
              <a:ext uri="{FF2B5EF4-FFF2-40B4-BE49-F238E27FC236}">
                <a16:creationId xmlns:a16="http://schemas.microsoft.com/office/drawing/2014/main" id="{C2F1FA0C-F608-F707-B310-7F1DC929D61F}"/>
              </a:ext>
            </a:extLst>
          </p:cNvPr>
          <p:cNvPicPr>
            <a:picLocks noChangeAspect="1"/>
          </p:cNvPicPr>
          <p:nvPr/>
        </p:nvPicPr>
        <p:blipFill>
          <a:blip r:embed="rId2">
            <a:extLst>
              <a:ext uri="{28A0092B-C50C-407E-A947-70E740481C1C}">
                <a14:useLocalDpi xmlns:a14="http://schemas.microsoft.com/office/drawing/2010/main" val="0"/>
              </a:ext>
            </a:extLst>
          </a:blip>
          <a:srcRect b="4644"/>
          <a:stretch>
            <a:fillRect/>
          </a:stretch>
        </p:blipFill>
        <p:spPr>
          <a:xfrm>
            <a:off x="220904" y="1336376"/>
            <a:ext cx="14561907" cy="8618202"/>
          </a:xfrm>
          <a:prstGeom prst="rect">
            <a:avLst/>
          </a:prstGeom>
        </p:spPr>
      </p:pic>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44" name="文本框 43">
            <a:extLst>
              <a:ext uri="{FF2B5EF4-FFF2-40B4-BE49-F238E27FC236}">
                <a16:creationId xmlns:a16="http://schemas.microsoft.com/office/drawing/2014/main" id="{774EF428-D71D-32F3-5D5A-1EA85AFD3478}"/>
              </a:ext>
            </a:extLst>
          </p:cNvPr>
          <p:cNvSpPr txBox="1"/>
          <p:nvPr/>
        </p:nvSpPr>
        <p:spPr>
          <a:xfrm>
            <a:off x="12438477" y="6438900"/>
            <a:ext cx="5576798" cy="3108543"/>
          </a:xfrm>
          <a:prstGeom prst="rect">
            <a:avLst/>
          </a:prstGeom>
          <a:noFill/>
        </p:spPr>
        <p:txBody>
          <a:bodyPr wrap="square" rtlCol="0">
            <a:spAutoFit/>
          </a:bodyPr>
          <a:lstStyle/>
          <a:p>
            <a:r>
              <a:rPr lang="zh-CN" altLang="en-US" sz="2800"/>
              <a:t>系统分为五层：</a:t>
            </a:r>
            <a:endParaRPr lang="en-US" altLang="zh-CN" sz="2800"/>
          </a:p>
          <a:p>
            <a:r>
              <a:rPr lang="zh-CN" altLang="en-US" sz="2800"/>
              <a:t>展示层（</a:t>
            </a:r>
            <a:r>
              <a:rPr lang="en-US" altLang="zh-CN" sz="2800"/>
              <a:t>Streamlit</a:t>
            </a:r>
            <a:r>
              <a:rPr lang="zh-CN" altLang="en-US" sz="2800"/>
              <a:t>界面）；</a:t>
            </a:r>
            <a:endParaRPr lang="en-US" altLang="zh-CN" sz="2800"/>
          </a:p>
          <a:p>
            <a:r>
              <a:rPr lang="zh-CN" altLang="en-US" sz="2800"/>
              <a:t>调度层（</a:t>
            </a:r>
            <a:r>
              <a:rPr lang="en-US" altLang="zh-CN" sz="2800"/>
              <a:t>Agent</a:t>
            </a:r>
            <a:r>
              <a:rPr lang="zh-CN" altLang="en-US" sz="2800"/>
              <a:t>决策）；</a:t>
            </a:r>
            <a:endParaRPr lang="en-US" altLang="zh-CN" sz="2800"/>
          </a:p>
          <a:p>
            <a:r>
              <a:rPr lang="zh-CN" altLang="en-US" sz="2800"/>
              <a:t>生成层（</a:t>
            </a:r>
            <a:r>
              <a:rPr lang="en-US" altLang="zh-CN" sz="2800"/>
              <a:t>RAG</a:t>
            </a:r>
            <a:r>
              <a:rPr lang="zh-CN" altLang="en-US" sz="2800"/>
              <a:t>流水线）；</a:t>
            </a:r>
            <a:endParaRPr lang="en-US" altLang="zh-CN" sz="2800"/>
          </a:p>
          <a:p>
            <a:r>
              <a:rPr lang="zh-CN" altLang="en-US" sz="2800"/>
              <a:t>检索层（混合检索</a:t>
            </a:r>
            <a:r>
              <a:rPr lang="en-US" altLang="zh-CN" sz="2800"/>
              <a:t>+</a:t>
            </a:r>
            <a:r>
              <a:rPr lang="zh-CN" altLang="en-US" sz="2800"/>
              <a:t>重排序）；</a:t>
            </a:r>
            <a:endParaRPr lang="en-US" altLang="zh-CN" sz="2800"/>
          </a:p>
          <a:p>
            <a:r>
              <a:rPr lang="zh-CN" altLang="en-US" sz="2800"/>
              <a:t>数据层（向量数据库</a:t>
            </a:r>
            <a:r>
              <a:rPr lang="en-US" altLang="zh-CN" sz="2800"/>
              <a:t>+</a:t>
            </a:r>
            <a:r>
              <a:rPr lang="zh-CN" altLang="en-US" sz="2800"/>
              <a:t>文档存储）。</a:t>
            </a:r>
            <a:endParaRPr lang="en-US" altLang="zh-CN" sz="2800"/>
          </a:p>
          <a:p>
            <a:r>
              <a:rPr lang="zh-CN" altLang="en-US" sz="2800"/>
              <a:t>各层通过标准化接口交互。</a:t>
            </a:r>
          </a:p>
        </p:txBody>
      </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spTree>
    <p:extLst>
      <p:ext uri="{BB962C8B-B14F-4D97-AF65-F5344CB8AC3E}">
        <p14:creationId xmlns:p14="http://schemas.microsoft.com/office/powerpoint/2010/main" val="1149920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51784" y="-4585021"/>
            <a:ext cx="14954963" cy="21156019"/>
            <a:chOff x="0" y="0"/>
            <a:chExt cx="19939950" cy="28208025"/>
          </a:xfrm>
        </p:grpSpPr>
        <p:grpSp>
          <p:nvGrpSpPr>
            <p:cNvPr id="3" name="Group 3"/>
            <p:cNvGrpSpPr/>
            <p:nvPr/>
          </p:nvGrpSpPr>
          <p:grpSpPr>
            <a:xfrm>
              <a:off x="2979307" y="0"/>
              <a:ext cx="12531397" cy="11964703"/>
              <a:chOff x="0" y="0"/>
              <a:chExt cx="851297" cy="812800"/>
            </a:xfrm>
          </p:grpSpPr>
          <p:sp>
            <p:nvSpPr>
              <p:cNvPr id="4" name="Freeform 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641873" y="3801375"/>
              <a:ext cx="12531397" cy="11964703"/>
              <a:chOff x="0" y="0"/>
              <a:chExt cx="851297" cy="812800"/>
            </a:xfrm>
          </p:grpSpPr>
          <p:sp>
            <p:nvSpPr>
              <p:cNvPr id="7" name="Freeform 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7408553" y="6714596"/>
              <a:ext cx="12531397" cy="11964703"/>
              <a:chOff x="0" y="0"/>
              <a:chExt cx="851297" cy="812800"/>
            </a:xfrm>
          </p:grpSpPr>
          <p:sp>
            <p:nvSpPr>
              <p:cNvPr id="10" name="Freeform 1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568307" y="15697698"/>
              <a:ext cx="9353396" cy="8930418"/>
              <a:chOff x="0" y="0"/>
              <a:chExt cx="851297" cy="812800"/>
            </a:xfrm>
          </p:grpSpPr>
          <p:sp>
            <p:nvSpPr>
              <p:cNvPr id="13" name="Freeform 1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2700000">
              <a:off x="1734689" y="17150758"/>
              <a:ext cx="9714738" cy="8930418"/>
              <a:chOff x="0" y="0"/>
              <a:chExt cx="884185" cy="812800"/>
            </a:xfrm>
          </p:grpSpPr>
          <p:sp>
            <p:nvSpPr>
              <p:cNvPr id="16" name="Freeform 16"/>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grpSp>
        <p:nvGrpSpPr>
          <p:cNvPr id="18" name="Group 18"/>
          <p:cNvGrpSpPr/>
          <p:nvPr/>
        </p:nvGrpSpPr>
        <p:grpSpPr>
          <a:xfrm>
            <a:off x="-8618746" y="-6283998"/>
            <a:ext cx="14954963" cy="21156019"/>
            <a:chOff x="0" y="0"/>
            <a:chExt cx="19939950" cy="28208025"/>
          </a:xfrm>
        </p:grpSpPr>
        <p:grpSp>
          <p:nvGrpSpPr>
            <p:cNvPr id="19" name="Group 19"/>
            <p:cNvGrpSpPr/>
            <p:nvPr/>
          </p:nvGrpSpPr>
          <p:grpSpPr>
            <a:xfrm rot="-10800000">
              <a:off x="4429246" y="16243322"/>
              <a:ext cx="12531397" cy="11964703"/>
              <a:chOff x="0" y="0"/>
              <a:chExt cx="851297" cy="812800"/>
            </a:xfrm>
          </p:grpSpPr>
          <p:sp>
            <p:nvSpPr>
              <p:cNvPr id="20" name="Freeform 2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10800000">
              <a:off x="1766680" y="12441947"/>
              <a:ext cx="12531397" cy="11964703"/>
              <a:chOff x="0" y="0"/>
              <a:chExt cx="851297" cy="812800"/>
            </a:xfrm>
          </p:grpSpPr>
          <p:sp>
            <p:nvSpPr>
              <p:cNvPr id="23" name="Freeform 2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10800000">
              <a:off x="0" y="9528727"/>
              <a:ext cx="12531397" cy="11964703"/>
              <a:chOff x="0" y="0"/>
              <a:chExt cx="851297" cy="812800"/>
            </a:xfrm>
          </p:grpSpPr>
          <p:sp>
            <p:nvSpPr>
              <p:cNvPr id="26" name="Freeform 26"/>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6018247" y="3579910"/>
              <a:ext cx="9353396" cy="8930418"/>
              <a:chOff x="0" y="0"/>
              <a:chExt cx="851297" cy="812800"/>
            </a:xfrm>
          </p:grpSpPr>
          <p:sp>
            <p:nvSpPr>
              <p:cNvPr id="29" name="Freeform 29"/>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8100000">
              <a:off x="8490523" y="2126849"/>
              <a:ext cx="9714738" cy="8930418"/>
              <a:chOff x="0" y="0"/>
              <a:chExt cx="884185" cy="812800"/>
            </a:xfrm>
          </p:grpSpPr>
          <p:sp>
            <p:nvSpPr>
              <p:cNvPr id="32" name="Freeform 32"/>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sp>
        <p:nvSpPr>
          <p:cNvPr id="34" name="TextBox 34"/>
          <p:cNvSpPr txBox="1"/>
          <p:nvPr/>
        </p:nvSpPr>
        <p:spPr>
          <a:xfrm>
            <a:off x="7614610" y="2003127"/>
            <a:ext cx="3058781" cy="2724150"/>
          </a:xfrm>
          <a:prstGeom prst="rect">
            <a:avLst/>
          </a:prstGeom>
        </p:spPr>
        <p:txBody>
          <a:bodyPr lIns="0" tIns="0" rIns="0" bIns="0" rtlCol="0" anchor="t">
            <a:spAutoFit/>
          </a:bodyPr>
          <a:lstStyle/>
          <a:p>
            <a:pPr algn="ctr">
              <a:lnSpc>
                <a:spcPts val="18969"/>
              </a:lnSpc>
            </a:pPr>
            <a:r>
              <a:rPr lang="en-US" sz="15808" b="1">
                <a:solidFill>
                  <a:srgbClr val="263D6D"/>
                </a:solidFill>
                <a:latin typeface="Akzidenz-Grotesk Bold"/>
                <a:ea typeface="Akzidenz-Grotesk Bold"/>
                <a:cs typeface="Akzidenz-Grotesk Bold"/>
                <a:sym typeface="Akzidenz-Grotesk Bold"/>
              </a:rPr>
              <a:t>01</a:t>
            </a:r>
          </a:p>
        </p:txBody>
      </p:sp>
      <p:sp>
        <p:nvSpPr>
          <p:cNvPr id="35" name="TextBox 35"/>
          <p:cNvSpPr txBox="1"/>
          <p:nvPr/>
        </p:nvSpPr>
        <p:spPr>
          <a:xfrm>
            <a:off x="4555787" y="4297020"/>
            <a:ext cx="9176426" cy="1324356"/>
          </a:xfrm>
          <a:prstGeom prst="rect">
            <a:avLst/>
          </a:prstGeom>
        </p:spPr>
        <p:txBody>
          <a:bodyPr lIns="0" tIns="0" rIns="0" bIns="0" rtlCol="0" anchor="t">
            <a:spAutoFit/>
          </a:bodyPr>
          <a:lstStyle/>
          <a:p>
            <a:pPr marL="0" lvl="0" indent="0" algn="ctr">
              <a:lnSpc>
                <a:spcPts val="10692"/>
              </a:lnSpc>
              <a:spcBef>
                <a:spcPct val="0"/>
              </a:spcBef>
            </a:pPr>
            <a:r>
              <a:rPr lang="zh-CN" altLang="en-US" sz="8100" b="1" dirty="0">
                <a:solidFill>
                  <a:srgbClr val="1E1E1E"/>
                </a:solidFill>
                <a:latin typeface="思源黑体 4 Bold"/>
                <a:ea typeface="思源黑体 4 Bold"/>
                <a:cs typeface="思源黑体 4 Bold"/>
                <a:sym typeface="思源黑体 4 Bold"/>
              </a:rPr>
              <a:t>模块一</a:t>
            </a:r>
            <a:r>
              <a:rPr lang="en-US" altLang="zh-CN" sz="8100" b="1" dirty="0">
                <a:solidFill>
                  <a:srgbClr val="1E1E1E"/>
                </a:solidFill>
                <a:latin typeface="思源黑体 4 Bold"/>
                <a:ea typeface="思源黑体 4 Bold"/>
                <a:cs typeface="思源黑体 4 Bold"/>
                <a:sym typeface="思源黑体 4 Bold"/>
              </a:rPr>
              <a:t>&amp;</a:t>
            </a:r>
            <a:r>
              <a:rPr lang="zh-CN" altLang="en-US" sz="8100" b="1" dirty="0">
                <a:solidFill>
                  <a:srgbClr val="1E1E1E"/>
                </a:solidFill>
                <a:latin typeface="思源黑体 4 Bold"/>
                <a:ea typeface="思源黑体 4 Bold"/>
                <a:cs typeface="思源黑体 4 Bold"/>
                <a:sym typeface="思源黑体 4 Bold"/>
              </a:rPr>
              <a:t>模块二</a:t>
            </a:r>
          </a:p>
        </p:txBody>
      </p:sp>
      <p:grpSp>
        <p:nvGrpSpPr>
          <p:cNvPr id="36" name="Group 36"/>
          <p:cNvGrpSpPr/>
          <p:nvPr/>
        </p:nvGrpSpPr>
        <p:grpSpPr>
          <a:xfrm>
            <a:off x="6085219" y="5829511"/>
            <a:ext cx="6117561" cy="496991"/>
            <a:chOff x="0" y="0"/>
            <a:chExt cx="8300307" cy="674318"/>
          </a:xfrm>
        </p:grpSpPr>
        <p:sp>
          <p:nvSpPr>
            <p:cNvPr id="37" name="Freeform 37"/>
            <p:cNvSpPr/>
            <p:nvPr/>
          </p:nvSpPr>
          <p:spPr>
            <a:xfrm>
              <a:off x="0" y="0"/>
              <a:ext cx="8300307" cy="674318"/>
            </a:xfrm>
            <a:custGeom>
              <a:avLst/>
              <a:gdLst/>
              <a:ahLst/>
              <a:cxnLst/>
              <a:rect l="l" t="t" r="r" b="b"/>
              <a:pathLst>
                <a:path w="8300307" h="674318">
                  <a:moveTo>
                    <a:pt x="126552" y="0"/>
                  </a:moveTo>
                  <a:lnTo>
                    <a:pt x="8173755" y="0"/>
                  </a:lnTo>
                  <a:cubicBezTo>
                    <a:pt x="8243648" y="0"/>
                    <a:pt x="8300307" y="56659"/>
                    <a:pt x="8300307" y="126552"/>
                  </a:cubicBezTo>
                  <a:lnTo>
                    <a:pt x="8300307" y="547765"/>
                  </a:lnTo>
                  <a:cubicBezTo>
                    <a:pt x="8300307" y="617658"/>
                    <a:pt x="8243648" y="674318"/>
                    <a:pt x="8173755" y="674318"/>
                  </a:cubicBezTo>
                  <a:lnTo>
                    <a:pt x="126552" y="674318"/>
                  </a:lnTo>
                  <a:cubicBezTo>
                    <a:pt x="56659" y="674318"/>
                    <a:pt x="0" y="617658"/>
                    <a:pt x="0" y="547765"/>
                  </a:cubicBezTo>
                  <a:lnTo>
                    <a:pt x="0" y="126552"/>
                  </a:lnTo>
                  <a:cubicBezTo>
                    <a:pt x="0" y="56659"/>
                    <a:pt x="56659" y="0"/>
                    <a:pt x="126552" y="0"/>
                  </a:cubicBezTo>
                  <a:close/>
                </a:path>
              </a:pathLst>
            </a:custGeom>
            <a:solidFill>
              <a:srgbClr val="263D6D"/>
            </a:solidFill>
          </p:spPr>
        </p:sp>
        <p:sp>
          <p:nvSpPr>
            <p:cNvPr id="38" name="TextBox 38"/>
            <p:cNvSpPr txBox="1"/>
            <p:nvPr/>
          </p:nvSpPr>
          <p:spPr>
            <a:xfrm>
              <a:off x="0" y="-47625"/>
              <a:ext cx="8300307" cy="721943"/>
            </a:xfrm>
            <a:prstGeom prst="rect">
              <a:avLst/>
            </a:prstGeom>
          </p:spPr>
          <p:txBody>
            <a:bodyPr lIns="50800" tIns="50800" rIns="50800" bIns="50800" rtlCol="0" anchor="ctr"/>
            <a:lstStyle/>
            <a:p>
              <a:pPr algn="ctr">
                <a:lnSpc>
                  <a:spcPts val="3211"/>
                </a:lnSpc>
              </a:pPr>
              <a:endParaRPr/>
            </a:p>
          </p:txBody>
        </p:sp>
      </p:grpSp>
      <p:sp>
        <p:nvSpPr>
          <p:cNvPr id="40" name="TextBox 40"/>
          <p:cNvSpPr txBox="1"/>
          <p:nvPr/>
        </p:nvSpPr>
        <p:spPr>
          <a:xfrm>
            <a:off x="6334173" y="5856832"/>
            <a:ext cx="5619654" cy="430887"/>
          </a:xfrm>
          <a:prstGeom prst="rect">
            <a:avLst/>
          </a:prstGeom>
        </p:spPr>
        <p:txBody>
          <a:bodyPr lIns="0" tIns="0" rIns="0" bIns="0" rtlCol="0" anchor="t">
            <a:spAutoFit/>
          </a:bodyPr>
          <a:lstStyle/>
          <a:p>
            <a:pPr algn="ctr">
              <a:lnSpc>
                <a:spcPct val="100000"/>
              </a:lnSpc>
            </a:pPr>
            <a:r>
              <a:rPr lang="zh-CN" altLang="en-US" sz="2800" b="1" dirty="0">
                <a:solidFill>
                  <a:srgbClr val="FFFFFF"/>
                </a:solidFill>
                <a:latin typeface="Akzidenz-Grotesk Medium"/>
                <a:ea typeface="Akzidenz-Grotesk Medium"/>
                <a:cs typeface="Akzidenz-Grotesk Medium"/>
                <a:sym typeface="Akzidenz-Grotesk Medium"/>
              </a:rPr>
              <a:t>文档处理与检索层</a:t>
            </a:r>
            <a:r>
              <a:rPr lang="en-US" altLang="zh-CN" sz="2800" b="1" dirty="0">
                <a:solidFill>
                  <a:srgbClr val="FFFFFF"/>
                </a:solidFill>
                <a:latin typeface="Akzidenz-Grotesk Medium"/>
                <a:ea typeface="Akzidenz-Grotesk Medium"/>
                <a:cs typeface="Akzidenz-Grotesk Medium"/>
                <a:sym typeface="Akzidenz-Grotesk Medium"/>
              </a:rPr>
              <a:t>&amp;RAG</a:t>
            </a:r>
            <a:r>
              <a:rPr lang="zh-CN" altLang="en-US" sz="2800" b="1" dirty="0">
                <a:solidFill>
                  <a:srgbClr val="FFFFFF"/>
                </a:solidFill>
                <a:latin typeface="Akzidenz-Grotesk Medium"/>
                <a:ea typeface="Akzidenz-Grotesk Medium"/>
                <a:cs typeface="Akzidenz-Grotesk Medium"/>
                <a:sym typeface="Akzidenz-Grotesk Medium"/>
              </a:rPr>
              <a:t>生成层</a:t>
            </a:r>
            <a:endParaRPr lang="en-US" sz="2800" b="1" dirty="0">
              <a:solidFill>
                <a:srgbClr val="FFFFFF"/>
              </a:solidFill>
              <a:latin typeface="Akzidenz-Grotesk Medium"/>
              <a:ea typeface="Akzidenz-Grotesk Medium"/>
              <a:cs typeface="Akzidenz-Grotesk Medium"/>
              <a:sym typeface="Akzidenz-Grotesk Medium"/>
            </a:endParaRPr>
          </a:p>
        </p:txBody>
      </p:sp>
    </p:spTree>
    <p:extLst>
      <p:ext uri="{BB962C8B-B14F-4D97-AF65-F5344CB8AC3E}">
        <p14:creationId xmlns:p14="http://schemas.microsoft.com/office/powerpoint/2010/main" val="2067397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数据层实现</a:t>
            </a:r>
            <a:endParaRPr lang="en-US" sz="5199" b="1" dirty="0">
              <a:solidFill>
                <a:srgbClr val="100F0D"/>
              </a:solidFill>
              <a:latin typeface="思源黑体 2 Heavy"/>
              <a:ea typeface="思源黑体 2 Heavy"/>
              <a:cs typeface="思源黑体 2 Heavy"/>
              <a:sym typeface="思源黑体 2 Heavy"/>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64066" y="2442787"/>
            <a:ext cx="18076333" cy="4766177"/>
          </a:xfrm>
          <a:prstGeom prst="rect">
            <a:avLst/>
          </a:prstGeom>
        </p:spPr>
        <p:txBody>
          <a:bodyPr wrap="square" lIns="0" tIns="0" rIns="0" bIns="0" rtlCol="0" anchor="t">
            <a:spAutoFit/>
          </a:bodyPr>
          <a:lstStyle/>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1.</a:t>
            </a:r>
            <a:r>
              <a:rPr lang="zh-CN" altLang="en-US" sz="3000" dirty="0">
                <a:solidFill>
                  <a:srgbClr val="100F0D"/>
                </a:solidFill>
                <a:latin typeface="思源黑体 2"/>
                <a:ea typeface="思源黑体 2"/>
                <a:cs typeface="思源黑体 2"/>
                <a:sym typeface="思源黑体 2"/>
              </a:rPr>
              <a:t>支持 </a:t>
            </a:r>
            <a:r>
              <a:rPr lang="en-US" altLang="zh-CN" sz="3000" dirty="0">
                <a:solidFill>
                  <a:srgbClr val="100F0D"/>
                </a:solidFill>
                <a:latin typeface="思源黑体 2"/>
                <a:ea typeface="思源黑体 2"/>
                <a:cs typeface="思源黑体 2"/>
                <a:sym typeface="思源黑体 2"/>
              </a:rPr>
              <a:t>PDF / Word / TXT </a:t>
            </a:r>
            <a:r>
              <a:rPr lang="zh-CN" altLang="en-US" sz="3000" dirty="0">
                <a:solidFill>
                  <a:srgbClr val="100F0D"/>
                </a:solidFill>
                <a:latin typeface="思源黑体 2"/>
                <a:ea typeface="思源黑体 2"/>
                <a:cs typeface="思源黑体 2"/>
                <a:sym typeface="思源黑体 2"/>
              </a:rPr>
              <a:t>三种格式文档上传</a:t>
            </a:r>
          </a:p>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2.PDF</a:t>
            </a:r>
            <a:r>
              <a:rPr lang="zh-CN" altLang="en-US" sz="3000" dirty="0">
                <a:solidFill>
                  <a:srgbClr val="100F0D"/>
                </a:solidFill>
                <a:latin typeface="思源黑体 2"/>
                <a:ea typeface="思源黑体 2"/>
                <a:cs typeface="思源黑体 2"/>
                <a:sym typeface="思源黑体 2"/>
              </a:rPr>
              <a:t>解析方案对比：</a:t>
            </a:r>
            <a:r>
              <a:rPr lang="en-US" altLang="zh-CN" sz="3000" dirty="0" err="1">
                <a:solidFill>
                  <a:srgbClr val="100F0D"/>
                </a:solidFill>
                <a:latin typeface="思源黑体 2"/>
                <a:ea typeface="思源黑体 2"/>
                <a:cs typeface="思源黑体 2"/>
                <a:sym typeface="思源黑体 2"/>
              </a:rPr>
              <a:t>pdfplumber</a:t>
            </a:r>
            <a:r>
              <a:rPr lang="zh-CN" altLang="en-US" sz="3000" dirty="0">
                <a:solidFill>
                  <a:srgbClr val="100F0D"/>
                </a:solidFill>
                <a:latin typeface="思源黑体 2"/>
                <a:ea typeface="思源黑体 2"/>
                <a:cs typeface="思源黑体 2"/>
                <a:sym typeface="思源黑体 2"/>
              </a:rPr>
              <a:t>（中文最优）</a:t>
            </a:r>
            <a:r>
              <a:rPr lang="en-US" altLang="zh-CN" sz="3000" dirty="0">
                <a:solidFill>
                  <a:srgbClr val="100F0D"/>
                </a:solidFill>
                <a:latin typeface="思源黑体 2"/>
                <a:ea typeface="思源黑体 2"/>
                <a:cs typeface="思源黑体 2"/>
                <a:sym typeface="思源黑体 2"/>
              </a:rPr>
              <a:t>&gt; </a:t>
            </a:r>
            <a:r>
              <a:rPr lang="en-US" altLang="zh-CN" sz="3000" dirty="0" err="1">
                <a:solidFill>
                  <a:srgbClr val="100F0D"/>
                </a:solidFill>
                <a:latin typeface="思源黑体 2"/>
                <a:ea typeface="思源黑体 2"/>
                <a:cs typeface="思源黑体 2"/>
                <a:sym typeface="思源黑体 2"/>
              </a:rPr>
              <a:t>pymupdf</a:t>
            </a:r>
            <a:r>
              <a:rPr lang="zh-CN" altLang="en-US" sz="3000" dirty="0">
                <a:solidFill>
                  <a:srgbClr val="100F0D"/>
                </a:solidFill>
                <a:latin typeface="思源黑体 2"/>
                <a:ea typeface="思源黑体 2"/>
                <a:cs typeface="思源黑体 2"/>
                <a:sym typeface="思源黑体 2"/>
              </a:rPr>
              <a:t>（速度快但中文一般）</a:t>
            </a:r>
            <a:r>
              <a:rPr lang="en-US" altLang="zh-CN" sz="3000" dirty="0">
                <a:solidFill>
                  <a:srgbClr val="100F0D"/>
                </a:solidFill>
                <a:latin typeface="思源黑体 2"/>
                <a:ea typeface="思源黑体 2"/>
                <a:cs typeface="思源黑体 2"/>
                <a:sym typeface="思源黑体 2"/>
              </a:rPr>
              <a:t>&gt; PyPDF2</a:t>
            </a:r>
            <a:r>
              <a:rPr lang="zh-CN" altLang="en-US" sz="3000" dirty="0">
                <a:solidFill>
                  <a:srgbClr val="100F0D"/>
                </a:solidFill>
                <a:latin typeface="思源黑体 2"/>
                <a:ea typeface="思源黑体 2"/>
                <a:cs typeface="思源黑体 2"/>
                <a:sym typeface="思源黑体 2"/>
              </a:rPr>
              <a:t>（表格提取差）</a:t>
            </a:r>
          </a:p>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3.</a:t>
            </a:r>
            <a:r>
              <a:rPr lang="zh-CN" altLang="en-US" sz="3000" dirty="0">
                <a:solidFill>
                  <a:srgbClr val="100F0D"/>
                </a:solidFill>
                <a:latin typeface="思源黑体 2"/>
                <a:ea typeface="思源黑体 2"/>
                <a:cs typeface="思源黑体 2"/>
                <a:sym typeface="思源黑体 2"/>
              </a:rPr>
              <a:t>采用 </a:t>
            </a:r>
            <a:r>
              <a:rPr lang="en-US" altLang="zh-CN" sz="3000" dirty="0" err="1">
                <a:solidFill>
                  <a:srgbClr val="100F0D"/>
                </a:solidFill>
                <a:latin typeface="思源黑体 2"/>
                <a:ea typeface="思源黑体 2"/>
                <a:cs typeface="思源黑体 2"/>
                <a:sym typeface="思源黑体 2"/>
              </a:rPr>
              <a:t>pdfplumber</a:t>
            </a:r>
            <a:r>
              <a:rPr lang="en-US" altLang="zh-CN" sz="3000" dirty="0">
                <a:solidFill>
                  <a:srgbClr val="100F0D"/>
                </a:solidFill>
                <a:latin typeface="思源黑体 2"/>
                <a:ea typeface="思源黑体 2"/>
                <a:cs typeface="思源黑体 2"/>
                <a:sym typeface="思源黑体 2"/>
              </a:rPr>
              <a:t> </a:t>
            </a:r>
            <a:r>
              <a:rPr lang="zh-CN" altLang="en-US" sz="3000" dirty="0">
                <a:solidFill>
                  <a:srgbClr val="100F0D"/>
                </a:solidFill>
                <a:latin typeface="思源黑体 2"/>
                <a:ea typeface="思源黑体 2"/>
                <a:cs typeface="思源黑体 2"/>
                <a:sym typeface="思源黑体 2"/>
              </a:rPr>
              <a:t>解析中文学术论文，支持双栏排版和表格提取</a:t>
            </a:r>
          </a:p>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4.</a:t>
            </a:r>
            <a:r>
              <a:rPr lang="zh-CN" altLang="en-US" sz="3000" dirty="0">
                <a:solidFill>
                  <a:srgbClr val="100F0D"/>
                </a:solidFill>
                <a:latin typeface="思源黑体 2"/>
                <a:ea typeface="思源黑体 2"/>
                <a:cs typeface="思源黑体 2"/>
                <a:sym typeface="思源黑体 2"/>
              </a:rPr>
              <a:t>递归字符切分：中英文分隔符优先级设计，在语义边界处断开</a:t>
            </a:r>
          </a:p>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5.bge-large-zh-v1.5 </a:t>
            </a:r>
            <a:r>
              <a:rPr lang="zh-CN" altLang="en-US" sz="3000" dirty="0">
                <a:solidFill>
                  <a:srgbClr val="100F0D"/>
                </a:solidFill>
                <a:latin typeface="思源黑体 2"/>
                <a:ea typeface="思源黑体 2"/>
                <a:cs typeface="思源黑体 2"/>
                <a:sym typeface="思源黑体 2"/>
              </a:rPr>
              <a:t>模型将文本编码为 </a:t>
            </a:r>
            <a:r>
              <a:rPr lang="en-US" altLang="zh-CN" sz="3000" dirty="0">
                <a:solidFill>
                  <a:srgbClr val="100F0D"/>
                </a:solidFill>
                <a:latin typeface="思源黑体 2"/>
                <a:ea typeface="思源黑体 2"/>
                <a:cs typeface="思源黑体 2"/>
                <a:sym typeface="思源黑体 2"/>
              </a:rPr>
              <a:t>1024 </a:t>
            </a:r>
            <a:r>
              <a:rPr lang="zh-CN" altLang="en-US" sz="3000" dirty="0">
                <a:solidFill>
                  <a:srgbClr val="100F0D"/>
                </a:solidFill>
                <a:latin typeface="思源黑体 2"/>
                <a:ea typeface="思源黑体 2"/>
                <a:cs typeface="思源黑体 2"/>
                <a:sym typeface="思源黑体 2"/>
              </a:rPr>
              <a:t>维向量（对比 </a:t>
            </a:r>
            <a:r>
              <a:rPr lang="en-US" altLang="zh-CN" sz="3000" dirty="0">
                <a:solidFill>
                  <a:srgbClr val="100F0D"/>
                </a:solidFill>
                <a:latin typeface="思源黑体 2"/>
                <a:ea typeface="思源黑体 2"/>
                <a:cs typeface="思源黑体 2"/>
                <a:sym typeface="思源黑体 2"/>
              </a:rPr>
              <a:t>m3e-base </a:t>
            </a:r>
            <a:r>
              <a:rPr lang="zh-CN" altLang="en-US" sz="3000" dirty="0">
                <a:solidFill>
                  <a:srgbClr val="100F0D"/>
                </a:solidFill>
                <a:latin typeface="思源黑体 2"/>
                <a:ea typeface="思源黑体 2"/>
                <a:cs typeface="思源黑体 2"/>
                <a:sym typeface="思源黑体 2"/>
              </a:rPr>
              <a:t>后选择，</a:t>
            </a:r>
            <a:r>
              <a:rPr lang="en-US" altLang="zh-CN" sz="3000" dirty="0" err="1">
                <a:solidFill>
                  <a:srgbClr val="100F0D"/>
                </a:solidFill>
                <a:latin typeface="思源黑体 2"/>
                <a:ea typeface="思源黑体 2"/>
                <a:cs typeface="思源黑体 2"/>
                <a:sym typeface="思源黑体 2"/>
              </a:rPr>
              <a:t>bge</a:t>
            </a:r>
            <a:r>
              <a:rPr lang="en-US" altLang="zh-CN" sz="3000" dirty="0">
                <a:solidFill>
                  <a:srgbClr val="100F0D"/>
                </a:solidFill>
                <a:latin typeface="思源黑体 2"/>
                <a:ea typeface="思源黑体 2"/>
                <a:cs typeface="思源黑体 2"/>
                <a:sym typeface="思源黑体 2"/>
              </a:rPr>
              <a:t> </a:t>
            </a:r>
            <a:r>
              <a:rPr lang="zh-CN" altLang="en-US" sz="3000" dirty="0">
                <a:solidFill>
                  <a:srgbClr val="100F0D"/>
                </a:solidFill>
                <a:latin typeface="思源黑体 2"/>
                <a:ea typeface="思源黑体 2"/>
                <a:cs typeface="思源黑体 2"/>
                <a:sym typeface="思源黑体 2"/>
              </a:rPr>
              <a:t>中文语义理解更强）</a:t>
            </a:r>
          </a:p>
          <a:p>
            <a:pPr marL="0" lvl="0" indent="0">
              <a:lnSpc>
                <a:spcPct val="150000"/>
              </a:lnSpc>
              <a:spcBef>
                <a:spcPct val="0"/>
              </a:spcBef>
            </a:pPr>
            <a:r>
              <a:rPr lang="en-US" altLang="zh-CN" sz="3000" dirty="0">
                <a:solidFill>
                  <a:srgbClr val="100F0D"/>
                </a:solidFill>
                <a:latin typeface="思源黑体 2"/>
                <a:ea typeface="思源黑体 2"/>
                <a:cs typeface="思源黑体 2"/>
                <a:sym typeface="思源黑体 2"/>
              </a:rPr>
              <a:t>6.FAISS </a:t>
            </a:r>
            <a:r>
              <a:rPr lang="zh-CN" altLang="en-US" sz="3000" dirty="0">
                <a:solidFill>
                  <a:srgbClr val="100F0D"/>
                </a:solidFill>
                <a:latin typeface="思源黑体 2"/>
                <a:ea typeface="思源黑体 2"/>
                <a:cs typeface="思源黑体 2"/>
                <a:sym typeface="思源黑体 2"/>
              </a:rPr>
              <a:t>向量索引支持增量更新，新文档加入无需重建（对比 </a:t>
            </a:r>
            <a:r>
              <a:rPr lang="en-US" altLang="zh-CN" sz="3000" dirty="0">
                <a:solidFill>
                  <a:srgbClr val="100F0D"/>
                </a:solidFill>
                <a:latin typeface="思源黑体 2"/>
                <a:ea typeface="思源黑体 2"/>
                <a:cs typeface="思源黑体 2"/>
                <a:sym typeface="思源黑体 2"/>
              </a:rPr>
              <a:t>Chroma </a:t>
            </a:r>
            <a:r>
              <a:rPr lang="zh-CN" altLang="en-US" sz="3000" dirty="0">
                <a:solidFill>
                  <a:srgbClr val="100F0D"/>
                </a:solidFill>
                <a:latin typeface="思源黑体 2"/>
                <a:ea typeface="思源黑体 2"/>
                <a:cs typeface="思源黑体 2"/>
                <a:sym typeface="思源黑体 2"/>
              </a:rPr>
              <a:t>后选择，</a:t>
            </a:r>
            <a:r>
              <a:rPr lang="en-US" altLang="zh-CN" sz="3000" dirty="0">
                <a:solidFill>
                  <a:srgbClr val="100F0D"/>
                </a:solidFill>
                <a:latin typeface="思源黑体 2"/>
                <a:ea typeface="思源黑体 2"/>
                <a:cs typeface="思源黑体 2"/>
                <a:sym typeface="思源黑体 2"/>
              </a:rPr>
              <a:t>FAISS </a:t>
            </a:r>
            <a:r>
              <a:rPr lang="zh-CN" altLang="en-US" sz="3000" dirty="0">
                <a:solidFill>
                  <a:srgbClr val="100F0D"/>
                </a:solidFill>
                <a:latin typeface="思源黑体 2"/>
                <a:ea typeface="思源黑体 2"/>
                <a:cs typeface="思源黑体 2"/>
                <a:sym typeface="思源黑体 2"/>
              </a:rPr>
              <a:t>纯</a:t>
            </a:r>
            <a:r>
              <a:rPr lang="en-US" altLang="zh-CN" sz="3000" dirty="0">
                <a:solidFill>
                  <a:srgbClr val="100F0D"/>
                </a:solidFill>
                <a:latin typeface="思源黑体 2"/>
                <a:ea typeface="思源黑体 2"/>
                <a:cs typeface="思源黑体 2"/>
                <a:sym typeface="思源黑体 2"/>
              </a:rPr>
              <a:t>Python</a:t>
            </a:r>
            <a:r>
              <a:rPr lang="zh-CN" altLang="en-US" sz="3000" dirty="0">
                <a:solidFill>
                  <a:srgbClr val="100F0D"/>
                </a:solidFill>
                <a:latin typeface="思源黑体 2"/>
                <a:ea typeface="思源黑体 2"/>
                <a:cs typeface="思源黑体 2"/>
                <a:sym typeface="思源黑体 2"/>
              </a:rPr>
              <a:t>无需起独立服务）</a:t>
            </a:r>
          </a:p>
        </p:txBody>
      </p:sp>
      <p:sp>
        <p:nvSpPr>
          <p:cNvPr id="30" name="TextBox 30"/>
          <p:cNvSpPr txBox="1"/>
          <p:nvPr/>
        </p:nvSpPr>
        <p:spPr>
          <a:xfrm>
            <a:off x="1221327" y="1801519"/>
            <a:ext cx="4591246"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文档处理与向量化存储</a:t>
            </a:r>
            <a:endParaRPr lang="en-US" sz="3600" b="1" dirty="0">
              <a:solidFill>
                <a:srgbClr val="1E1E1E"/>
              </a:solidFill>
              <a:latin typeface="思源黑体 2 Bold"/>
              <a:ea typeface="思源黑体 2 Bold"/>
              <a:cs typeface="思源黑体 2 Bold"/>
              <a:sym typeface="思源黑体 2 Bold"/>
            </a:endParaRPr>
          </a:p>
        </p:txBody>
      </p:sp>
      <p:pic>
        <p:nvPicPr>
          <p:cNvPr id="51" name="图片 50">
            <a:extLst>
              <a:ext uri="{FF2B5EF4-FFF2-40B4-BE49-F238E27FC236}">
                <a16:creationId xmlns:a16="http://schemas.microsoft.com/office/drawing/2014/main" id="{86F5A64E-3D0E-FAB9-50D0-589F6C64C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6727" y="7040829"/>
            <a:ext cx="13484803" cy="3383827"/>
          </a:xfrm>
          <a:prstGeom prst="rect">
            <a:avLst/>
          </a:prstGeom>
        </p:spPr>
      </p:pic>
    </p:spTree>
    <p:extLst>
      <p:ext uri="{BB962C8B-B14F-4D97-AF65-F5344CB8AC3E}">
        <p14:creationId xmlns:p14="http://schemas.microsoft.com/office/powerpoint/2010/main" val="1231631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1A84E-577C-2E44-8C7B-E963B3ABFB5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A2B45D8-8061-DB4C-9D19-8A77386A9C1A}"/>
              </a:ext>
            </a:extLst>
          </p:cNvPr>
          <p:cNvSpPr txBox="1"/>
          <p:nvPr/>
        </p:nvSpPr>
        <p:spPr>
          <a:xfrm>
            <a:off x="1221328" y="791367"/>
            <a:ext cx="6122248" cy="790575"/>
          </a:xfrm>
          <a:prstGeom prst="rect">
            <a:avLst/>
          </a:prstGeom>
        </p:spPr>
        <p:txBody>
          <a:bodyPr lIns="0" tIns="0" rIns="0" bIns="0" rtlCol="0" anchor="t">
            <a:spAutoFit/>
          </a:bodyPr>
          <a:lstStyle/>
          <a:p>
            <a:pPr>
              <a:lnSpc>
                <a:spcPts val="6239"/>
              </a:lnSpc>
            </a:pPr>
            <a:r>
              <a:rPr lang="zh-CN" altLang="en-US" sz="5199" b="1" dirty="0">
                <a:solidFill>
                  <a:srgbClr val="100F0D"/>
                </a:solidFill>
                <a:latin typeface="思源黑体 2 Heavy"/>
                <a:ea typeface="思源黑体 2 Heavy"/>
                <a:cs typeface="思源黑体 2 Heavy"/>
                <a:sym typeface="思源黑体 2 Heavy"/>
              </a:rPr>
              <a:t>检索层实现</a:t>
            </a:r>
            <a:endParaRPr lang="en-US" altLang="zh-CN" sz="5199" b="1" dirty="0">
              <a:solidFill>
                <a:srgbClr val="100F0D"/>
              </a:solidFill>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9842E009-D0DF-EEC8-10A2-98EF119D6D0C}"/>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F5A96305-A147-7B29-9752-60CE821A7F1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A700889D-84B6-800D-C4F9-6C30B60A2B5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7E2734E9-78C8-EEFD-C0DC-ECB3DF140317}"/>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02AF2F4C-1C17-B1CB-6D53-8410FBD0F47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F69596F9-7201-D62E-0E48-41302455A6B0}"/>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6FBC1A9B-7CAB-2F39-37A1-3437C5952570}"/>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5F0F9D07-088F-8408-D0C4-80E392AD710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82F71EE2-BFDB-D12A-EE37-FBF1A6E8EEE1}"/>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42BC290B-65BE-E6C5-4AA4-42F75E768FBC}"/>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221BC486-7BF9-4515-94CA-E975FDE663F4}"/>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531D3A8C-9365-8EEE-B4AD-2D901CA6E83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B89A9503-5F73-C861-B781-851F780AC844}"/>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881BE376-69A1-0D22-02C1-1375A6E1AF6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860435F5-01B8-B2A4-72F5-3B84A230E671}"/>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A95CE064-F98F-09D6-BE5E-9D8E7940E961}"/>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D9AD1CA5-2289-39EA-AD93-2C2BCA6898A8}"/>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E76D17F8-FB7A-7337-FB81-22C7D21D7E31}"/>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AB501498-E370-BC5B-BA58-6CF86AB80643}"/>
              </a:ext>
            </a:extLst>
          </p:cNvPr>
          <p:cNvSpPr txBox="1"/>
          <p:nvPr/>
        </p:nvSpPr>
        <p:spPr>
          <a:xfrm>
            <a:off x="1032147" y="2304443"/>
            <a:ext cx="16739291" cy="3791231"/>
          </a:xfrm>
          <a:prstGeom prst="rect">
            <a:avLst/>
          </a:prstGeom>
        </p:spPr>
        <p:txBody>
          <a:bodyPr wrap="square" lIns="0" tIns="0" rIns="0" bIns="0" rtlCol="0" anchor="t">
            <a:spAutoFit/>
          </a:bodyPr>
          <a:lstStyle/>
          <a:p>
            <a:pPr marL="0" lvl="0" indent="0">
              <a:lnSpc>
                <a:spcPct val="200000"/>
              </a:lnSpc>
              <a:spcBef>
                <a:spcPct val="0"/>
              </a:spcBef>
            </a:pPr>
            <a:r>
              <a:rPr lang="en-US" altLang="zh-CN" sz="3200" dirty="0">
                <a:solidFill>
                  <a:srgbClr val="100F0D"/>
                </a:solidFill>
                <a:latin typeface="思源黑体 2"/>
                <a:ea typeface="思源黑体 2"/>
                <a:cs typeface="思源黑体 2"/>
                <a:sym typeface="思源黑体 2"/>
              </a:rPr>
              <a:t>1.</a:t>
            </a:r>
            <a:r>
              <a:rPr lang="zh-CN" altLang="en-US" sz="3200" dirty="0">
                <a:solidFill>
                  <a:srgbClr val="100F0D"/>
                </a:solidFill>
                <a:latin typeface="思源黑体 2"/>
                <a:ea typeface="思源黑体 2"/>
                <a:cs typeface="思源黑体 2"/>
                <a:sym typeface="思源黑体 2"/>
              </a:rPr>
              <a:t>双路检索：向量语义检索（理解意思）</a:t>
            </a:r>
            <a:r>
              <a:rPr lang="en-US" altLang="zh-CN" sz="3200" dirty="0">
                <a:solidFill>
                  <a:srgbClr val="100F0D"/>
                </a:solidFill>
                <a:latin typeface="思源黑体 2"/>
                <a:ea typeface="思源黑体 2"/>
                <a:cs typeface="思源黑体 2"/>
                <a:sym typeface="思源黑体 2"/>
              </a:rPr>
              <a:t>+BM25</a:t>
            </a:r>
            <a:r>
              <a:rPr lang="zh-CN" altLang="en-US" sz="3200" dirty="0">
                <a:solidFill>
                  <a:srgbClr val="100F0D"/>
                </a:solidFill>
                <a:latin typeface="思源黑体 2"/>
                <a:ea typeface="思源黑体 2"/>
                <a:cs typeface="思源黑体 2"/>
                <a:sym typeface="思源黑体 2"/>
              </a:rPr>
              <a:t>关键词检索（精确匹配）</a:t>
            </a:r>
          </a:p>
          <a:p>
            <a:pPr marL="0" lvl="0" indent="0">
              <a:lnSpc>
                <a:spcPct val="200000"/>
              </a:lnSpc>
              <a:spcBef>
                <a:spcPct val="0"/>
              </a:spcBef>
            </a:pPr>
            <a:r>
              <a:rPr lang="en-US" altLang="zh-CN" sz="3200" dirty="0">
                <a:solidFill>
                  <a:srgbClr val="100F0D"/>
                </a:solidFill>
                <a:latin typeface="思源黑体 2"/>
                <a:ea typeface="思源黑体 2"/>
                <a:cs typeface="思源黑体 2"/>
                <a:sym typeface="思源黑体 2"/>
              </a:rPr>
              <a:t>2.RRF</a:t>
            </a:r>
            <a:r>
              <a:rPr lang="zh-CN" altLang="en-US" sz="3200" dirty="0">
                <a:solidFill>
                  <a:srgbClr val="100F0D"/>
                </a:solidFill>
                <a:latin typeface="思源黑体 2"/>
                <a:ea typeface="思源黑体 2"/>
                <a:cs typeface="思源黑体 2"/>
                <a:sym typeface="思源黑体 2"/>
              </a:rPr>
              <a:t>（倒数排名融合）算法：只依赖排名不依赖分数，天然跨尺度兼容</a:t>
            </a:r>
          </a:p>
          <a:p>
            <a:pPr marL="0" lvl="0" indent="0">
              <a:lnSpc>
                <a:spcPct val="200000"/>
              </a:lnSpc>
              <a:spcBef>
                <a:spcPct val="0"/>
              </a:spcBef>
            </a:pPr>
            <a:r>
              <a:rPr lang="en-US" altLang="zh-CN" sz="3200" dirty="0">
                <a:solidFill>
                  <a:srgbClr val="100F0D"/>
                </a:solidFill>
                <a:latin typeface="思源黑体 2"/>
                <a:ea typeface="思源黑体 2"/>
                <a:cs typeface="思源黑体 2"/>
                <a:sym typeface="思源黑体 2"/>
              </a:rPr>
              <a:t>3.CrossEncoder</a:t>
            </a:r>
            <a:r>
              <a:rPr lang="zh-CN" altLang="en-US" sz="3200" dirty="0">
                <a:solidFill>
                  <a:srgbClr val="100F0D"/>
                </a:solidFill>
                <a:latin typeface="思源黑体 2"/>
                <a:ea typeface="思源黑体 2"/>
                <a:cs typeface="思源黑体 2"/>
                <a:sym typeface="思源黑体 2"/>
              </a:rPr>
              <a:t>重排序：对</a:t>
            </a:r>
            <a:r>
              <a:rPr lang="en-US" altLang="zh-CN" sz="3200" dirty="0">
                <a:solidFill>
                  <a:srgbClr val="100F0D"/>
                </a:solidFill>
                <a:latin typeface="思源黑体 2"/>
                <a:ea typeface="思源黑体 2"/>
                <a:cs typeface="思源黑体 2"/>
                <a:sym typeface="思源黑体 2"/>
              </a:rPr>
              <a:t>Top-20</a:t>
            </a:r>
            <a:r>
              <a:rPr lang="zh-CN" altLang="en-US" sz="3200" dirty="0">
                <a:solidFill>
                  <a:srgbClr val="100F0D"/>
                </a:solidFill>
                <a:latin typeface="思源黑体 2"/>
                <a:ea typeface="思源黑体 2"/>
                <a:cs typeface="思源黑体 2"/>
                <a:sym typeface="思源黑体 2"/>
              </a:rPr>
              <a:t>候选精排取</a:t>
            </a:r>
            <a:r>
              <a:rPr lang="en-US" altLang="zh-CN" sz="3200" dirty="0">
                <a:solidFill>
                  <a:srgbClr val="100F0D"/>
                </a:solidFill>
                <a:latin typeface="思源黑体 2"/>
                <a:ea typeface="思源黑体 2"/>
                <a:cs typeface="思源黑体 2"/>
                <a:sym typeface="思源黑体 2"/>
              </a:rPr>
              <a:t>Top-5</a:t>
            </a:r>
          </a:p>
          <a:p>
            <a:pPr marL="0" lvl="0" indent="0">
              <a:lnSpc>
                <a:spcPct val="200000"/>
              </a:lnSpc>
              <a:spcBef>
                <a:spcPct val="0"/>
              </a:spcBef>
            </a:pPr>
            <a:r>
              <a:rPr lang="en-US" altLang="zh-CN" sz="3200" dirty="0">
                <a:solidFill>
                  <a:srgbClr val="100F0D"/>
                </a:solidFill>
                <a:latin typeface="思源黑体 2"/>
                <a:ea typeface="思源黑体 2"/>
                <a:cs typeface="思源黑体 2"/>
                <a:sym typeface="思源黑体 2"/>
              </a:rPr>
              <a:t>4.</a:t>
            </a:r>
            <a:r>
              <a:rPr lang="zh-CN" altLang="en-US" sz="3200" dirty="0">
                <a:solidFill>
                  <a:srgbClr val="100F0D"/>
                </a:solidFill>
                <a:latin typeface="思源黑体 2"/>
                <a:ea typeface="思源黑体 2"/>
                <a:cs typeface="思源黑体 2"/>
                <a:sym typeface="思源黑体 2"/>
              </a:rPr>
              <a:t>重排序模块支持降级：模型不可用时自动跳过</a:t>
            </a:r>
          </a:p>
        </p:txBody>
      </p:sp>
      <p:sp>
        <p:nvSpPr>
          <p:cNvPr id="30" name="TextBox 30">
            <a:extLst>
              <a:ext uri="{FF2B5EF4-FFF2-40B4-BE49-F238E27FC236}">
                <a16:creationId xmlns:a16="http://schemas.microsoft.com/office/drawing/2014/main" id="{8B8B36A8-E4A5-5B8F-07D6-B55B804A6568}"/>
              </a:ext>
            </a:extLst>
          </p:cNvPr>
          <p:cNvSpPr txBox="1"/>
          <p:nvPr/>
        </p:nvSpPr>
        <p:spPr>
          <a:xfrm>
            <a:off x="934017" y="182165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混合检索</a:t>
            </a:r>
            <a:r>
              <a:rPr lang="en-US" altLang="zh-CN" sz="3600" b="1" dirty="0">
                <a:solidFill>
                  <a:srgbClr val="1E1E1E"/>
                </a:solidFill>
                <a:latin typeface="思源黑体 2 Bold"/>
                <a:ea typeface="思源黑体 2 Bold"/>
                <a:cs typeface="思源黑体 2 Bold"/>
                <a:sym typeface="思源黑体 2 Bold"/>
              </a:rPr>
              <a:t>+RRF</a:t>
            </a:r>
            <a:r>
              <a:rPr lang="zh-CN" altLang="en-US" sz="3600" b="1" dirty="0">
                <a:solidFill>
                  <a:srgbClr val="1E1E1E"/>
                </a:solidFill>
                <a:latin typeface="思源黑体 2 Bold"/>
                <a:ea typeface="思源黑体 2 Bold"/>
                <a:cs typeface="思源黑体 2 Bold"/>
                <a:sym typeface="思源黑体 2 Bold"/>
              </a:rPr>
              <a:t>融合</a:t>
            </a:r>
            <a:r>
              <a:rPr lang="en-US" altLang="zh-CN" sz="3600" b="1" dirty="0">
                <a:solidFill>
                  <a:srgbClr val="1E1E1E"/>
                </a:solidFill>
                <a:latin typeface="思源黑体 2 Bold"/>
                <a:ea typeface="思源黑体 2 Bold"/>
                <a:cs typeface="思源黑体 2 Bold"/>
                <a:sym typeface="思源黑体 2 Bold"/>
              </a:rPr>
              <a:t>+</a:t>
            </a:r>
            <a:r>
              <a:rPr lang="zh-CN" altLang="en-US" sz="3600" b="1" dirty="0">
                <a:solidFill>
                  <a:srgbClr val="1E1E1E"/>
                </a:solidFill>
                <a:latin typeface="思源黑体 2 Bold"/>
                <a:ea typeface="思源黑体 2 Bold"/>
                <a:cs typeface="思源黑体 2 Bold"/>
                <a:sym typeface="思源黑体 2 Bold"/>
              </a:rPr>
              <a:t>重排序</a:t>
            </a:r>
            <a:endParaRPr lang="en-US" sz="3600" b="1" dirty="0">
              <a:solidFill>
                <a:srgbClr val="1E1E1E"/>
              </a:solidFill>
              <a:latin typeface="思源黑体 2 Bold"/>
              <a:ea typeface="思源黑体 2 Bold"/>
              <a:cs typeface="思源黑体 2 Bold"/>
              <a:sym typeface="思源黑体 2 Bold"/>
            </a:endParaRPr>
          </a:p>
        </p:txBody>
      </p:sp>
      <p:pic>
        <p:nvPicPr>
          <p:cNvPr id="22" name="图片 21">
            <a:extLst>
              <a:ext uri="{FF2B5EF4-FFF2-40B4-BE49-F238E27FC236}">
                <a16:creationId xmlns:a16="http://schemas.microsoft.com/office/drawing/2014/main" id="{C336C3DC-F624-9A57-E0A2-3F226B86D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11" y="6386349"/>
            <a:ext cx="15557121" cy="3791231"/>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7E001CE3-AF5B-E0B3-B43C-1F61E9981DDE}"/>
                  </a:ext>
                </a:extLst>
              </p:cNvPr>
              <p:cNvSpPr txBox="1"/>
              <p:nvPr/>
            </p:nvSpPr>
            <p:spPr>
              <a:xfrm>
                <a:off x="7300033" y="6975585"/>
                <a:ext cx="10592988" cy="1107996"/>
              </a:xfrm>
              <a:prstGeom prst="rect">
                <a:avLst/>
              </a:prstGeom>
              <a:noFill/>
            </p:spPr>
            <p:txBody>
              <a:bodyPr wrap="square" lIns="0" tIns="0" rIns="0" bIns="0" rtlCol="0">
                <a:spAutoFit/>
              </a:bodyPr>
              <a:lstStyle/>
              <a:p>
                <a:pPr/>
                <a14:m>
                  <m:oMathPara xmlns:m="http://schemas.openxmlformats.org/officeDocument/2006/math">
                    <m:oMath>
                      <m:r>
                        <m:rPr>
                          <m:sty m:val="p"/>
                        </m:rPr>
                        <a:rPr lang="en-US" altLang="zh-CN" sz="3600" i="0" smtClean="0">
                          <a:latin typeface="Cambria Math" panose="02040503050406030204" pitchFamily="18" charset="0"/>
                        </a:rPr>
                        <m:t>RRF</m:t>
                      </m:r>
                      <m:r>
                        <a:rPr lang="en-US" altLang="zh-CN" sz="3600" i="0" smtClean="0">
                          <a:latin typeface="Cambria Math" panose="02040503050406030204" pitchFamily="18" charset="0"/>
                        </a:rPr>
                        <m:t>_</m:t>
                      </m:r>
                      <m:r>
                        <m:rPr>
                          <m:sty m:val="p"/>
                        </m:rPr>
                        <a:rPr lang="en-US" altLang="zh-CN" sz="3600" i="0" smtClean="0">
                          <a:latin typeface="Cambria Math" panose="02040503050406030204" pitchFamily="18" charset="0"/>
                        </a:rPr>
                        <m:t>score</m:t>
                      </m:r>
                      <m:r>
                        <a:rPr lang="en-US" altLang="zh-CN" sz="3600" i="0" smtClean="0">
                          <a:latin typeface="Cambria Math" panose="02040503050406030204" pitchFamily="18" charset="0"/>
                        </a:rPr>
                        <m:t>(</m:t>
                      </m:r>
                      <m:r>
                        <m:rPr>
                          <m:sty m:val="p"/>
                        </m:rPr>
                        <a:rPr lang="en-US" altLang="zh-CN" sz="3600" i="0" smtClean="0">
                          <a:latin typeface="Cambria Math" panose="02040503050406030204" pitchFamily="18" charset="0"/>
                        </a:rPr>
                        <m:t>d</m:t>
                      </m:r>
                      <m:r>
                        <a:rPr lang="en-US" altLang="zh-CN" sz="3600" i="0" smtClean="0">
                          <a:latin typeface="Cambria Math" panose="02040503050406030204" pitchFamily="18" charset="0"/>
                        </a:rPr>
                        <m:t>)=</m:t>
                      </m:r>
                      <m:r>
                        <m:rPr>
                          <m:sty m:val="p"/>
                        </m:rPr>
                        <a:rPr lang="en-US" altLang="zh-CN" sz="3600" i="0" smtClean="0">
                          <a:latin typeface="Cambria Math" panose="02040503050406030204" pitchFamily="18" charset="0"/>
                        </a:rPr>
                        <m:t>Σ</m:t>
                      </m:r>
                      <m:r>
                        <a:rPr lang="en-US" altLang="zh-CN" sz="3600" i="0" smtClean="0">
                          <a:latin typeface="Cambria Math" panose="02040503050406030204" pitchFamily="18" charset="0"/>
                        </a:rPr>
                        <m:t>1/(</m:t>
                      </m:r>
                      <m:r>
                        <m:rPr>
                          <m:sty m:val="p"/>
                        </m:rPr>
                        <a:rPr lang="en-US" altLang="zh-CN" sz="3600" i="0" smtClean="0">
                          <a:latin typeface="Cambria Math" panose="02040503050406030204" pitchFamily="18" charset="0"/>
                        </a:rPr>
                        <m:t>k</m:t>
                      </m:r>
                      <m:r>
                        <a:rPr lang="en-US" altLang="zh-CN" sz="3600" i="0" smtClean="0">
                          <a:latin typeface="Cambria Math" panose="02040503050406030204" pitchFamily="18" charset="0"/>
                        </a:rPr>
                        <m:t>+</m:t>
                      </m:r>
                      <m:r>
                        <m:rPr>
                          <m:sty m:val="p"/>
                        </m:rPr>
                        <a:rPr lang="en-US" altLang="zh-CN" sz="3600" i="0" smtClean="0">
                          <a:latin typeface="Cambria Math" panose="02040503050406030204" pitchFamily="18" charset="0"/>
                        </a:rPr>
                        <m:t>rank</m:t>
                      </m:r>
                      <m:r>
                        <a:rPr lang="en-US" altLang="zh-CN" sz="3600" i="0" smtClean="0">
                          <a:latin typeface="Cambria Math" panose="02040503050406030204" pitchFamily="18" charset="0"/>
                        </a:rPr>
                        <m:t>_</m:t>
                      </m:r>
                      <m:r>
                        <m:rPr>
                          <m:sty m:val="p"/>
                        </m:rPr>
                        <a:rPr lang="en-US" altLang="zh-CN" sz="3600" i="0" smtClean="0">
                          <a:latin typeface="Cambria Math" panose="02040503050406030204" pitchFamily="18" charset="0"/>
                        </a:rPr>
                        <m:t>i</m:t>
                      </m:r>
                      <m:r>
                        <a:rPr lang="en-US" altLang="zh-CN" sz="3600" i="0" smtClean="0">
                          <a:latin typeface="Cambria Math" panose="02040503050406030204" pitchFamily="18" charset="0"/>
                        </a:rPr>
                        <m:t>(</m:t>
                      </m:r>
                      <m:r>
                        <m:rPr>
                          <m:sty m:val="p"/>
                        </m:rPr>
                        <a:rPr lang="en-US" altLang="zh-CN" sz="3600" i="0" smtClean="0">
                          <a:latin typeface="Cambria Math" panose="02040503050406030204" pitchFamily="18" charset="0"/>
                        </a:rPr>
                        <m:t>d</m:t>
                      </m:r>
                      <m:r>
                        <a:rPr lang="en-US" altLang="zh-CN" sz="3600" i="0" smtClean="0">
                          <a:latin typeface="Cambria Math" panose="02040503050406030204" pitchFamily="18" charset="0"/>
                        </a:rPr>
                        <m:t>))</m:t>
                      </m:r>
                      <m:r>
                        <m:rPr>
                          <m:sty m:val="p"/>
                        </m:rPr>
                        <a:rPr lang="en-US" altLang="zh-CN" sz="3600" i="0" smtClean="0">
                          <a:latin typeface="Cambria Math" panose="02040503050406030204" pitchFamily="18" charset="0"/>
                        </a:rPr>
                        <m:t>k</m:t>
                      </m:r>
                      <m:r>
                        <a:rPr lang="en-US" altLang="zh-CN" sz="3600" i="0" smtClean="0">
                          <a:latin typeface="Cambria Math" panose="02040503050406030204" pitchFamily="18" charset="0"/>
                        </a:rPr>
                        <m:t>=60</m:t>
                      </m:r>
                    </m:oMath>
                  </m:oMathPara>
                </a14:m>
                <a:endParaRPr lang="zh-CN" altLang="zh-CN" sz="3600" dirty="0"/>
              </a:p>
              <a:p>
                <a:endParaRPr lang="zh-CN" altLang="en-US" sz="3600" dirty="0"/>
              </a:p>
            </p:txBody>
          </p:sp>
        </mc:Choice>
        <mc:Fallback xmlns="">
          <p:sp>
            <p:nvSpPr>
              <p:cNvPr id="23" name="文本框 22">
                <a:extLst>
                  <a:ext uri="{FF2B5EF4-FFF2-40B4-BE49-F238E27FC236}">
                    <a16:creationId xmlns:a16="http://schemas.microsoft.com/office/drawing/2014/main" id="{7E001CE3-AF5B-E0B3-B43C-1F61E9981DDE}"/>
                  </a:ext>
                </a:extLst>
              </p:cNvPr>
              <p:cNvSpPr txBox="1">
                <a:spLocks noRot="1" noChangeAspect="1" noMove="1" noResize="1" noEditPoints="1" noAdjustHandles="1" noChangeArrowheads="1" noChangeShapeType="1" noTextEdit="1"/>
              </p:cNvSpPr>
              <p:nvPr/>
            </p:nvSpPr>
            <p:spPr>
              <a:xfrm>
                <a:off x="7300033" y="6975585"/>
                <a:ext cx="10592988" cy="110799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3770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9BEA-11F1-14D6-C0C1-D91EFAB1B7A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F7FAEA6-81D4-FC62-D4A1-24AE05774A87}"/>
              </a:ext>
            </a:extLst>
          </p:cNvPr>
          <p:cNvSpPr txBox="1"/>
          <p:nvPr/>
        </p:nvSpPr>
        <p:spPr>
          <a:xfrm>
            <a:off x="1221328" y="791367"/>
            <a:ext cx="6122248" cy="790575"/>
          </a:xfrm>
          <a:prstGeom prst="rect">
            <a:avLst/>
          </a:prstGeom>
        </p:spPr>
        <p:txBody>
          <a:bodyPr lIns="0" tIns="0" rIns="0" bIns="0" rtlCol="0" anchor="t">
            <a:spAutoFit/>
          </a:bodyPr>
          <a:lstStyle/>
          <a:p>
            <a:pPr>
              <a:lnSpc>
                <a:spcPts val="6239"/>
              </a:lnSpc>
            </a:pPr>
            <a:r>
              <a:rPr lang="zh-CN" altLang="en-US" sz="5199" b="1" dirty="0">
                <a:solidFill>
                  <a:srgbClr val="100F0D"/>
                </a:solidFill>
                <a:latin typeface="思源黑体 2 Heavy"/>
                <a:ea typeface="思源黑体 2 Heavy"/>
                <a:cs typeface="思源黑体 2 Heavy"/>
                <a:sym typeface="思源黑体 2 Heavy"/>
              </a:rPr>
              <a:t>生成层实现</a:t>
            </a:r>
            <a:endParaRPr lang="en-US" altLang="zh-CN" sz="5199" b="1" dirty="0">
              <a:solidFill>
                <a:srgbClr val="100F0D"/>
              </a:solidFill>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BBBD98B2-9AE5-3F8D-BF34-4B10AC230F15}"/>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393E0517-E80F-70DE-620C-7F683EF6BFE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D09CA473-8A28-BECA-05CE-687E940DF795}"/>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AA4D6E46-075C-D1D7-F8F3-A812302A7F31}"/>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EA58ED55-C093-47F1-BC55-914A87A63B4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A9F7C778-36AA-079A-D0ED-7358C41D7A78}"/>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82E8F227-D103-ABDF-A44D-130551C2FD4E}"/>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21F190FA-8C27-6FF6-B72B-D5BB7D77479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8DE4500F-4F1A-F652-CF50-93DA5039D6DA}"/>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AA72B773-3AD2-5507-79E2-9B6228508E0F}"/>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D8E9368D-2433-48AA-720E-1FE9B233906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52EDF2F8-3F1A-2EE6-0AB5-419C6F638D6F}"/>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F2CCDF71-C13A-5D3A-E8A9-01289F706DEA}"/>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92236003-D75C-3D8E-CC3F-D9018B4854E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E8106DDA-AE4A-32E5-8DF5-4CC76BBA937E}"/>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DE6E122A-14A0-A73D-3B13-B17DF381D24C}"/>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D6590F11-CDDB-CDF1-4929-F2C6A0757B61}"/>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80D3DE8E-700B-14AC-68B2-77EE7CB7324E}"/>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30" name="TextBox 30">
            <a:extLst>
              <a:ext uri="{FF2B5EF4-FFF2-40B4-BE49-F238E27FC236}">
                <a16:creationId xmlns:a16="http://schemas.microsoft.com/office/drawing/2014/main" id="{C4ADBE8B-25A0-81D8-8BE9-691EB9C5CF58}"/>
              </a:ext>
            </a:extLst>
          </p:cNvPr>
          <p:cNvSpPr txBox="1"/>
          <p:nvPr/>
        </p:nvSpPr>
        <p:spPr>
          <a:xfrm>
            <a:off x="934017" y="182165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en-US" altLang="zh-CN" sz="3600" b="1" dirty="0">
                <a:solidFill>
                  <a:srgbClr val="1E1E1E"/>
                </a:solidFill>
                <a:latin typeface="思源黑体 2 Bold"/>
                <a:ea typeface="思源黑体 2 Bold"/>
                <a:cs typeface="思源黑体 2 Bold"/>
                <a:sym typeface="思源黑体 2 Bold"/>
              </a:rPr>
              <a:t>RAG</a:t>
            </a:r>
            <a:r>
              <a:rPr lang="zh-CN" altLang="en-US" sz="3600" b="1" dirty="0">
                <a:solidFill>
                  <a:srgbClr val="1E1E1E"/>
                </a:solidFill>
                <a:latin typeface="思源黑体 2 Bold"/>
                <a:ea typeface="思源黑体 2 Bold"/>
                <a:cs typeface="思源黑体 2 Bold"/>
                <a:sym typeface="思源黑体 2 Bold"/>
              </a:rPr>
              <a:t>生成流水线与</a:t>
            </a:r>
            <a:r>
              <a:rPr lang="en-US" altLang="zh-CN" sz="3600" b="1" dirty="0">
                <a:solidFill>
                  <a:srgbClr val="1E1E1E"/>
                </a:solidFill>
                <a:latin typeface="思源黑体 2 Bold"/>
                <a:ea typeface="思源黑体 2 Bold"/>
                <a:cs typeface="思源黑体 2 Bold"/>
                <a:sym typeface="思源黑体 2 Bold"/>
              </a:rPr>
              <a:t>Prompt</a:t>
            </a:r>
            <a:r>
              <a:rPr lang="zh-CN" altLang="en-US" sz="3600" b="1" dirty="0">
                <a:solidFill>
                  <a:srgbClr val="1E1E1E"/>
                </a:solidFill>
                <a:latin typeface="思源黑体 2 Bold"/>
                <a:ea typeface="思源黑体 2 Bold"/>
                <a:cs typeface="思源黑体 2 Bold"/>
                <a:sym typeface="思源黑体 2 Bold"/>
              </a:rPr>
              <a:t>工程</a:t>
            </a:r>
            <a:endParaRPr lang="en-US" sz="3600" b="1" dirty="0">
              <a:solidFill>
                <a:srgbClr val="1E1E1E"/>
              </a:solidFill>
              <a:latin typeface="思源黑体 2 Bold"/>
              <a:ea typeface="思源黑体 2 Bold"/>
              <a:cs typeface="思源黑体 2 Bold"/>
              <a:sym typeface="思源黑体 2 Bold"/>
            </a:endParaRPr>
          </a:p>
        </p:txBody>
      </p:sp>
      <p:sp>
        <p:nvSpPr>
          <p:cNvPr id="22" name="TextBox 29">
            <a:extLst>
              <a:ext uri="{FF2B5EF4-FFF2-40B4-BE49-F238E27FC236}">
                <a16:creationId xmlns:a16="http://schemas.microsoft.com/office/drawing/2014/main" id="{183F4232-1B85-0FA1-32D7-E3417422AE52}"/>
              </a:ext>
            </a:extLst>
          </p:cNvPr>
          <p:cNvSpPr txBox="1"/>
          <p:nvPr/>
        </p:nvSpPr>
        <p:spPr>
          <a:xfrm>
            <a:off x="934017" y="2476500"/>
            <a:ext cx="14554200" cy="7386638"/>
          </a:xfrm>
          <a:prstGeom prst="rect">
            <a:avLst/>
          </a:prstGeom>
        </p:spPr>
        <p:txBody>
          <a:bodyPr wrap="square" lIns="0" tIns="0" rIns="0" bIns="0" rtlCol="0" anchor="t">
            <a:spAutoFit/>
          </a:bodyPr>
          <a:lstStyle/>
          <a:p>
            <a:pPr marL="0" lvl="0" indent="0">
              <a:spcBef>
                <a:spcPct val="0"/>
              </a:spcBef>
            </a:pPr>
            <a:r>
              <a:rPr lang="en-US" altLang="zh-CN" sz="3200" dirty="0">
                <a:solidFill>
                  <a:srgbClr val="100F0D"/>
                </a:solidFill>
                <a:latin typeface="思源黑体 2"/>
                <a:ea typeface="思源黑体 2"/>
                <a:cs typeface="思源黑体 2"/>
                <a:sym typeface="思源黑体 2"/>
              </a:rPr>
              <a:t>1.Prompt </a:t>
            </a:r>
            <a:r>
              <a:rPr lang="zh-CN" altLang="en-US" sz="3200" dirty="0">
                <a:solidFill>
                  <a:srgbClr val="100F0D"/>
                </a:solidFill>
                <a:latin typeface="思源黑体 2"/>
                <a:ea typeface="思源黑体 2"/>
                <a:cs typeface="思源黑体 2"/>
                <a:sym typeface="思源黑体 2"/>
              </a:rPr>
              <a:t>设计</a:t>
            </a:r>
            <a:r>
              <a:rPr lang="en-US" altLang="zh-CN" sz="3200" dirty="0">
                <a:solidFill>
                  <a:srgbClr val="100F0D"/>
                </a:solidFill>
                <a:latin typeface="思源黑体 2"/>
                <a:ea typeface="思源黑体 2"/>
                <a:cs typeface="思源黑体 2"/>
                <a:sym typeface="思源黑体 2"/>
              </a:rPr>
              <a:t>5</a:t>
            </a:r>
            <a:r>
              <a:rPr lang="zh-CN" altLang="en-US" sz="3200" dirty="0">
                <a:solidFill>
                  <a:srgbClr val="100F0D"/>
                </a:solidFill>
                <a:latin typeface="思源黑体 2"/>
                <a:ea typeface="思源黑体 2"/>
                <a:cs typeface="思源黑体 2"/>
                <a:sym typeface="思源黑体 2"/>
              </a:rPr>
              <a:t>次迭代：从简单指令到</a:t>
            </a:r>
            <a:r>
              <a:rPr lang="en-US" altLang="zh-CN" sz="3200" dirty="0">
                <a:solidFill>
                  <a:srgbClr val="100F0D"/>
                </a:solidFill>
                <a:latin typeface="思源黑体 2"/>
                <a:ea typeface="思源黑体 2"/>
                <a:cs typeface="思源黑体 2"/>
                <a:sym typeface="思源黑体 2"/>
              </a:rPr>
              <a:t>Few-shot + </a:t>
            </a:r>
            <a:r>
              <a:rPr lang="zh-CN" altLang="en-US" sz="3200" dirty="0">
                <a:solidFill>
                  <a:srgbClr val="100F0D"/>
                </a:solidFill>
                <a:latin typeface="思源黑体 2"/>
                <a:ea typeface="思源黑体 2"/>
                <a:cs typeface="思源黑体 2"/>
                <a:sym typeface="思源黑体 2"/>
              </a:rPr>
              <a:t>引用格式约束</a:t>
            </a:r>
          </a:p>
          <a:p>
            <a:pPr marL="0" lvl="0" indent="0">
              <a:spcBef>
                <a:spcPct val="0"/>
              </a:spcBef>
            </a:pPr>
            <a:r>
              <a:rPr lang="en-US" altLang="zh-CN" sz="3200" dirty="0">
                <a:solidFill>
                  <a:srgbClr val="100F0D"/>
                </a:solidFill>
                <a:latin typeface="思源黑体 2"/>
                <a:ea typeface="思源黑体 2"/>
                <a:cs typeface="思源黑体 2"/>
                <a:sym typeface="思源黑体 2"/>
              </a:rPr>
              <a:t>2.</a:t>
            </a:r>
            <a:r>
              <a:rPr lang="zh-CN" altLang="en-US" sz="3200" dirty="0">
                <a:solidFill>
                  <a:srgbClr val="100F0D"/>
                </a:solidFill>
                <a:latin typeface="思源黑体 2"/>
                <a:ea typeface="思源黑体 2"/>
                <a:cs typeface="思源黑体 2"/>
                <a:sym typeface="思源黑体 2"/>
              </a:rPr>
              <a:t>核心规则：严格基于参考文献回答 </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引用标注 </a:t>
            </a:r>
            <a:r>
              <a:rPr lang="en-US" altLang="zh-CN" sz="3200" dirty="0">
                <a:solidFill>
                  <a:srgbClr val="100F0D"/>
                </a:solidFill>
                <a:latin typeface="思源黑体 2"/>
                <a:ea typeface="思源黑体 2"/>
                <a:cs typeface="思源黑体 2"/>
                <a:sym typeface="思源黑体 2"/>
              </a:rPr>
              <a:t>[</a:t>
            </a:r>
            <a:r>
              <a:rPr lang="zh-CN" altLang="en-US" sz="3200" dirty="0">
                <a:solidFill>
                  <a:srgbClr val="100F0D"/>
                </a:solidFill>
                <a:latin typeface="思源黑体 2"/>
                <a:ea typeface="思源黑体 2"/>
                <a:cs typeface="思源黑体 2"/>
                <a:sym typeface="思源黑体 2"/>
              </a:rPr>
              <a:t>来源</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文档名</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第</a:t>
            </a:r>
            <a:r>
              <a:rPr lang="en-US" altLang="zh-CN" sz="3200" dirty="0">
                <a:solidFill>
                  <a:srgbClr val="100F0D"/>
                </a:solidFill>
                <a:latin typeface="思源黑体 2"/>
                <a:ea typeface="思源黑体 2"/>
                <a:cs typeface="思源黑体 2"/>
                <a:sym typeface="思源黑体 2"/>
              </a:rPr>
              <a:t>X</a:t>
            </a:r>
            <a:r>
              <a:rPr lang="zh-CN" altLang="en-US" sz="3200" dirty="0">
                <a:solidFill>
                  <a:srgbClr val="100F0D"/>
                </a:solidFill>
                <a:latin typeface="思源黑体 2"/>
                <a:ea typeface="思源黑体 2"/>
                <a:cs typeface="思源黑体 2"/>
                <a:sym typeface="思源黑体 2"/>
              </a:rPr>
              <a:t>页</a:t>
            </a:r>
            <a:r>
              <a:rPr lang="en-US" altLang="zh-CN" sz="3200" dirty="0">
                <a:solidFill>
                  <a:srgbClr val="100F0D"/>
                </a:solidFill>
                <a:latin typeface="思源黑体 2"/>
                <a:ea typeface="思源黑体 2"/>
                <a:cs typeface="思源黑体 2"/>
                <a:sym typeface="思源黑体 2"/>
              </a:rPr>
              <a:t>]</a:t>
            </a:r>
          </a:p>
          <a:p>
            <a:pPr marL="0" lvl="0" indent="0">
              <a:spcBef>
                <a:spcPct val="0"/>
              </a:spcBef>
            </a:pPr>
            <a:r>
              <a:rPr lang="en-US" altLang="zh-CN" sz="3200" dirty="0">
                <a:solidFill>
                  <a:srgbClr val="100F0D"/>
                </a:solidFill>
                <a:latin typeface="思源黑体 2"/>
                <a:ea typeface="思源黑体 2"/>
                <a:cs typeface="思源黑体 2"/>
                <a:sym typeface="思源黑体 2"/>
              </a:rPr>
              <a:t>3.</a:t>
            </a:r>
            <a:r>
              <a:rPr lang="zh-CN" altLang="en-US" sz="3200" dirty="0">
                <a:solidFill>
                  <a:srgbClr val="100F0D"/>
                </a:solidFill>
                <a:latin typeface="思源黑体 2"/>
                <a:ea typeface="思源黑体 2"/>
                <a:cs typeface="思源黑体 2"/>
                <a:sym typeface="思源黑体 2"/>
              </a:rPr>
              <a:t>语义缓存：</a:t>
            </a:r>
            <a:r>
              <a:rPr lang="en-US" altLang="zh-CN" sz="3200" dirty="0">
                <a:solidFill>
                  <a:srgbClr val="100F0D"/>
                </a:solidFill>
                <a:latin typeface="思源黑体 2"/>
                <a:ea typeface="思源黑体 2"/>
                <a:cs typeface="思源黑体 2"/>
                <a:sym typeface="思源黑体 2"/>
              </a:rPr>
              <a:t>Embedding</a:t>
            </a:r>
            <a:r>
              <a:rPr lang="zh-CN" altLang="en-US" sz="3200" dirty="0">
                <a:solidFill>
                  <a:srgbClr val="100F0D"/>
                </a:solidFill>
                <a:latin typeface="思源黑体 2"/>
                <a:ea typeface="思源黑体 2"/>
                <a:cs typeface="思源黑体 2"/>
                <a:sym typeface="思源黑体 2"/>
              </a:rPr>
              <a:t>相似度 </a:t>
            </a:r>
            <a:r>
              <a:rPr lang="en-US" altLang="zh-CN" sz="3200" dirty="0">
                <a:solidFill>
                  <a:srgbClr val="100F0D"/>
                </a:solidFill>
                <a:latin typeface="思源黑体 2"/>
                <a:ea typeface="思源黑体 2"/>
                <a:cs typeface="思源黑体 2"/>
                <a:sym typeface="思源黑体 2"/>
              </a:rPr>
              <a:t>&gt; 0.95 </a:t>
            </a:r>
            <a:r>
              <a:rPr lang="zh-CN" altLang="en-US" sz="3200" dirty="0">
                <a:solidFill>
                  <a:srgbClr val="100F0D"/>
                </a:solidFill>
                <a:latin typeface="思源黑体 2"/>
                <a:ea typeface="思源黑体 2"/>
                <a:cs typeface="思源黑体 2"/>
                <a:sym typeface="思源黑体 2"/>
              </a:rPr>
              <a:t>时命中缓存，跳过大模型调用（响应从数十秒→毫秒级）</a:t>
            </a:r>
          </a:p>
          <a:p>
            <a:pPr marL="0" lvl="0" indent="0">
              <a:spcBef>
                <a:spcPct val="0"/>
              </a:spcBef>
            </a:pPr>
            <a:r>
              <a:rPr lang="en-US" altLang="zh-CN" sz="3200" dirty="0">
                <a:solidFill>
                  <a:srgbClr val="100F0D"/>
                </a:solidFill>
                <a:latin typeface="思源黑体 2"/>
                <a:ea typeface="思源黑体 2"/>
                <a:cs typeface="思源黑体 2"/>
                <a:sym typeface="思源黑体 2"/>
              </a:rPr>
              <a:t>4.</a:t>
            </a:r>
            <a:r>
              <a:rPr lang="zh-CN" altLang="en-US" sz="3200" dirty="0">
                <a:solidFill>
                  <a:srgbClr val="100F0D"/>
                </a:solidFill>
                <a:latin typeface="思源黑体 2"/>
                <a:ea typeface="思源黑体 2"/>
                <a:cs typeface="思源黑体 2"/>
                <a:sym typeface="思源黑体 2"/>
              </a:rPr>
              <a:t>降级策略三级兜底：</a:t>
            </a:r>
          </a:p>
          <a:p>
            <a:pPr lvl="1">
              <a:spcBef>
                <a:spcPct val="0"/>
              </a:spcBef>
            </a:pPr>
            <a:r>
              <a:rPr lang="zh-CN" altLang="en-US" sz="3200" dirty="0">
                <a:solidFill>
                  <a:srgbClr val="100F0D"/>
                </a:solidFill>
                <a:latin typeface="思源黑体 2"/>
                <a:ea typeface="思源黑体 2"/>
                <a:cs typeface="思源黑体 2"/>
                <a:sym typeface="思源黑体 2"/>
              </a:rPr>
              <a:t>检索无结果 → 返回友好提示</a:t>
            </a:r>
            <a:r>
              <a:rPr lang="en-US" altLang="zh-CN" sz="3200" dirty="0">
                <a:solidFill>
                  <a:srgbClr val="100F0D"/>
                </a:solidFill>
                <a:latin typeface="思源黑体 2"/>
                <a:ea typeface="思源黑体 2"/>
                <a:cs typeface="思源黑体 2"/>
                <a:sym typeface="思源黑体 2"/>
              </a:rPr>
              <a:t>"</a:t>
            </a:r>
            <a:r>
              <a:rPr lang="zh-CN" altLang="en-US" sz="3200" dirty="0">
                <a:solidFill>
                  <a:srgbClr val="100F0D"/>
                </a:solidFill>
                <a:latin typeface="思源黑体 2"/>
                <a:ea typeface="思源黑体 2"/>
                <a:cs typeface="思源黑体 2"/>
                <a:sym typeface="思源黑体 2"/>
              </a:rPr>
              <a:t>未找到相关文档</a:t>
            </a:r>
            <a:r>
              <a:rPr lang="en-US" altLang="zh-CN" sz="3200" dirty="0">
                <a:solidFill>
                  <a:srgbClr val="100F0D"/>
                </a:solidFill>
                <a:latin typeface="思源黑体 2"/>
                <a:ea typeface="思源黑体 2"/>
                <a:cs typeface="思源黑体 2"/>
                <a:sym typeface="思源黑体 2"/>
              </a:rPr>
              <a:t>"</a:t>
            </a:r>
          </a:p>
          <a:p>
            <a:pPr lvl="1">
              <a:spcBef>
                <a:spcPct val="0"/>
              </a:spcBef>
            </a:pPr>
            <a:r>
              <a:rPr lang="zh-CN" altLang="en-US" sz="3200" dirty="0">
                <a:solidFill>
                  <a:srgbClr val="100F0D"/>
                </a:solidFill>
                <a:latin typeface="思源黑体 2"/>
                <a:ea typeface="思源黑体 2"/>
                <a:cs typeface="思源黑体 2"/>
                <a:sym typeface="思源黑体 2"/>
              </a:rPr>
              <a:t>检索相关性低 → 展示检索内容供用户确认</a:t>
            </a:r>
          </a:p>
          <a:p>
            <a:pPr lvl="1">
              <a:spcBef>
                <a:spcPct val="0"/>
              </a:spcBef>
            </a:pPr>
            <a:r>
              <a:rPr lang="en-US" altLang="zh-CN" sz="3200" dirty="0">
                <a:solidFill>
                  <a:srgbClr val="100F0D"/>
                </a:solidFill>
                <a:latin typeface="思源黑体 2"/>
                <a:ea typeface="思源黑体 2"/>
                <a:cs typeface="思源黑体 2"/>
                <a:sym typeface="思源黑体 2"/>
              </a:rPr>
              <a:t>API</a:t>
            </a:r>
            <a:r>
              <a:rPr lang="zh-CN" altLang="en-US" sz="3200" dirty="0">
                <a:solidFill>
                  <a:srgbClr val="100F0D"/>
                </a:solidFill>
                <a:latin typeface="思源黑体 2"/>
                <a:ea typeface="思源黑体 2"/>
                <a:cs typeface="思源黑体 2"/>
                <a:sym typeface="思源黑体 2"/>
              </a:rPr>
              <a:t>调用失败 → 返回错误提示 </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展示检索到的原文供直接阅读</a:t>
            </a:r>
          </a:p>
          <a:p>
            <a:pPr marL="0" lvl="0" indent="0">
              <a:spcBef>
                <a:spcPct val="0"/>
              </a:spcBef>
            </a:pPr>
            <a:r>
              <a:rPr lang="en-US" altLang="zh-CN" sz="3200" dirty="0">
                <a:solidFill>
                  <a:srgbClr val="100F0D"/>
                </a:solidFill>
                <a:latin typeface="思源黑体 2"/>
                <a:ea typeface="思源黑体 2"/>
                <a:cs typeface="思源黑体 2"/>
                <a:sym typeface="思源黑体 2"/>
              </a:rPr>
              <a:t>5.</a:t>
            </a:r>
            <a:r>
              <a:rPr lang="zh-CN" altLang="en-US" sz="3200" dirty="0">
                <a:solidFill>
                  <a:srgbClr val="100F0D"/>
                </a:solidFill>
                <a:latin typeface="思源黑体 2"/>
                <a:ea typeface="思源黑体 2"/>
                <a:cs typeface="思源黑体 2"/>
                <a:sym typeface="思源黑体 2"/>
              </a:rPr>
              <a:t>流式输出（</a:t>
            </a:r>
            <a:r>
              <a:rPr lang="en-US" altLang="zh-CN" sz="3200" dirty="0">
                <a:solidFill>
                  <a:srgbClr val="100F0D"/>
                </a:solidFill>
                <a:latin typeface="思源黑体 2"/>
                <a:ea typeface="思源黑体 2"/>
                <a:cs typeface="思源黑体 2"/>
                <a:sym typeface="思源黑体 2"/>
              </a:rPr>
              <a:t>SSE</a:t>
            </a:r>
            <a:r>
              <a:rPr lang="zh-CN" altLang="en-US" sz="3200" dirty="0">
                <a:solidFill>
                  <a:srgbClr val="100F0D"/>
                </a:solidFill>
                <a:latin typeface="思源黑体 2"/>
                <a:ea typeface="思源黑体 2"/>
                <a:cs typeface="思源黑体 2"/>
                <a:sym typeface="思源黑体 2"/>
              </a:rPr>
              <a:t>）：</a:t>
            </a:r>
            <a:r>
              <a:rPr lang="en-US" altLang="zh-CN" sz="3200" dirty="0">
                <a:solidFill>
                  <a:srgbClr val="100F0D"/>
                </a:solidFill>
                <a:latin typeface="思源黑体 2"/>
                <a:ea typeface="思源黑体 2"/>
                <a:cs typeface="思源黑体 2"/>
                <a:sym typeface="思源黑体 2"/>
              </a:rPr>
              <a:t>5</a:t>
            </a:r>
            <a:r>
              <a:rPr lang="zh-CN" altLang="en-US" sz="3200" dirty="0">
                <a:solidFill>
                  <a:srgbClr val="100F0D"/>
                </a:solidFill>
                <a:latin typeface="思源黑体 2"/>
                <a:ea typeface="思源黑体 2"/>
                <a:cs typeface="思源黑体 2"/>
                <a:sym typeface="思源黑体 2"/>
              </a:rPr>
              <a:t>种事件类型实时推送</a:t>
            </a:r>
          </a:p>
          <a:p>
            <a:pPr lvl="1">
              <a:spcBef>
                <a:spcPct val="0"/>
              </a:spcBef>
            </a:pPr>
            <a:r>
              <a:rPr lang="en-US" altLang="zh-CN" sz="3200" dirty="0">
                <a:solidFill>
                  <a:srgbClr val="100F0D"/>
                </a:solidFill>
                <a:latin typeface="思源黑体 2"/>
                <a:ea typeface="思源黑体 2"/>
                <a:cs typeface="思源黑体 2"/>
                <a:sym typeface="思源黑体 2"/>
              </a:rPr>
              <a:t>thinking</a:t>
            </a:r>
            <a:r>
              <a:rPr lang="zh-CN" altLang="en-US" sz="3200" dirty="0">
                <a:solidFill>
                  <a:srgbClr val="100F0D"/>
                </a:solidFill>
                <a:latin typeface="思源黑体 2"/>
                <a:ea typeface="思源黑体 2"/>
                <a:cs typeface="思源黑体 2"/>
                <a:sym typeface="思源黑体 2"/>
              </a:rPr>
              <a:t>（检索状态）→ </a:t>
            </a:r>
            <a:r>
              <a:rPr lang="en-US" altLang="zh-CN" sz="3200" dirty="0">
                <a:solidFill>
                  <a:srgbClr val="100F0D"/>
                </a:solidFill>
                <a:latin typeface="思源黑体 2"/>
                <a:ea typeface="思源黑体 2"/>
                <a:cs typeface="思源黑体 2"/>
                <a:sym typeface="思源黑体 2"/>
              </a:rPr>
              <a:t>reference</a:t>
            </a:r>
            <a:r>
              <a:rPr lang="zh-CN" altLang="en-US" sz="3200" dirty="0">
                <a:solidFill>
                  <a:srgbClr val="100F0D"/>
                </a:solidFill>
                <a:latin typeface="思源黑体 2"/>
                <a:ea typeface="思源黑体 2"/>
                <a:cs typeface="思源黑体 2"/>
                <a:sym typeface="思源黑体 2"/>
              </a:rPr>
              <a:t>（引用来源）→ </a:t>
            </a:r>
            <a:r>
              <a:rPr lang="en-US" altLang="zh-CN" sz="3200" dirty="0">
                <a:solidFill>
                  <a:srgbClr val="100F0D"/>
                </a:solidFill>
                <a:latin typeface="思源黑体 2"/>
                <a:ea typeface="思源黑体 2"/>
                <a:cs typeface="思源黑体 2"/>
                <a:sym typeface="思源黑体 2"/>
              </a:rPr>
              <a:t>chunk</a:t>
            </a:r>
            <a:r>
              <a:rPr lang="zh-CN" altLang="en-US" sz="3200" dirty="0">
                <a:solidFill>
                  <a:srgbClr val="100F0D"/>
                </a:solidFill>
                <a:latin typeface="思源黑体 2"/>
                <a:ea typeface="思源黑体 2"/>
                <a:cs typeface="思源黑体 2"/>
                <a:sym typeface="思源黑体 2"/>
              </a:rPr>
              <a:t>（逐字输出）→ </a:t>
            </a:r>
            <a:r>
              <a:rPr lang="en-US" altLang="zh-CN" sz="3200" dirty="0">
                <a:solidFill>
                  <a:srgbClr val="100F0D"/>
                </a:solidFill>
                <a:latin typeface="思源黑体 2"/>
                <a:ea typeface="思源黑体 2"/>
                <a:cs typeface="思源黑体 2"/>
                <a:sym typeface="思源黑体 2"/>
              </a:rPr>
              <a:t>done</a:t>
            </a:r>
            <a:r>
              <a:rPr lang="zh-CN" altLang="en-US" sz="3200" dirty="0">
                <a:solidFill>
                  <a:srgbClr val="100F0D"/>
                </a:solidFill>
                <a:latin typeface="思源黑体 2"/>
                <a:ea typeface="思源黑体 2"/>
                <a:cs typeface="思源黑体 2"/>
                <a:sym typeface="思源黑体 2"/>
              </a:rPr>
              <a:t>（完成）→ </a:t>
            </a:r>
            <a:r>
              <a:rPr lang="en-US" altLang="zh-CN" sz="3200" dirty="0">
                <a:solidFill>
                  <a:srgbClr val="100F0D"/>
                </a:solidFill>
                <a:latin typeface="思源黑体 2"/>
                <a:ea typeface="思源黑体 2"/>
                <a:cs typeface="思源黑体 2"/>
                <a:sym typeface="思源黑体 2"/>
              </a:rPr>
              <a:t>error</a:t>
            </a:r>
            <a:r>
              <a:rPr lang="zh-CN" altLang="en-US" sz="3200" dirty="0">
                <a:solidFill>
                  <a:srgbClr val="100F0D"/>
                </a:solidFill>
                <a:latin typeface="思源黑体 2"/>
                <a:ea typeface="思源黑体 2"/>
                <a:cs typeface="思源黑体 2"/>
                <a:sym typeface="思源黑体 2"/>
              </a:rPr>
              <a:t>（异常）</a:t>
            </a:r>
          </a:p>
          <a:p>
            <a:pPr marL="0" lvl="0" indent="0">
              <a:spcBef>
                <a:spcPct val="0"/>
              </a:spcBef>
            </a:pPr>
            <a:r>
              <a:rPr lang="en-US" altLang="zh-CN" sz="3200" dirty="0">
                <a:solidFill>
                  <a:srgbClr val="100F0D"/>
                </a:solidFill>
                <a:latin typeface="思源黑体 2"/>
                <a:ea typeface="思源黑体 2"/>
                <a:cs typeface="思源黑体 2"/>
                <a:sym typeface="思源黑体 2"/>
              </a:rPr>
              <a:t>6.</a:t>
            </a:r>
            <a:r>
              <a:rPr lang="zh-CN" altLang="en-US" sz="3200" dirty="0">
                <a:solidFill>
                  <a:srgbClr val="100F0D"/>
                </a:solidFill>
                <a:latin typeface="思源黑体 2"/>
                <a:ea typeface="思源黑体 2"/>
                <a:cs typeface="思源黑体 2"/>
                <a:sym typeface="思源黑体 2"/>
              </a:rPr>
              <a:t>日志与可观测性：</a:t>
            </a:r>
          </a:p>
          <a:p>
            <a:pPr lvl="1">
              <a:spcBef>
                <a:spcPct val="0"/>
              </a:spcBef>
            </a:pPr>
            <a:r>
              <a:rPr lang="en-US" altLang="zh-CN" sz="3200" dirty="0" err="1">
                <a:solidFill>
                  <a:srgbClr val="100F0D"/>
                </a:solidFill>
                <a:latin typeface="思源黑体 2"/>
                <a:ea typeface="思源黑体 2"/>
                <a:cs typeface="思源黑体 2"/>
                <a:sym typeface="思源黑体 2"/>
              </a:rPr>
              <a:t>loguru</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双输出：控制台实时日志 </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文件持久化（自动轮转）</a:t>
            </a:r>
          </a:p>
          <a:p>
            <a:pPr lvl="1">
              <a:spcBef>
                <a:spcPct val="0"/>
              </a:spcBef>
            </a:pPr>
            <a:r>
              <a:rPr lang="zh-CN" altLang="en-US" sz="3200" dirty="0">
                <a:solidFill>
                  <a:srgbClr val="100F0D"/>
                </a:solidFill>
                <a:latin typeface="思源黑体 2"/>
                <a:ea typeface="思源黑体 2"/>
                <a:cs typeface="思源黑体 2"/>
                <a:sym typeface="思源黑体 2"/>
              </a:rPr>
              <a:t>每次请求记录：用户问题、</a:t>
            </a:r>
            <a:r>
              <a:rPr lang="en-US" altLang="zh-CN" sz="3200" dirty="0">
                <a:solidFill>
                  <a:srgbClr val="100F0D"/>
                </a:solidFill>
                <a:latin typeface="思源黑体 2"/>
                <a:ea typeface="思源黑体 2"/>
                <a:cs typeface="思源黑体 2"/>
                <a:sym typeface="思源黑体 2"/>
              </a:rPr>
              <a:t>Top-K</a:t>
            </a:r>
            <a:r>
              <a:rPr lang="zh-CN" altLang="en-US" sz="3200" dirty="0">
                <a:solidFill>
                  <a:srgbClr val="100F0D"/>
                </a:solidFill>
                <a:latin typeface="思源黑体 2"/>
                <a:ea typeface="思源黑体 2"/>
                <a:cs typeface="思源黑体 2"/>
                <a:sym typeface="思源黑体 2"/>
              </a:rPr>
              <a:t>检索结果、回答内容、响应耗时、</a:t>
            </a:r>
            <a:r>
              <a:rPr lang="en-US" altLang="zh-CN" sz="3200" dirty="0">
                <a:solidFill>
                  <a:srgbClr val="100F0D"/>
                </a:solidFill>
                <a:latin typeface="思源黑体 2"/>
                <a:ea typeface="思源黑体 2"/>
                <a:cs typeface="思源黑体 2"/>
                <a:sym typeface="思源黑体 2"/>
              </a:rPr>
              <a:t>Token</a:t>
            </a:r>
            <a:r>
              <a:rPr lang="zh-CN" altLang="en-US" sz="3200" dirty="0">
                <a:solidFill>
                  <a:srgbClr val="100F0D"/>
                </a:solidFill>
                <a:latin typeface="思源黑体 2"/>
                <a:ea typeface="思源黑体 2"/>
                <a:cs typeface="思源黑体 2"/>
                <a:sym typeface="思源黑体 2"/>
              </a:rPr>
              <a:t>消耗</a:t>
            </a:r>
          </a:p>
          <a:p>
            <a:pPr lvl="1">
              <a:spcBef>
                <a:spcPct val="0"/>
              </a:spcBef>
            </a:pPr>
            <a:r>
              <a:rPr lang="zh-CN" altLang="en-US" sz="3200" dirty="0">
                <a:solidFill>
                  <a:srgbClr val="100F0D"/>
                </a:solidFill>
                <a:latin typeface="思源黑体 2"/>
                <a:ea typeface="思源黑体 2"/>
                <a:cs typeface="思源黑体 2"/>
                <a:sym typeface="思源黑体 2"/>
              </a:rPr>
              <a:t>检索质量自评：记录</a:t>
            </a:r>
            <a:r>
              <a:rPr lang="en-US" altLang="zh-CN" sz="3200" dirty="0">
                <a:solidFill>
                  <a:srgbClr val="100F0D"/>
                </a:solidFill>
                <a:latin typeface="思源黑体 2"/>
                <a:ea typeface="思源黑体 2"/>
                <a:cs typeface="思源黑体 2"/>
                <a:sym typeface="思源黑体 2"/>
              </a:rPr>
              <a:t>Top-1</a:t>
            </a:r>
            <a:r>
              <a:rPr lang="zh-CN" altLang="en-US" sz="3200" dirty="0">
                <a:solidFill>
                  <a:srgbClr val="100F0D"/>
                </a:solidFill>
                <a:latin typeface="思源黑体 2"/>
                <a:ea typeface="思源黑体 2"/>
                <a:cs typeface="思源黑体 2"/>
                <a:sym typeface="思源黑体 2"/>
              </a:rPr>
              <a:t>置信度分数分布</a:t>
            </a:r>
          </a:p>
        </p:txBody>
      </p:sp>
    </p:spTree>
    <p:extLst>
      <p:ext uri="{BB962C8B-B14F-4D97-AF65-F5344CB8AC3E}">
        <p14:creationId xmlns:p14="http://schemas.microsoft.com/office/powerpoint/2010/main" val="665812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678F-997E-02C1-7E86-BE41FD623CEF}"/>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591EECDF-DB1D-45AC-2130-E105E7212A13}"/>
              </a:ext>
            </a:extLst>
          </p:cNvPr>
          <p:cNvPicPr>
            <a:picLocks noChangeAspect="1"/>
          </p:cNvPicPr>
          <p:nvPr/>
        </p:nvPicPr>
        <p:blipFill>
          <a:blip r:embed="rId2"/>
          <a:stretch>
            <a:fillRect/>
          </a:stretch>
        </p:blipFill>
        <p:spPr>
          <a:xfrm>
            <a:off x="735605" y="2342366"/>
            <a:ext cx="14910602" cy="7773640"/>
          </a:xfrm>
          <a:prstGeom prst="rect">
            <a:avLst/>
          </a:prstGeom>
        </p:spPr>
      </p:pic>
      <p:sp>
        <p:nvSpPr>
          <p:cNvPr id="2" name="TextBox 2">
            <a:extLst>
              <a:ext uri="{FF2B5EF4-FFF2-40B4-BE49-F238E27FC236}">
                <a16:creationId xmlns:a16="http://schemas.microsoft.com/office/drawing/2014/main" id="{E0C064BA-2039-DF40-8E8C-719A24AEEB29}"/>
              </a:ext>
            </a:extLst>
          </p:cNvPr>
          <p:cNvSpPr txBox="1"/>
          <p:nvPr/>
        </p:nvSpPr>
        <p:spPr>
          <a:xfrm>
            <a:off x="1221328" y="791367"/>
            <a:ext cx="6122248" cy="790575"/>
          </a:xfrm>
          <a:prstGeom prst="rect">
            <a:avLst/>
          </a:prstGeom>
        </p:spPr>
        <p:txBody>
          <a:bodyPr lIns="0" tIns="0" rIns="0" bIns="0" rtlCol="0" anchor="t">
            <a:spAutoFit/>
          </a:bodyPr>
          <a:lstStyle/>
          <a:p>
            <a:pPr>
              <a:lnSpc>
                <a:spcPts val="6239"/>
              </a:lnSpc>
            </a:pPr>
            <a:r>
              <a:rPr lang="zh-CN" altLang="en-US" sz="5199" b="1" dirty="0">
                <a:solidFill>
                  <a:srgbClr val="100F0D"/>
                </a:solidFill>
                <a:latin typeface="思源黑体 2 Heavy"/>
                <a:ea typeface="思源黑体 2 Heavy"/>
                <a:cs typeface="思源黑体 2 Heavy"/>
                <a:sym typeface="思源黑体 2 Heavy"/>
              </a:rPr>
              <a:t>生成层实现</a:t>
            </a:r>
            <a:endParaRPr lang="en-US" altLang="zh-CN" sz="5199" b="1" dirty="0">
              <a:solidFill>
                <a:srgbClr val="100F0D"/>
              </a:solidFill>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9F8AF92C-EEEC-2E1D-848D-DE83F10785C8}"/>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331F4294-B29B-953D-23BD-AD6D4877116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E46592D5-3C5E-D0D8-553B-B3A58F29104B}"/>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2D56051B-E318-C9D5-DA0D-9F7645182B16}"/>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670EADA8-3319-4A0B-FEC1-B34C287D0D1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4C7E6961-8D2A-BA1A-3913-42D9FB5EBBF6}"/>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D9AFF476-F3E1-70C3-E31D-D211F081CC41}"/>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8D90B95E-B1F1-360B-1B9E-1C6A2D3929B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878DB25D-91F2-39D4-B07E-88C094F7BEC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98C4447F-97FA-BB48-45D7-F2A83891A606}"/>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A684119C-3262-2242-20DA-FAE7DD6634C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251387A9-2059-3B41-3FE4-C42BC6F6C875}"/>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6A57BB83-063D-7F6B-250D-F55DC5DCC2F9}"/>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177BD9C0-B2D6-A4C4-CC5D-6D5353CD6E24}"/>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C15C8A27-5F13-6289-1B98-83DA218A20A3}"/>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AECCCB9A-D66C-0037-D9C9-AA81FA898EE2}"/>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7D667D4D-070E-7A9E-DFFC-E7DAEE1666D3}"/>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241C11BF-F97B-F1CC-43D7-086B10AC5F33}"/>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30" name="TextBox 30">
            <a:extLst>
              <a:ext uri="{FF2B5EF4-FFF2-40B4-BE49-F238E27FC236}">
                <a16:creationId xmlns:a16="http://schemas.microsoft.com/office/drawing/2014/main" id="{C713608E-9F59-5DE2-EAE0-97E28C2701B6}"/>
              </a:ext>
            </a:extLst>
          </p:cNvPr>
          <p:cNvSpPr txBox="1"/>
          <p:nvPr/>
        </p:nvSpPr>
        <p:spPr>
          <a:xfrm>
            <a:off x="934017" y="182165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en-US" altLang="zh-CN" sz="3600" b="1" dirty="0">
                <a:solidFill>
                  <a:srgbClr val="1E1E1E"/>
                </a:solidFill>
                <a:latin typeface="思源黑体 2 Bold"/>
                <a:ea typeface="思源黑体 2 Bold"/>
                <a:cs typeface="思源黑体 2 Bold"/>
                <a:sym typeface="思源黑体 2 Bold"/>
              </a:rPr>
              <a:t>RAG</a:t>
            </a:r>
            <a:r>
              <a:rPr lang="zh-CN" altLang="en-US" sz="3600" b="1" dirty="0">
                <a:solidFill>
                  <a:srgbClr val="1E1E1E"/>
                </a:solidFill>
                <a:latin typeface="思源黑体 2 Bold"/>
                <a:ea typeface="思源黑体 2 Bold"/>
                <a:cs typeface="思源黑体 2 Bold"/>
                <a:sym typeface="思源黑体 2 Bold"/>
              </a:rPr>
              <a:t>生成流水线与</a:t>
            </a:r>
            <a:r>
              <a:rPr lang="en-US" altLang="zh-CN" sz="3600" b="1" dirty="0">
                <a:solidFill>
                  <a:srgbClr val="1E1E1E"/>
                </a:solidFill>
                <a:latin typeface="思源黑体 2 Bold"/>
                <a:ea typeface="思源黑体 2 Bold"/>
                <a:cs typeface="思源黑体 2 Bold"/>
                <a:sym typeface="思源黑体 2 Bold"/>
              </a:rPr>
              <a:t>Prompt</a:t>
            </a:r>
            <a:r>
              <a:rPr lang="zh-CN" altLang="en-US" sz="3600" b="1" dirty="0">
                <a:solidFill>
                  <a:srgbClr val="1E1E1E"/>
                </a:solidFill>
                <a:latin typeface="思源黑体 2 Bold"/>
                <a:ea typeface="思源黑体 2 Bold"/>
                <a:cs typeface="思源黑体 2 Bold"/>
                <a:sym typeface="思源黑体 2 Bold"/>
              </a:rPr>
              <a:t>工程</a:t>
            </a:r>
            <a:endParaRPr lang="en-US" sz="3600" b="1" dirty="0">
              <a:solidFill>
                <a:srgbClr val="1E1E1E"/>
              </a:solidFill>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3901270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A6819-3EC3-9534-C2EE-7E864550E53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DA3F5C2-597A-6B90-F11B-E27009739845}"/>
              </a:ext>
            </a:extLst>
          </p:cNvPr>
          <p:cNvSpPr txBox="1"/>
          <p:nvPr/>
        </p:nvSpPr>
        <p:spPr>
          <a:xfrm>
            <a:off x="1221328" y="791367"/>
            <a:ext cx="6122248" cy="790575"/>
          </a:xfrm>
          <a:prstGeom prst="rect">
            <a:avLst/>
          </a:prstGeom>
        </p:spPr>
        <p:txBody>
          <a:bodyPr lIns="0" tIns="0" rIns="0" bIns="0" rtlCol="0" anchor="t">
            <a:spAutoFit/>
          </a:bodyPr>
          <a:lstStyle/>
          <a:p>
            <a:pPr>
              <a:lnSpc>
                <a:spcPts val="6239"/>
              </a:lnSpc>
            </a:pPr>
            <a:r>
              <a:rPr lang="zh-CN" altLang="en-US" sz="5199" b="1" dirty="0">
                <a:solidFill>
                  <a:srgbClr val="100F0D"/>
                </a:solidFill>
                <a:latin typeface="思源黑体 2 Heavy"/>
                <a:ea typeface="思源黑体 2 Heavy"/>
                <a:cs typeface="思源黑体 2 Heavy"/>
                <a:sym typeface="思源黑体 2 Heavy"/>
              </a:rPr>
              <a:t>踩坑记录</a:t>
            </a:r>
            <a:endParaRPr lang="en-US" altLang="zh-CN" sz="5199" b="1" dirty="0">
              <a:solidFill>
                <a:srgbClr val="100F0D"/>
              </a:solidFill>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35770941-4829-614F-DAF7-844B6D7C755B}"/>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E716D685-E2F3-8648-DC93-7BD5C1807D1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3E75432E-6044-A7D7-1FFE-A22C9FC5E30A}"/>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C3E773D2-5F1F-E97D-B1D7-9C67E3244295}"/>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37F05756-07B4-D238-4821-4D793C00F5E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C0BBF72B-0CAE-3039-FE1C-1ECA2A7C43F8}"/>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2A39D070-BCF5-045D-E0EB-340B5C99C921}"/>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BB194C87-6D3C-F2CC-B5A6-A660FE2DCF2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713886D4-7EAE-0DE0-8C1F-3818CE62374B}"/>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266A52F6-1CB7-0986-4E12-2BEDD3E68D72}"/>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6C348AC4-6A8D-46C8-2122-3D4B964DDD8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0179D47F-713E-F31A-9A73-6A36DBF7F1FD}"/>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EBBC37EB-3FF4-AAAC-38E1-F76D5317F856}"/>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D1DA62D6-CBBE-B8F8-471D-3D4E3D6109A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3DD461FD-4222-B38D-135E-97FBD5E7D618}"/>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6D851ED2-5F54-AB0A-C9BE-0E054D42785E}"/>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54DEAFEF-2DC5-002A-31E9-41E93962ADA7}"/>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D89AEAA4-0F75-7DEB-D7A1-A685DCB6B8BE}"/>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1E03D7AF-B355-58F1-EE5F-10ED45789977}"/>
              </a:ext>
            </a:extLst>
          </p:cNvPr>
          <p:cNvSpPr txBox="1"/>
          <p:nvPr/>
        </p:nvSpPr>
        <p:spPr>
          <a:xfrm>
            <a:off x="1053918" y="2418238"/>
            <a:ext cx="16739291" cy="4776116"/>
          </a:xfrm>
          <a:prstGeom prst="rect">
            <a:avLst/>
          </a:prstGeom>
        </p:spPr>
        <p:txBody>
          <a:bodyPr wrap="square" lIns="0" tIns="0" rIns="0" bIns="0" rtlCol="0" anchor="t">
            <a:spAutoFit/>
          </a:bodyPr>
          <a:lstStyle/>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现象：检索正常返回</a:t>
            </a:r>
            <a:r>
              <a:rPr lang="en-US" altLang="zh-CN" sz="3200" dirty="0">
                <a:solidFill>
                  <a:srgbClr val="100F0D"/>
                </a:solidFill>
                <a:latin typeface="思源黑体 2"/>
                <a:ea typeface="思源黑体 2"/>
                <a:cs typeface="思源黑体 2"/>
                <a:sym typeface="思源黑体 2"/>
              </a:rPr>
              <a:t>5</a:t>
            </a:r>
            <a:r>
              <a:rPr lang="zh-CN" altLang="en-US" sz="3200" dirty="0">
                <a:solidFill>
                  <a:srgbClr val="100F0D"/>
                </a:solidFill>
                <a:latin typeface="思源黑体 2"/>
                <a:ea typeface="思源黑体 2"/>
                <a:cs typeface="思源黑体 2"/>
                <a:sym typeface="思源黑体 2"/>
              </a:rPr>
              <a:t>条文献，但大模型回答始终为</a:t>
            </a:r>
            <a:r>
              <a:rPr lang="en-US" altLang="zh-CN" sz="3200" dirty="0">
                <a:solidFill>
                  <a:srgbClr val="100F0D"/>
                </a:solidFill>
                <a:latin typeface="思源黑体 2"/>
                <a:ea typeface="思源黑体 2"/>
                <a:cs typeface="思源黑体 2"/>
                <a:sym typeface="思源黑体 2"/>
              </a:rPr>
              <a:t>0</a:t>
            </a:r>
            <a:r>
              <a:rPr lang="zh-CN" altLang="en-US" sz="3200" dirty="0">
                <a:solidFill>
                  <a:srgbClr val="100F0D"/>
                </a:solidFill>
                <a:latin typeface="思源黑体 2"/>
                <a:ea typeface="思源黑体 2"/>
                <a:cs typeface="思源黑体 2"/>
                <a:sym typeface="思源黑体 2"/>
              </a:rPr>
              <a:t>字</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排查：写独立测试脚本验证</a:t>
            </a:r>
            <a:r>
              <a:rPr lang="en-US" altLang="zh-CN" sz="3200" dirty="0">
                <a:solidFill>
                  <a:srgbClr val="100F0D"/>
                </a:solidFill>
                <a:latin typeface="思源黑体 2"/>
                <a:ea typeface="思源黑体 2"/>
                <a:cs typeface="思源黑体 2"/>
                <a:sym typeface="思源黑体 2"/>
              </a:rPr>
              <a:t>API Key</a:t>
            </a:r>
            <a:r>
              <a:rPr lang="zh-CN" altLang="en-US" sz="3200" dirty="0">
                <a:solidFill>
                  <a:srgbClr val="100F0D"/>
                </a:solidFill>
                <a:latin typeface="思源黑体 2"/>
                <a:ea typeface="思源黑体 2"/>
                <a:cs typeface="思源黑体 2"/>
                <a:sym typeface="思源黑体 2"/>
              </a:rPr>
              <a:t>正常 → 检查代码发现 </a:t>
            </a:r>
            <a:r>
              <a:rPr lang="en-US" altLang="zh-CN" sz="3200" dirty="0" err="1">
                <a:solidFill>
                  <a:srgbClr val="100F0D"/>
                </a:solidFill>
                <a:latin typeface="思源黑体 2"/>
                <a:ea typeface="思源黑体 2"/>
                <a:cs typeface="思源黑体 2"/>
                <a:sym typeface="思源黑体 2"/>
              </a:rPr>
              <a:t>os.getenv</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在 </a:t>
            </a:r>
            <a:r>
              <a:rPr lang="en-US" altLang="zh-CN" sz="3200" dirty="0">
                <a:solidFill>
                  <a:srgbClr val="100F0D"/>
                </a:solidFill>
                <a:latin typeface="思源黑体 2"/>
                <a:ea typeface="思源黑体 2"/>
                <a:cs typeface="思源黑体 2"/>
                <a:sym typeface="思源黑体 2"/>
              </a:rPr>
              <a:t>.env </a:t>
            </a:r>
            <a:r>
              <a:rPr lang="zh-CN" altLang="en-US" sz="3200" dirty="0">
                <a:solidFill>
                  <a:srgbClr val="100F0D"/>
                </a:solidFill>
                <a:latin typeface="思源黑体 2"/>
                <a:ea typeface="思源黑体 2"/>
                <a:cs typeface="思源黑体 2"/>
                <a:sym typeface="思源黑体 2"/>
              </a:rPr>
              <a:t>加载前被调用</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解决：统一通过 </a:t>
            </a:r>
            <a:r>
              <a:rPr lang="en-US" altLang="zh-CN" sz="3200" dirty="0" err="1">
                <a:solidFill>
                  <a:srgbClr val="100F0D"/>
                </a:solidFill>
                <a:latin typeface="思源黑体 2"/>
                <a:ea typeface="思源黑体 2"/>
                <a:cs typeface="思源黑体 2"/>
                <a:sym typeface="思源黑体 2"/>
              </a:rPr>
              <a:t>get_config</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读取配置，确保 </a:t>
            </a:r>
            <a:r>
              <a:rPr lang="en-US" altLang="zh-CN" sz="3200" dirty="0">
                <a:solidFill>
                  <a:srgbClr val="100F0D"/>
                </a:solidFill>
                <a:latin typeface="思源黑体 2"/>
                <a:ea typeface="思源黑体 2"/>
                <a:cs typeface="思源黑体 2"/>
                <a:sym typeface="思源黑体 2"/>
              </a:rPr>
              <a:t>.env </a:t>
            </a:r>
            <a:r>
              <a:rPr lang="zh-CN" altLang="en-US" sz="3200" dirty="0">
                <a:solidFill>
                  <a:srgbClr val="100F0D"/>
                </a:solidFill>
                <a:latin typeface="思源黑体 2"/>
                <a:ea typeface="思源黑体 2"/>
                <a:cs typeface="思源黑体 2"/>
                <a:sym typeface="思源黑体 2"/>
              </a:rPr>
              <a:t>先加载</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教训：所有配置读取必须走统一入口，避免加载时序问题</a:t>
            </a: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p:txBody>
      </p:sp>
      <p:sp>
        <p:nvSpPr>
          <p:cNvPr id="30" name="TextBox 30">
            <a:extLst>
              <a:ext uri="{FF2B5EF4-FFF2-40B4-BE49-F238E27FC236}">
                <a16:creationId xmlns:a16="http://schemas.microsoft.com/office/drawing/2014/main" id="{A66EB7EA-5808-9852-6DBB-E5C1271B2049}"/>
              </a:ext>
            </a:extLst>
          </p:cNvPr>
          <p:cNvSpPr txBox="1"/>
          <p:nvPr/>
        </p:nvSpPr>
        <p:spPr>
          <a:xfrm>
            <a:off x="304800" y="1823763"/>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环境变量加载时序</a:t>
            </a:r>
            <a:r>
              <a:rPr lang="en-US" altLang="zh-CN" sz="3600" b="1" dirty="0">
                <a:solidFill>
                  <a:srgbClr val="1E1E1E"/>
                </a:solidFill>
                <a:latin typeface="思源黑体 2 Bold"/>
                <a:ea typeface="思源黑体 2 Bold"/>
                <a:cs typeface="思源黑体 2 Bold"/>
                <a:sym typeface="思源黑体 2 Bold"/>
              </a:rPr>
              <a:t>Bug</a:t>
            </a:r>
            <a:endParaRPr lang="en-US" sz="3600" b="1" dirty="0">
              <a:solidFill>
                <a:srgbClr val="1E1E1E"/>
              </a:solidFill>
              <a:latin typeface="思源黑体 2 Bold"/>
              <a:ea typeface="思源黑体 2 Bold"/>
              <a:cs typeface="思源黑体 2 Bold"/>
              <a:sym typeface="思源黑体 2 Bold"/>
            </a:endParaRPr>
          </a:p>
        </p:txBody>
      </p:sp>
      <p:sp>
        <p:nvSpPr>
          <p:cNvPr id="28" name="TextBox 29">
            <a:extLst>
              <a:ext uri="{FF2B5EF4-FFF2-40B4-BE49-F238E27FC236}">
                <a16:creationId xmlns:a16="http://schemas.microsoft.com/office/drawing/2014/main" id="{CA4DA391-2519-4219-50A6-AE0A91B92904}"/>
              </a:ext>
            </a:extLst>
          </p:cNvPr>
          <p:cNvSpPr txBox="1"/>
          <p:nvPr/>
        </p:nvSpPr>
        <p:spPr>
          <a:xfrm>
            <a:off x="1053918" y="7092575"/>
            <a:ext cx="16739291" cy="3791231"/>
          </a:xfrm>
          <a:prstGeom prst="rect">
            <a:avLst/>
          </a:prstGeom>
        </p:spPr>
        <p:txBody>
          <a:bodyPr wrap="square" lIns="0" tIns="0" rIns="0" bIns="0" rtlCol="0" anchor="t">
            <a:spAutoFit/>
          </a:bodyPr>
          <a:lstStyle/>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现象：模型下载超时、文件体积远超预期（预估</a:t>
            </a:r>
            <a:r>
              <a:rPr lang="en-US" altLang="zh-CN" sz="3200" dirty="0">
                <a:solidFill>
                  <a:srgbClr val="100F0D"/>
                </a:solidFill>
                <a:latin typeface="思源黑体 2"/>
                <a:ea typeface="思源黑体 2"/>
                <a:cs typeface="思源黑体 2"/>
                <a:sym typeface="思源黑体 2"/>
              </a:rPr>
              <a:t>80MB</a:t>
            </a:r>
            <a:r>
              <a:rPr lang="zh-CN" altLang="en-US" sz="3200" dirty="0">
                <a:solidFill>
                  <a:srgbClr val="100F0D"/>
                </a:solidFill>
                <a:latin typeface="思源黑体 2"/>
                <a:ea typeface="思源黑体 2"/>
                <a:cs typeface="思源黑体 2"/>
                <a:sym typeface="思源黑体 2"/>
              </a:rPr>
              <a:t>实际</a:t>
            </a:r>
            <a:r>
              <a:rPr lang="en-US" altLang="zh-CN" sz="3200" dirty="0">
                <a:solidFill>
                  <a:srgbClr val="100F0D"/>
                </a:solidFill>
                <a:latin typeface="思源黑体 2"/>
                <a:ea typeface="思源黑体 2"/>
                <a:cs typeface="思源黑体 2"/>
                <a:sym typeface="思源黑体 2"/>
              </a:rPr>
              <a:t>2.3GB</a:t>
            </a:r>
            <a:r>
              <a:rPr lang="zh-CN" altLang="en-US" sz="3200" dirty="0">
                <a:solidFill>
                  <a:srgbClr val="100F0D"/>
                </a:solidFill>
                <a:latin typeface="思源黑体 2"/>
                <a:ea typeface="思源黑体 2"/>
                <a:cs typeface="思源黑体 2"/>
                <a:sym typeface="思源黑体 2"/>
              </a:rPr>
              <a:t>）</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解决：设置 </a:t>
            </a:r>
            <a:r>
              <a:rPr lang="en-US" altLang="zh-CN" sz="3200" dirty="0">
                <a:solidFill>
                  <a:srgbClr val="100F0D"/>
                </a:solidFill>
                <a:latin typeface="思源黑体 2"/>
                <a:ea typeface="思源黑体 2"/>
                <a:cs typeface="思源黑体 2"/>
                <a:sym typeface="思源黑体 2"/>
              </a:rPr>
              <a:t>HF_ENDPOINT </a:t>
            </a:r>
            <a:r>
              <a:rPr lang="zh-CN" altLang="en-US" sz="3200" dirty="0">
                <a:solidFill>
                  <a:srgbClr val="100F0D"/>
                </a:solidFill>
                <a:latin typeface="思源黑体 2"/>
                <a:ea typeface="思源黑体 2"/>
                <a:cs typeface="思源黑体 2"/>
                <a:sym typeface="思源黑体 2"/>
              </a:rPr>
              <a:t>国内镜像；多次更换模型最终选用</a:t>
            </a:r>
            <a:r>
              <a:rPr lang="en-US" altLang="zh-CN" sz="3200" dirty="0">
                <a:solidFill>
                  <a:srgbClr val="100F0D"/>
                </a:solidFill>
                <a:latin typeface="思源黑体 2"/>
                <a:ea typeface="思源黑体 2"/>
                <a:cs typeface="思源黑体 2"/>
                <a:sym typeface="思源黑体 2"/>
              </a:rPr>
              <a:t>80MB</a:t>
            </a:r>
            <a:r>
              <a:rPr lang="zh-CN" altLang="en-US" sz="3200" dirty="0">
                <a:solidFill>
                  <a:srgbClr val="100F0D"/>
                </a:solidFill>
                <a:latin typeface="思源黑体 2"/>
                <a:ea typeface="思源黑体 2"/>
                <a:cs typeface="思源黑体 2"/>
                <a:sym typeface="思源黑体 2"/>
              </a:rPr>
              <a:t>的轻量级方案</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教训：选模型先去官网确认实际文件大小，不要凭印象估计</a:t>
            </a: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p:txBody>
      </p:sp>
      <p:sp>
        <p:nvSpPr>
          <p:cNvPr id="32" name="TextBox 30">
            <a:extLst>
              <a:ext uri="{FF2B5EF4-FFF2-40B4-BE49-F238E27FC236}">
                <a16:creationId xmlns:a16="http://schemas.microsoft.com/office/drawing/2014/main" id="{763A5AA2-7FF2-E6AD-884E-FB42EC19D4C4}"/>
              </a:ext>
            </a:extLst>
          </p:cNvPr>
          <p:cNvSpPr txBox="1"/>
          <p:nvPr/>
        </p:nvSpPr>
        <p:spPr>
          <a:xfrm>
            <a:off x="838200" y="6431237"/>
            <a:ext cx="6398673" cy="553998"/>
          </a:xfrm>
          <a:prstGeom prst="rect">
            <a:avLst/>
          </a:prstGeom>
        </p:spPr>
        <p:txBody>
          <a:bodyPr wrap="square" lIns="0" tIns="0" rIns="0" bIns="0" rtlCol="0" anchor="t">
            <a:spAutoFit/>
          </a:bodyPr>
          <a:lstStyle/>
          <a:p>
            <a:pPr marL="0" lvl="0" indent="0" algn="ctr">
              <a:lnSpc>
                <a:spcPct val="100000"/>
              </a:lnSpc>
              <a:spcBef>
                <a:spcPct val="0"/>
              </a:spcBef>
            </a:pPr>
            <a:r>
              <a:rPr lang="en-US" sz="3600" b="1" dirty="0" err="1">
                <a:solidFill>
                  <a:srgbClr val="1E1E1E"/>
                </a:solidFill>
                <a:latin typeface="思源黑体 2 Bold"/>
                <a:ea typeface="思源黑体 2 Bold"/>
                <a:cs typeface="思源黑体 2 Bold"/>
                <a:sym typeface="思源黑体 2 Bold"/>
              </a:rPr>
              <a:t>HuggingFace</a:t>
            </a:r>
            <a:r>
              <a:rPr lang="en-US" sz="3600" b="1" dirty="0">
                <a:solidFill>
                  <a:srgbClr val="1E1E1E"/>
                </a:solidFill>
                <a:latin typeface="思源黑体 2 Bold"/>
                <a:ea typeface="思源黑体 2 Bold"/>
                <a:cs typeface="思源黑体 2 Bold"/>
                <a:sym typeface="思源黑体 2 Bold"/>
              </a:rPr>
              <a:t> </a:t>
            </a:r>
            <a:r>
              <a:rPr lang="zh-CN" altLang="en-US" sz="3600" b="1" dirty="0">
                <a:solidFill>
                  <a:srgbClr val="1E1E1E"/>
                </a:solidFill>
                <a:latin typeface="思源黑体 2 Bold"/>
                <a:ea typeface="思源黑体 2 Bold"/>
                <a:cs typeface="思源黑体 2 Bold"/>
                <a:sym typeface="思源黑体 2 Bold"/>
              </a:rPr>
              <a:t>模型下载问题</a:t>
            </a:r>
            <a:endParaRPr lang="en-US" sz="3600" b="1" dirty="0">
              <a:solidFill>
                <a:srgbClr val="1E1E1E"/>
              </a:solidFill>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73141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E7248-CD72-5C76-1D48-9A3FC8C47683}"/>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59F6D7C9-31F2-722C-0C52-801923C688C5}"/>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D090344B-6DB7-15ED-3F3C-88CCC07E032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91CAA41D-7133-8833-317D-D287F48FAB5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BDB53E6E-D02C-E237-E4CE-79A946C5EC95}"/>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201E83C8-070A-BCF2-26E3-17DBCC76970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27A6B08E-FD1A-84EA-9E74-C35E8EF09652}"/>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C32CE67B-EFC8-2CD8-F98E-FEC2A17BD286}"/>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6894A270-7A5A-2456-609A-EE593D50272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1892842B-E1DC-6516-CFAD-DBEEFA4EC878}"/>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D7374F88-BBF7-9F91-E9E9-448E7858F825}"/>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B22FB329-E1D7-14A8-8416-F98A2C21881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10600E9C-5B9C-79B9-B572-33315C1EC82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1CCDFFFA-A93C-CB19-266B-5AC9D823EDF7}"/>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D00F28B6-EEB5-DC69-8206-CC9512BCF02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7DB29C68-40C9-73F5-9F80-697AE4B9768F}"/>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7E2518D1-D736-6CBF-DD59-9669D4EAEC72}"/>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70E1B93C-9020-470B-18D5-C8C367AEF574}"/>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F4CD98AE-5DBB-A0F7-C973-F73646BC8EE8}"/>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23913BDE-458A-646E-C782-92E24DBB28B6}"/>
              </a:ext>
            </a:extLst>
          </p:cNvPr>
          <p:cNvSpPr txBox="1"/>
          <p:nvPr/>
        </p:nvSpPr>
        <p:spPr>
          <a:xfrm>
            <a:off x="1199556" y="6896100"/>
            <a:ext cx="16739291" cy="2806346"/>
          </a:xfrm>
          <a:prstGeom prst="rect">
            <a:avLst/>
          </a:prstGeom>
        </p:spPr>
        <p:txBody>
          <a:bodyPr wrap="square" lIns="0" tIns="0" rIns="0" bIns="0" rtlCol="0" anchor="t">
            <a:spAutoFit/>
          </a:bodyPr>
          <a:lstStyle/>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混合检索（</a:t>
            </a:r>
            <a:r>
              <a:rPr lang="en-US" altLang="zh-CN" sz="3200" dirty="0">
                <a:solidFill>
                  <a:srgbClr val="100F0D"/>
                </a:solidFill>
                <a:latin typeface="思源黑体 2"/>
                <a:ea typeface="思源黑体 2"/>
                <a:cs typeface="思源黑体 2"/>
                <a:sym typeface="思源黑体 2"/>
              </a:rPr>
              <a:t>RRF</a:t>
            </a:r>
            <a:r>
              <a:rPr lang="zh-CN" altLang="en-US" sz="3200" dirty="0">
                <a:solidFill>
                  <a:srgbClr val="100F0D"/>
                </a:solidFill>
                <a:latin typeface="思源黑体 2"/>
                <a:ea typeface="思源黑体 2"/>
                <a:cs typeface="思源黑体 2"/>
                <a:sym typeface="思源黑体 2"/>
              </a:rPr>
              <a:t>）</a:t>
            </a:r>
            <a:r>
              <a:rPr lang="en-US" altLang="zh-CN" sz="3200" dirty="0">
                <a:solidFill>
                  <a:srgbClr val="100F0D"/>
                </a:solidFill>
                <a:latin typeface="思源黑体 2"/>
                <a:ea typeface="思源黑体 2"/>
                <a:cs typeface="思源黑体 2"/>
                <a:sym typeface="思源黑体 2"/>
              </a:rPr>
              <a:t>Hit@5 </a:t>
            </a:r>
            <a:r>
              <a:rPr lang="zh-CN" altLang="en-US" sz="3200" dirty="0">
                <a:solidFill>
                  <a:srgbClr val="100F0D"/>
                </a:solidFill>
                <a:latin typeface="思源黑体 2"/>
                <a:ea typeface="思源黑体 2"/>
                <a:cs typeface="思源黑体 2"/>
                <a:sym typeface="思源黑体 2"/>
              </a:rPr>
              <a:t>最高（</a:t>
            </a:r>
            <a:r>
              <a:rPr lang="en-US" altLang="zh-CN" sz="3200" dirty="0">
                <a:solidFill>
                  <a:srgbClr val="100F0D"/>
                </a:solidFill>
                <a:latin typeface="思源黑体 2"/>
                <a:ea typeface="思源黑体 2"/>
                <a:cs typeface="思源黑体 2"/>
                <a:sym typeface="思源黑体 2"/>
              </a:rPr>
              <a:t>0.90</a:t>
            </a:r>
            <a:r>
              <a:rPr lang="zh-CN" altLang="en-US" sz="3200" dirty="0">
                <a:solidFill>
                  <a:srgbClr val="100F0D"/>
                </a:solidFill>
                <a:latin typeface="思源黑体 2"/>
                <a:ea typeface="思源黑体 2"/>
                <a:cs typeface="思源黑体 2"/>
                <a:sym typeface="思源黑体 2"/>
              </a:rPr>
              <a:t>），比纯向量提升 </a:t>
            </a:r>
            <a:r>
              <a:rPr lang="en-US" altLang="zh-CN" sz="3200" dirty="0">
                <a:solidFill>
                  <a:srgbClr val="100F0D"/>
                </a:solidFill>
                <a:latin typeface="思源黑体 2"/>
                <a:ea typeface="思源黑体 2"/>
                <a:cs typeface="思源黑体 2"/>
                <a:sym typeface="思源黑体 2"/>
              </a:rPr>
              <a:t>10%</a:t>
            </a:r>
          </a:p>
          <a:p>
            <a:pPr marL="0" lvl="0" indent="0">
              <a:lnSpc>
                <a:spcPct val="200000"/>
              </a:lnSpc>
              <a:spcBef>
                <a:spcPct val="0"/>
              </a:spcBef>
            </a:pPr>
            <a:r>
              <a:rPr lang="en-US" altLang="zh-CN" sz="3200" dirty="0" err="1">
                <a:solidFill>
                  <a:srgbClr val="100F0D"/>
                </a:solidFill>
                <a:latin typeface="思源黑体 2"/>
                <a:ea typeface="思源黑体 2"/>
                <a:cs typeface="思源黑体 2"/>
                <a:sym typeface="思源黑体 2"/>
              </a:rPr>
              <a:t>Reranker</a:t>
            </a:r>
            <a:r>
              <a:rPr lang="en-US" altLang="zh-CN" sz="3200" dirty="0">
                <a:solidFill>
                  <a:srgbClr val="100F0D"/>
                </a:solidFill>
                <a:latin typeface="思源黑体 2"/>
                <a:ea typeface="思源黑体 2"/>
                <a:cs typeface="思源黑体 2"/>
                <a:sym typeface="思源黑体 2"/>
              </a:rPr>
              <a:t> </a:t>
            </a:r>
            <a:r>
              <a:rPr lang="zh-CN" altLang="en-US" sz="3200" dirty="0">
                <a:solidFill>
                  <a:srgbClr val="100F0D"/>
                </a:solidFill>
                <a:latin typeface="思源黑体 2"/>
                <a:ea typeface="思源黑体 2"/>
                <a:cs typeface="思源黑体 2"/>
                <a:sym typeface="思源黑体 2"/>
              </a:rPr>
              <a:t>因使用英文训练模型，在中文场景下反而降分</a:t>
            </a:r>
          </a:p>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说明：选择合适的模型比堆叠更多模块更重要</a:t>
            </a:r>
          </a:p>
        </p:txBody>
      </p:sp>
      <p:sp>
        <p:nvSpPr>
          <p:cNvPr id="30" name="TextBox 30">
            <a:extLst>
              <a:ext uri="{FF2B5EF4-FFF2-40B4-BE49-F238E27FC236}">
                <a16:creationId xmlns:a16="http://schemas.microsoft.com/office/drawing/2014/main" id="{F2D3025B-AE5B-E168-825D-EB8B92AADE32}"/>
              </a:ext>
            </a:extLst>
          </p:cNvPr>
          <p:cNvSpPr txBox="1"/>
          <p:nvPr/>
        </p:nvSpPr>
        <p:spPr>
          <a:xfrm>
            <a:off x="-103210" y="1791342"/>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检索策略三档对比</a:t>
            </a:r>
            <a:endParaRPr lang="en-US" sz="3600" b="1" dirty="0">
              <a:solidFill>
                <a:srgbClr val="1E1E1E"/>
              </a:solidFill>
              <a:latin typeface="思源黑体 2 Bold"/>
              <a:ea typeface="思源黑体 2 Bold"/>
              <a:cs typeface="思源黑体 2 Bold"/>
              <a:sym typeface="思源黑体 2 Bold"/>
            </a:endParaRPr>
          </a:p>
        </p:txBody>
      </p:sp>
      <p:sp>
        <p:nvSpPr>
          <p:cNvPr id="24" name="TextBox 2">
            <a:extLst>
              <a:ext uri="{FF2B5EF4-FFF2-40B4-BE49-F238E27FC236}">
                <a16:creationId xmlns:a16="http://schemas.microsoft.com/office/drawing/2014/main" id="{1795BEB5-1A9F-4A0D-831C-D7D56F14600F}"/>
              </a:ext>
            </a:extLst>
          </p:cNvPr>
          <p:cNvSpPr txBox="1"/>
          <p:nvPr/>
        </p:nvSpPr>
        <p:spPr>
          <a:xfrm>
            <a:off x="1221328" y="791367"/>
            <a:ext cx="10437272" cy="795089"/>
          </a:xfrm>
          <a:prstGeom prst="rect">
            <a:avLst/>
          </a:prstGeom>
        </p:spPr>
        <p:txBody>
          <a:bodyPr wrap="square"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实验对比</a:t>
            </a:r>
            <a:endParaRPr lang="en-US" sz="5199" b="1" dirty="0">
              <a:solidFill>
                <a:srgbClr val="100F0D"/>
              </a:solidFill>
              <a:latin typeface="思源黑体 2 Heavy"/>
              <a:ea typeface="思源黑体 2 Heavy"/>
              <a:cs typeface="思源黑体 2 Heavy"/>
              <a:sym typeface="思源黑体 2 Heavy"/>
            </a:endParaRPr>
          </a:p>
        </p:txBody>
      </p:sp>
      <p:pic>
        <p:nvPicPr>
          <p:cNvPr id="27" name="图片 26">
            <a:extLst>
              <a:ext uri="{FF2B5EF4-FFF2-40B4-BE49-F238E27FC236}">
                <a16:creationId xmlns:a16="http://schemas.microsoft.com/office/drawing/2014/main" id="{A6EC228C-26CE-01CB-489C-13FFE24AE16C}"/>
              </a:ext>
            </a:extLst>
          </p:cNvPr>
          <p:cNvPicPr>
            <a:picLocks noChangeAspect="1"/>
          </p:cNvPicPr>
          <p:nvPr/>
        </p:nvPicPr>
        <p:blipFill>
          <a:blip r:embed="rId2"/>
          <a:stretch>
            <a:fillRect/>
          </a:stretch>
        </p:blipFill>
        <p:spPr>
          <a:xfrm>
            <a:off x="-2438400" y="2789787"/>
            <a:ext cx="22382124" cy="4844615"/>
          </a:xfrm>
          <a:prstGeom prst="rect">
            <a:avLst/>
          </a:prstGeom>
        </p:spPr>
      </p:pic>
    </p:spTree>
    <p:extLst>
      <p:ext uri="{BB962C8B-B14F-4D97-AF65-F5344CB8AC3E}">
        <p14:creationId xmlns:p14="http://schemas.microsoft.com/office/powerpoint/2010/main" val="445303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221EF-07A0-7188-118F-8BA5D175B760}"/>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4C78CD7C-F6B5-7A99-5C94-4713BCA8B225}"/>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31427252-1AF9-A89F-89AA-FBB450F3092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681C577A-2CBB-2250-762E-CF7423738D8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2FB3DC25-A19D-CBAC-E853-5B3BBDEDDEE0}"/>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4EEE8EAB-D1EA-ADD3-0743-0E6EB75D5E5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D6D7AB56-4298-37B7-D2AF-80F0105A64C5}"/>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A8CB7F15-8CF3-4AFA-359F-E98AD99ABE98}"/>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EFECB70B-A09C-47DE-B001-AED71D294D9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28F60EE5-A84A-257B-7CC0-0797F7C258B4}"/>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BD51C8A4-3B08-5D83-1EA1-9E20BFEF1005}"/>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14851572-54E7-41E3-CB33-E1EDA67FACF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7B9D5510-9842-30CE-B03F-C171A9683785}"/>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B47F9149-DD59-C577-8AD9-059163A03C77}"/>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4201CF67-E183-0E85-6D5E-B407FB317CE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ED99A930-3727-65AC-4434-32A81C86584A}"/>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C9E5A004-B2F3-BDC2-B49F-734B89CD357D}"/>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97215820-1899-E017-835D-DDDCB28A49D3}"/>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0F2DBDAA-D9B1-B84E-D655-E9588FCB9773}"/>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2124D65F-699D-830A-560F-EFF20CD584E5}"/>
              </a:ext>
            </a:extLst>
          </p:cNvPr>
          <p:cNvSpPr txBox="1"/>
          <p:nvPr/>
        </p:nvSpPr>
        <p:spPr>
          <a:xfrm>
            <a:off x="1447800" y="7230002"/>
            <a:ext cx="12649200" cy="2867901"/>
          </a:xfrm>
          <a:prstGeom prst="rect">
            <a:avLst/>
          </a:prstGeom>
        </p:spPr>
        <p:txBody>
          <a:bodyPr wrap="square" lIns="0" tIns="0" rIns="0" bIns="0" rtlCol="0" anchor="t">
            <a:spAutoFit/>
          </a:bodyPr>
          <a:lstStyle/>
          <a:p>
            <a:pPr marL="0" lvl="0" indent="0">
              <a:lnSpc>
                <a:spcPct val="150000"/>
              </a:lnSpc>
              <a:spcBef>
                <a:spcPct val="0"/>
              </a:spcBef>
            </a:pPr>
            <a:r>
              <a:rPr lang="zh-CN" altLang="en-US" sz="3200" dirty="0">
                <a:solidFill>
                  <a:srgbClr val="100F0D"/>
                </a:solidFill>
                <a:latin typeface="思源黑体 2"/>
                <a:ea typeface="思源黑体 2"/>
                <a:cs typeface="思源黑体 2"/>
                <a:sym typeface="思源黑体 2"/>
              </a:rPr>
              <a:t>检索角度：</a:t>
            </a:r>
            <a:r>
              <a:rPr lang="en-US" altLang="zh-CN" sz="3200" dirty="0" err="1">
                <a:solidFill>
                  <a:srgbClr val="100F0D"/>
                </a:solidFill>
                <a:latin typeface="思源黑体 2"/>
                <a:ea typeface="思源黑体 2"/>
                <a:cs typeface="思源黑体 2"/>
                <a:sym typeface="思源黑体 2"/>
              </a:rPr>
              <a:t>chunk_size</a:t>
            </a:r>
            <a:r>
              <a:rPr lang="en-US" altLang="zh-CN" sz="3200" dirty="0">
                <a:solidFill>
                  <a:srgbClr val="100F0D"/>
                </a:solidFill>
                <a:latin typeface="思源黑体 2"/>
                <a:ea typeface="思源黑体 2"/>
                <a:cs typeface="思源黑体 2"/>
                <a:sym typeface="思源黑体 2"/>
              </a:rPr>
              <a:t>=256 </a:t>
            </a:r>
            <a:r>
              <a:rPr lang="zh-CN" altLang="en-US" sz="3200" dirty="0">
                <a:solidFill>
                  <a:srgbClr val="100F0D"/>
                </a:solidFill>
                <a:latin typeface="思源黑体 2"/>
                <a:ea typeface="思源黑体 2"/>
                <a:cs typeface="思源黑体 2"/>
                <a:sym typeface="思源黑体 2"/>
              </a:rPr>
              <a:t>最优（</a:t>
            </a:r>
            <a:r>
              <a:rPr lang="en-US" altLang="zh-CN" sz="3200" dirty="0">
                <a:solidFill>
                  <a:srgbClr val="100F0D"/>
                </a:solidFill>
                <a:latin typeface="思源黑体 2"/>
                <a:ea typeface="思源黑体 2"/>
                <a:cs typeface="思源黑体 2"/>
                <a:sym typeface="思源黑体 2"/>
              </a:rPr>
              <a:t>Hit@5=0.90, MRR=0.72</a:t>
            </a:r>
            <a:r>
              <a:rPr lang="zh-CN" altLang="en-US" sz="3200" dirty="0">
                <a:solidFill>
                  <a:srgbClr val="100F0D"/>
                </a:solidFill>
                <a:latin typeface="思源黑体 2"/>
                <a:ea typeface="思源黑体 2"/>
                <a:cs typeface="思源黑体 2"/>
                <a:sym typeface="思源黑体 2"/>
              </a:rPr>
              <a:t>）</a:t>
            </a:r>
          </a:p>
          <a:p>
            <a:pPr marL="0" lvl="0" indent="0">
              <a:lnSpc>
                <a:spcPct val="150000"/>
              </a:lnSpc>
              <a:spcBef>
                <a:spcPct val="0"/>
              </a:spcBef>
            </a:pPr>
            <a:r>
              <a:rPr lang="zh-CN" altLang="en-US" sz="3200" dirty="0">
                <a:solidFill>
                  <a:srgbClr val="100F0D"/>
                </a:solidFill>
                <a:latin typeface="思源黑体 2"/>
                <a:ea typeface="思源黑体 2"/>
                <a:cs typeface="思源黑体 2"/>
                <a:sym typeface="思源黑体 2"/>
              </a:rPr>
              <a:t>生成角度：</a:t>
            </a:r>
            <a:r>
              <a:rPr lang="en-US" altLang="zh-CN" sz="3200" dirty="0" err="1">
                <a:solidFill>
                  <a:srgbClr val="100F0D"/>
                </a:solidFill>
                <a:latin typeface="思源黑体 2"/>
                <a:ea typeface="思源黑体 2"/>
                <a:cs typeface="思源黑体 2"/>
                <a:sym typeface="思源黑体 2"/>
              </a:rPr>
              <a:t>chunk_size</a:t>
            </a:r>
            <a:r>
              <a:rPr lang="en-US" altLang="zh-CN" sz="3200" dirty="0">
                <a:solidFill>
                  <a:srgbClr val="100F0D"/>
                </a:solidFill>
                <a:latin typeface="思源黑体 2"/>
                <a:ea typeface="思源黑体 2"/>
                <a:cs typeface="思源黑体 2"/>
                <a:sym typeface="思源黑体 2"/>
              </a:rPr>
              <a:t>=512 </a:t>
            </a:r>
            <a:r>
              <a:rPr lang="zh-CN" altLang="en-US" sz="3200" dirty="0">
                <a:solidFill>
                  <a:srgbClr val="100F0D"/>
                </a:solidFill>
                <a:latin typeface="思源黑体 2"/>
                <a:ea typeface="思源黑体 2"/>
                <a:cs typeface="思源黑体 2"/>
                <a:sym typeface="思源黑体 2"/>
              </a:rPr>
              <a:t>提供足够的上下文</a:t>
            </a:r>
          </a:p>
          <a:p>
            <a:pPr marL="0" lvl="0" indent="0">
              <a:lnSpc>
                <a:spcPct val="150000"/>
              </a:lnSpc>
              <a:spcBef>
                <a:spcPct val="0"/>
              </a:spcBef>
            </a:pPr>
            <a:r>
              <a:rPr lang="zh-CN" altLang="en-US" sz="3200" dirty="0">
                <a:solidFill>
                  <a:srgbClr val="100F0D"/>
                </a:solidFill>
                <a:latin typeface="思源黑体 2"/>
                <a:ea typeface="思源黑体 2"/>
                <a:cs typeface="思源黑体 2"/>
                <a:sym typeface="思源黑体 2"/>
              </a:rPr>
              <a:t>最终选择：递归切分 </a:t>
            </a:r>
            <a:r>
              <a:rPr lang="en-US" altLang="zh-CN" sz="3200" dirty="0">
                <a:solidFill>
                  <a:srgbClr val="100F0D"/>
                </a:solidFill>
                <a:latin typeface="思源黑体 2"/>
                <a:ea typeface="思源黑体 2"/>
                <a:cs typeface="思源黑体 2"/>
                <a:sym typeface="思源黑体 2"/>
              </a:rPr>
              <a:t>+ </a:t>
            </a:r>
            <a:r>
              <a:rPr lang="en-US" altLang="zh-CN" sz="3200" dirty="0" err="1">
                <a:solidFill>
                  <a:srgbClr val="100F0D"/>
                </a:solidFill>
                <a:latin typeface="思源黑体 2"/>
                <a:ea typeface="思源黑体 2"/>
                <a:cs typeface="思源黑体 2"/>
                <a:sym typeface="思源黑体 2"/>
              </a:rPr>
              <a:t>chunk_size</a:t>
            </a:r>
            <a:r>
              <a:rPr lang="en-US" altLang="zh-CN" sz="3200" dirty="0">
                <a:solidFill>
                  <a:srgbClr val="100F0D"/>
                </a:solidFill>
                <a:latin typeface="思源黑体 2"/>
                <a:ea typeface="思源黑体 2"/>
                <a:cs typeface="思源黑体 2"/>
                <a:sym typeface="思源黑体 2"/>
              </a:rPr>
              <a:t>=512</a:t>
            </a:r>
            <a:r>
              <a:rPr lang="zh-CN" altLang="en-US" sz="3200" dirty="0">
                <a:solidFill>
                  <a:srgbClr val="100F0D"/>
                </a:solidFill>
                <a:latin typeface="思源黑体 2"/>
                <a:ea typeface="思源黑体 2"/>
                <a:cs typeface="思源黑体 2"/>
                <a:sym typeface="思源黑体 2"/>
              </a:rPr>
              <a:t>（检索与生成的平衡点）</a:t>
            </a:r>
          </a:p>
          <a:p>
            <a:pPr marL="0" lvl="0" indent="0">
              <a:lnSpc>
                <a:spcPct val="150000"/>
              </a:lnSpc>
              <a:spcBef>
                <a:spcPct val="0"/>
              </a:spcBef>
            </a:pPr>
            <a:r>
              <a:rPr lang="zh-CN" altLang="en-US" sz="3200" dirty="0">
                <a:solidFill>
                  <a:srgbClr val="100F0D"/>
                </a:solidFill>
                <a:latin typeface="思源黑体 2"/>
                <a:ea typeface="思源黑体 2"/>
                <a:cs typeface="思源黑体 2"/>
                <a:sym typeface="思源黑体 2"/>
              </a:rPr>
              <a:t>揭示了 </a:t>
            </a:r>
            <a:r>
              <a:rPr lang="en-US" altLang="zh-CN" sz="3200" dirty="0">
                <a:solidFill>
                  <a:srgbClr val="100F0D"/>
                </a:solidFill>
                <a:latin typeface="思源黑体 2"/>
                <a:ea typeface="思源黑体 2"/>
                <a:cs typeface="思源黑体 2"/>
                <a:sym typeface="思源黑体 2"/>
              </a:rPr>
              <a:t>RAG </a:t>
            </a:r>
            <a:r>
              <a:rPr lang="zh-CN" altLang="en-US" sz="3200" dirty="0">
                <a:solidFill>
                  <a:srgbClr val="100F0D"/>
                </a:solidFill>
                <a:latin typeface="思源黑体 2"/>
                <a:ea typeface="思源黑体 2"/>
                <a:cs typeface="思源黑体 2"/>
                <a:sym typeface="思源黑体 2"/>
              </a:rPr>
              <a:t>系统中的经典权衡：检索精度 </a:t>
            </a:r>
            <a:r>
              <a:rPr lang="en-US" altLang="zh-CN" sz="3200" dirty="0">
                <a:solidFill>
                  <a:srgbClr val="100F0D"/>
                </a:solidFill>
                <a:latin typeface="思源黑体 2"/>
                <a:ea typeface="思源黑体 2"/>
                <a:cs typeface="思源黑体 2"/>
                <a:sym typeface="思源黑体 2"/>
              </a:rPr>
              <a:t>vs </a:t>
            </a:r>
            <a:r>
              <a:rPr lang="zh-CN" altLang="en-US" sz="3200" dirty="0">
                <a:solidFill>
                  <a:srgbClr val="100F0D"/>
                </a:solidFill>
                <a:latin typeface="思源黑体 2"/>
                <a:ea typeface="思源黑体 2"/>
                <a:cs typeface="思源黑体 2"/>
                <a:sym typeface="思源黑体 2"/>
              </a:rPr>
              <a:t>生成质量</a:t>
            </a:r>
          </a:p>
        </p:txBody>
      </p:sp>
      <p:sp>
        <p:nvSpPr>
          <p:cNvPr id="30" name="TextBox 30">
            <a:extLst>
              <a:ext uri="{FF2B5EF4-FFF2-40B4-BE49-F238E27FC236}">
                <a16:creationId xmlns:a16="http://schemas.microsoft.com/office/drawing/2014/main" id="{2CBD1023-AEE1-5E01-1062-C48B15011C22}"/>
              </a:ext>
            </a:extLst>
          </p:cNvPr>
          <p:cNvSpPr txBox="1"/>
          <p:nvPr/>
        </p:nvSpPr>
        <p:spPr>
          <a:xfrm>
            <a:off x="-457200" y="1284692"/>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分块策略对比</a:t>
            </a:r>
            <a:endParaRPr lang="en-US" sz="3600" b="1" dirty="0">
              <a:solidFill>
                <a:srgbClr val="1E1E1E"/>
              </a:solidFill>
              <a:latin typeface="思源黑体 2 Bold"/>
              <a:ea typeface="思源黑体 2 Bold"/>
              <a:cs typeface="思源黑体 2 Bold"/>
              <a:sym typeface="思源黑体 2 Bold"/>
            </a:endParaRPr>
          </a:p>
        </p:txBody>
      </p:sp>
      <p:sp>
        <p:nvSpPr>
          <p:cNvPr id="3" name="TextBox 2">
            <a:extLst>
              <a:ext uri="{FF2B5EF4-FFF2-40B4-BE49-F238E27FC236}">
                <a16:creationId xmlns:a16="http://schemas.microsoft.com/office/drawing/2014/main" id="{F28CB7E0-482F-8172-3CB8-803CDB5C0E5D}"/>
              </a:ext>
            </a:extLst>
          </p:cNvPr>
          <p:cNvSpPr txBox="1"/>
          <p:nvPr/>
        </p:nvSpPr>
        <p:spPr>
          <a:xfrm>
            <a:off x="1297528" y="350350"/>
            <a:ext cx="10437272" cy="795089"/>
          </a:xfrm>
          <a:prstGeom prst="rect">
            <a:avLst/>
          </a:prstGeom>
        </p:spPr>
        <p:txBody>
          <a:bodyPr wrap="square"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实验对比</a:t>
            </a:r>
            <a:endParaRPr lang="en-US" sz="5199" b="1" dirty="0">
              <a:solidFill>
                <a:srgbClr val="100F0D"/>
              </a:solidFill>
              <a:latin typeface="思源黑体 2 Heavy"/>
              <a:ea typeface="思源黑体 2 Heavy"/>
              <a:cs typeface="思源黑体 2 Heavy"/>
              <a:sym typeface="思源黑体 2 Heavy"/>
            </a:endParaRPr>
          </a:p>
        </p:txBody>
      </p:sp>
      <p:pic>
        <p:nvPicPr>
          <p:cNvPr id="25" name="图片 24">
            <a:extLst>
              <a:ext uri="{FF2B5EF4-FFF2-40B4-BE49-F238E27FC236}">
                <a16:creationId xmlns:a16="http://schemas.microsoft.com/office/drawing/2014/main" id="{CCBBE655-3D08-D744-0886-C688327B29F6}"/>
              </a:ext>
            </a:extLst>
          </p:cNvPr>
          <p:cNvPicPr>
            <a:picLocks noChangeAspect="1"/>
          </p:cNvPicPr>
          <p:nvPr/>
        </p:nvPicPr>
        <p:blipFill>
          <a:blip r:embed="rId2"/>
          <a:stretch>
            <a:fillRect/>
          </a:stretch>
        </p:blipFill>
        <p:spPr>
          <a:xfrm>
            <a:off x="-1016594" y="1868187"/>
            <a:ext cx="16487021" cy="6196015"/>
          </a:xfrm>
          <a:prstGeom prst="rect">
            <a:avLst/>
          </a:prstGeom>
        </p:spPr>
      </p:pic>
    </p:spTree>
    <p:extLst>
      <p:ext uri="{BB962C8B-B14F-4D97-AF65-F5344CB8AC3E}">
        <p14:creationId xmlns:p14="http://schemas.microsoft.com/office/powerpoint/2010/main" val="2071890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3742-F9E6-6B04-424A-309C32D34700}"/>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5B2F38F0-0B58-710A-3720-00DCBD9D47C9}"/>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EFA5FBF2-9D68-2AF1-E590-D76BFA83116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63450534-74EB-52D4-C376-CAE376EA8CC9}"/>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D7A88B70-9561-EEFC-CE92-0AD575F53E0E}"/>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79914183-FF4F-B533-854C-11A4ABDFE64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5114A00D-7F0D-EF2B-79B8-24E3B9AE8957}"/>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10AC0834-9EAB-CFBA-CA07-53A169B625E8}"/>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92762719-5FF0-39B1-5611-1EDBB99BDD0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61E87286-121D-0F81-51A0-6CF4EB2C2731}"/>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D7C97F34-EB18-10B6-864E-A9F1E8C47EBA}"/>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2570CE09-4E3C-E225-078C-34FA974A801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B53B9381-0372-6FE3-3A17-7ED32EDD53A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788D5E00-7268-4399-04BF-F1059270D9FA}"/>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BA6EDF33-E59D-67C0-3636-D67147DB56F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6AE4ACE6-3649-9B01-E18A-E1716BE36AB0}"/>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B9075C96-AC7D-5814-0814-74FCEF5A9566}"/>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92EB3A46-9898-1948-4AC3-C3AA40F9AFC2}"/>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C298A96B-5F89-3024-F234-50DC2F3B1CAB}"/>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D7EC37A8-5E11-1B95-5279-2566FBF0F320}"/>
              </a:ext>
            </a:extLst>
          </p:cNvPr>
          <p:cNvSpPr txBox="1"/>
          <p:nvPr/>
        </p:nvSpPr>
        <p:spPr>
          <a:xfrm>
            <a:off x="1524000" y="4835509"/>
            <a:ext cx="14803567" cy="651910"/>
          </a:xfrm>
          <a:prstGeom prst="rect">
            <a:avLst/>
          </a:prstGeom>
        </p:spPr>
        <p:txBody>
          <a:bodyPr wrap="square" lIns="0" tIns="0" rIns="0" bIns="0" rtlCol="0" anchor="t">
            <a:spAutoFit/>
          </a:bodyPr>
          <a:lstStyle/>
          <a:p>
            <a:pPr marL="0" lvl="0" indent="0">
              <a:lnSpc>
                <a:spcPct val="150000"/>
              </a:lnSpc>
              <a:spcBef>
                <a:spcPct val="0"/>
              </a:spcBef>
            </a:pPr>
            <a:r>
              <a:rPr lang="en-US" altLang="zh-CN" sz="3200" dirty="0">
                <a:solidFill>
                  <a:srgbClr val="100F0D"/>
                </a:solidFill>
                <a:latin typeface="思源黑体 2"/>
                <a:ea typeface="思源黑体 2"/>
                <a:cs typeface="思源黑体 2"/>
                <a:sym typeface="思源黑体 2"/>
              </a:rPr>
              <a:t>RAG </a:t>
            </a:r>
            <a:r>
              <a:rPr lang="zh-CN" altLang="en-US" sz="3200" dirty="0">
                <a:solidFill>
                  <a:srgbClr val="100F0D"/>
                </a:solidFill>
                <a:latin typeface="思源黑体 2"/>
                <a:ea typeface="思源黑体 2"/>
                <a:cs typeface="思源黑体 2"/>
                <a:sym typeface="思源黑体 2"/>
              </a:rPr>
              <a:t>场景适合低温度，减少幻觉</a:t>
            </a:r>
          </a:p>
        </p:txBody>
      </p:sp>
      <p:sp>
        <p:nvSpPr>
          <p:cNvPr id="30" name="TextBox 30">
            <a:extLst>
              <a:ext uri="{FF2B5EF4-FFF2-40B4-BE49-F238E27FC236}">
                <a16:creationId xmlns:a16="http://schemas.microsoft.com/office/drawing/2014/main" id="{B674B3BC-EAF6-80AC-EDDE-4A6BBA395F3C}"/>
              </a:ext>
            </a:extLst>
          </p:cNvPr>
          <p:cNvSpPr txBox="1"/>
          <p:nvPr/>
        </p:nvSpPr>
        <p:spPr>
          <a:xfrm>
            <a:off x="117491" y="135110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en-US" altLang="zh-CN" sz="3600" b="1" dirty="0">
                <a:solidFill>
                  <a:srgbClr val="1E1E1E"/>
                </a:solidFill>
                <a:latin typeface="思源黑体 2 Bold"/>
                <a:ea typeface="思源黑体 2 Bold"/>
                <a:cs typeface="思源黑体 2 Bold"/>
                <a:sym typeface="思源黑体 2 Bold"/>
              </a:rPr>
              <a:t>Temperature </a:t>
            </a:r>
            <a:r>
              <a:rPr lang="zh-CN" altLang="en-US" sz="3600" b="1" dirty="0">
                <a:solidFill>
                  <a:srgbClr val="1E1E1E"/>
                </a:solidFill>
                <a:latin typeface="思源黑体 2 Bold"/>
                <a:ea typeface="思源黑体 2 Bold"/>
                <a:cs typeface="思源黑体 2 Bold"/>
                <a:sym typeface="思源黑体 2 Bold"/>
              </a:rPr>
              <a:t>对比</a:t>
            </a:r>
            <a:endParaRPr lang="en-US" sz="3600" b="1" dirty="0">
              <a:solidFill>
                <a:srgbClr val="1E1E1E"/>
              </a:solidFill>
              <a:latin typeface="思源黑体 2 Bold"/>
              <a:ea typeface="思源黑体 2 Bold"/>
              <a:cs typeface="思源黑体 2 Bold"/>
              <a:sym typeface="思源黑体 2 Bold"/>
            </a:endParaRPr>
          </a:p>
        </p:txBody>
      </p:sp>
      <p:sp>
        <p:nvSpPr>
          <p:cNvPr id="3" name="TextBox 2">
            <a:extLst>
              <a:ext uri="{FF2B5EF4-FFF2-40B4-BE49-F238E27FC236}">
                <a16:creationId xmlns:a16="http://schemas.microsoft.com/office/drawing/2014/main" id="{CBCD98E2-1DBC-C220-4DF2-CF6FC4B241C1}"/>
              </a:ext>
            </a:extLst>
          </p:cNvPr>
          <p:cNvSpPr txBox="1"/>
          <p:nvPr/>
        </p:nvSpPr>
        <p:spPr>
          <a:xfrm>
            <a:off x="1297528" y="350350"/>
            <a:ext cx="10437272" cy="795089"/>
          </a:xfrm>
          <a:prstGeom prst="rect">
            <a:avLst/>
          </a:prstGeom>
        </p:spPr>
        <p:txBody>
          <a:bodyPr wrap="square" lIns="0" tIns="0" rIns="0" bIns="0" rtlCol="0" anchor="t">
            <a:spAutoFit/>
          </a:bodyPr>
          <a:lstStyle/>
          <a:p>
            <a:pPr algn="l">
              <a:lnSpc>
                <a:spcPts val="6239"/>
              </a:lnSpc>
            </a:pPr>
            <a:r>
              <a:rPr lang="en-US" sz="5199" b="1" dirty="0">
                <a:solidFill>
                  <a:srgbClr val="100F0D"/>
                </a:solidFill>
                <a:latin typeface="思源黑体 2 Heavy"/>
                <a:ea typeface="思源黑体 2 Heavy"/>
                <a:cs typeface="思源黑体 2 Heavy"/>
                <a:sym typeface="思源黑体 2 Heavy"/>
              </a:rPr>
              <a:t>Prompt</a:t>
            </a:r>
            <a:r>
              <a:rPr lang="zh-CN" altLang="en-US" sz="5199" b="1" dirty="0">
                <a:solidFill>
                  <a:srgbClr val="100F0D"/>
                </a:solidFill>
                <a:latin typeface="思源黑体 2 Heavy"/>
                <a:ea typeface="思源黑体 2 Heavy"/>
                <a:cs typeface="思源黑体 2 Heavy"/>
                <a:sym typeface="思源黑体 2 Heavy"/>
              </a:rPr>
              <a:t>参数实验</a:t>
            </a:r>
            <a:endParaRPr lang="en-US" sz="5199" b="1" dirty="0">
              <a:solidFill>
                <a:srgbClr val="100F0D"/>
              </a:solidFill>
              <a:latin typeface="思源黑体 2 Heavy"/>
              <a:ea typeface="思源黑体 2 Heavy"/>
              <a:cs typeface="思源黑体 2 Heavy"/>
              <a:sym typeface="思源黑体 2 Heavy"/>
            </a:endParaRPr>
          </a:p>
        </p:txBody>
      </p:sp>
      <p:sp>
        <p:nvSpPr>
          <p:cNvPr id="31" name="TextBox 30">
            <a:extLst>
              <a:ext uri="{FF2B5EF4-FFF2-40B4-BE49-F238E27FC236}">
                <a16:creationId xmlns:a16="http://schemas.microsoft.com/office/drawing/2014/main" id="{EA666EEF-740A-0345-CE83-2CDE47D9B096}"/>
              </a:ext>
            </a:extLst>
          </p:cNvPr>
          <p:cNvSpPr txBox="1"/>
          <p:nvPr/>
        </p:nvSpPr>
        <p:spPr>
          <a:xfrm>
            <a:off x="-609600" y="560175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en-US" altLang="zh-CN" sz="3600" b="1" dirty="0">
                <a:solidFill>
                  <a:srgbClr val="1E1E1E"/>
                </a:solidFill>
                <a:latin typeface="思源黑体 2 Bold"/>
                <a:ea typeface="思源黑体 2 Bold"/>
                <a:cs typeface="思源黑体 2 Bold"/>
                <a:sym typeface="思源黑体 2 Bold"/>
              </a:rPr>
              <a:t>Top-p</a:t>
            </a:r>
            <a:r>
              <a:rPr lang="zh-CN" altLang="en-US" sz="3600" b="1" dirty="0">
                <a:solidFill>
                  <a:srgbClr val="1E1E1E"/>
                </a:solidFill>
                <a:latin typeface="思源黑体 2 Bold"/>
                <a:ea typeface="思源黑体 2 Bold"/>
                <a:cs typeface="思源黑体 2 Bold"/>
                <a:sym typeface="思源黑体 2 Bold"/>
              </a:rPr>
              <a:t>对比</a:t>
            </a:r>
            <a:endParaRPr lang="en-US" sz="3600" b="1" dirty="0">
              <a:solidFill>
                <a:srgbClr val="1E1E1E"/>
              </a:solidFill>
              <a:latin typeface="思源黑体 2 Bold"/>
              <a:ea typeface="思源黑体 2 Bold"/>
              <a:cs typeface="思源黑体 2 Bold"/>
              <a:sym typeface="思源黑体 2 Bold"/>
            </a:endParaRPr>
          </a:p>
        </p:txBody>
      </p:sp>
      <p:pic>
        <p:nvPicPr>
          <p:cNvPr id="43" name="图片 42">
            <a:extLst>
              <a:ext uri="{FF2B5EF4-FFF2-40B4-BE49-F238E27FC236}">
                <a16:creationId xmlns:a16="http://schemas.microsoft.com/office/drawing/2014/main" id="{8CE59F1A-49B3-3AD9-EFE2-23917FD683BC}"/>
              </a:ext>
            </a:extLst>
          </p:cNvPr>
          <p:cNvPicPr>
            <a:picLocks noChangeAspect="1"/>
          </p:cNvPicPr>
          <p:nvPr/>
        </p:nvPicPr>
        <p:blipFill>
          <a:blip r:embed="rId2"/>
          <a:stretch>
            <a:fillRect/>
          </a:stretch>
        </p:blipFill>
        <p:spPr>
          <a:xfrm>
            <a:off x="1297528" y="6515100"/>
            <a:ext cx="14036664" cy="3038239"/>
          </a:xfrm>
          <a:prstGeom prst="rect">
            <a:avLst/>
          </a:prstGeom>
        </p:spPr>
      </p:pic>
      <p:pic>
        <p:nvPicPr>
          <p:cNvPr id="48" name="图片 47">
            <a:extLst>
              <a:ext uri="{FF2B5EF4-FFF2-40B4-BE49-F238E27FC236}">
                <a16:creationId xmlns:a16="http://schemas.microsoft.com/office/drawing/2014/main" id="{F576CD70-30B8-AF1C-BC4F-9525738E41B1}"/>
              </a:ext>
            </a:extLst>
          </p:cNvPr>
          <p:cNvPicPr>
            <a:picLocks noChangeAspect="1"/>
          </p:cNvPicPr>
          <p:nvPr/>
        </p:nvPicPr>
        <p:blipFill>
          <a:blip r:embed="rId3"/>
          <a:stretch>
            <a:fillRect/>
          </a:stretch>
        </p:blipFill>
        <p:spPr>
          <a:xfrm>
            <a:off x="1057547" y="1957131"/>
            <a:ext cx="16259098" cy="2764047"/>
          </a:xfrm>
          <a:prstGeom prst="rect">
            <a:avLst/>
          </a:prstGeom>
        </p:spPr>
      </p:pic>
    </p:spTree>
    <p:extLst>
      <p:ext uri="{BB962C8B-B14F-4D97-AF65-F5344CB8AC3E}">
        <p14:creationId xmlns:p14="http://schemas.microsoft.com/office/powerpoint/2010/main" val="1047446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443D-F372-DFA8-AD7E-CDF83AF31AB7}"/>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71A8A294-6DCF-1B8E-6C29-779D1190BD11}"/>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4922A6EF-6EB4-A9E1-ACF1-431A655ECED7}"/>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30CCD891-9ED0-4EDC-AFEB-3D779E46D960}"/>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D6790408-9424-EED8-E122-2447C5597061}"/>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11F360F5-92AC-F934-A122-1CCD3F92FDE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DCED8C0E-F1EF-D2C8-E8FD-3521F2358AEF}"/>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EC3679EE-390B-E8A4-403C-42F25E6F7787}"/>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1DC58326-A1A9-BD9E-376A-778FD3A47E1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0D2DC748-B2BB-D9D2-B7AC-CCAC5651AB9A}"/>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56FA354C-407A-ED10-DF3B-4E3172C7D924}"/>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5A596075-8C1C-0F99-0C99-45A5BAF4F0EE}"/>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EE0EA848-A532-9124-84CC-66BB18D8B3AB}"/>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3573DCB9-D6E2-3C4F-8CEA-7F3EA7317C17}"/>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A81B39ED-0A30-8AA7-7527-4AC1369E353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01280DD5-43A4-A7D5-40DA-2D78B17BAF72}"/>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BD65F705-CB6F-4496-2E6B-138106020602}"/>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DFE8738C-01C4-8FBE-E11B-F69F082C1CBE}"/>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ADB47680-9D1A-2086-B21D-E39CEB2FFE85}"/>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30" name="TextBox 30">
            <a:extLst>
              <a:ext uri="{FF2B5EF4-FFF2-40B4-BE49-F238E27FC236}">
                <a16:creationId xmlns:a16="http://schemas.microsoft.com/office/drawing/2014/main" id="{36CC69D1-9DF5-BF7B-9794-66DCC209156C}"/>
              </a:ext>
            </a:extLst>
          </p:cNvPr>
          <p:cNvSpPr txBox="1"/>
          <p:nvPr/>
        </p:nvSpPr>
        <p:spPr>
          <a:xfrm>
            <a:off x="117491" y="1351100"/>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en-US" altLang="zh-CN" sz="3600" b="1" dirty="0" err="1">
                <a:solidFill>
                  <a:srgbClr val="1E1E1E"/>
                </a:solidFill>
                <a:latin typeface="思源黑体 2 Bold"/>
                <a:ea typeface="思源黑体 2 Bold"/>
                <a:cs typeface="思源黑体 2 Bold"/>
                <a:sym typeface="思源黑体 2 Bold"/>
              </a:rPr>
              <a:t>max_tokens</a:t>
            </a:r>
            <a:r>
              <a:rPr lang="en-US" altLang="zh-CN" sz="3600" b="1" dirty="0">
                <a:solidFill>
                  <a:srgbClr val="1E1E1E"/>
                </a:solidFill>
                <a:latin typeface="思源黑体 2 Bold"/>
                <a:ea typeface="思源黑体 2 Bold"/>
                <a:cs typeface="思源黑体 2 Bold"/>
                <a:sym typeface="思源黑体 2 Bold"/>
              </a:rPr>
              <a:t> </a:t>
            </a:r>
            <a:r>
              <a:rPr lang="zh-CN" altLang="en-US" sz="3600" b="1" dirty="0">
                <a:solidFill>
                  <a:srgbClr val="1E1E1E"/>
                </a:solidFill>
                <a:latin typeface="思源黑体 2 Bold"/>
                <a:ea typeface="思源黑体 2 Bold"/>
                <a:cs typeface="思源黑体 2 Bold"/>
                <a:sym typeface="思源黑体 2 Bold"/>
              </a:rPr>
              <a:t>对比</a:t>
            </a:r>
            <a:endParaRPr lang="en-US" sz="3600" b="1" dirty="0">
              <a:solidFill>
                <a:srgbClr val="1E1E1E"/>
              </a:solidFill>
              <a:latin typeface="思源黑体 2 Bold"/>
              <a:ea typeface="思源黑体 2 Bold"/>
              <a:cs typeface="思源黑体 2 Bold"/>
              <a:sym typeface="思源黑体 2 Bold"/>
            </a:endParaRPr>
          </a:p>
        </p:txBody>
      </p:sp>
      <p:sp>
        <p:nvSpPr>
          <p:cNvPr id="3" name="TextBox 2">
            <a:extLst>
              <a:ext uri="{FF2B5EF4-FFF2-40B4-BE49-F238E27FC236}">
                <a16:creationId xmlns:a16="http://schemas.microsoft.com/office/drawing/2014/main" id="{AE346F5E-23F9-6B87-9ADB-B25F82FC9AD0}"/>
              </a:ext>
            </a:extLst>
          </p:cNvPr>
          <p:cNvSpPr txBox="1"/>
          <p:nvPr/>
        </p:nvSpPr>
        <p:spPr>
          <a:xfrm>
            <a:off x="1297528" y="350350"/>
            <a:ext cx="10437272" cy="795089"/>
          </a:xfrm>
          <a:prstGeom prst="rect">
            <a:avLst/>
          </a:prstGeom>
        </p:spPr>
        <p:txBody>
          <a:bodyPr wrap="square" lIns="0" tIns="0" rIns="0" bIns="0" rtlCol="0" anchor="t">
            <a:spAutoFit/>
          </a:bodyPr>
          <a:lstStyle/>
          <a:p>
            <a:pPr algn="l">
              <a:lnSpc>
                <a:spcPts val="6239"/>
              </a:lnSpc>
            </a:pPr>
            <a:r>
              <a:rPr lang="en-US" sz="5199" b="1" dirty="0">
                <a:solidFill>
                  <a:srgbClr val="100F0D"/>
                </a:solidFill>
                <a:latin typeface="思源黑体 2 Heavy"/>
                <a:ea typeface="思源黑体 2 Heavy"/>
                <a:cs typeface="思源黑体 2 Heavy"/>
                <a:sym typeface="思源黑体 2 Heavy"/>
              </a:rPr>
              <a:t>Prompt</a:t>
            </a:r>
            <a:r>
              <a:rPr lang="zh-CN" altLang="en-US" sz="5199" b="1" dirty="0">
                <a:solidFill>
                  <a:srgbClr val="100F0D"/>
                </a:solidFill>
                <a:latin typeface="思源黑体 2 Heavy"/>
                <a:ea typeface="思源黑体 2 Heavy"/>
                <a:cs typeface="思源黑体 2 Heavy"/>
                <a:sym typeface="思源黑体 2 Heavy"/>
              </a:rPr>
              <a:t>参数实验</a:t>
            </a:r>
            <a:endParaRPr lang="en-US" sz="5199" b="1" dirty="0">
              <a:solidFill>
                <a:srgbClr val="100F0D"/>
              </a:solidFill>
              <a:latin typeface="思源黑体 2 Heavy"/>
              <a:ea typeface="思源黑体 2 Heavy"/>
              <a:cs typeface="思源黑体 2 Heavy"/>
              <a:sym typeface="思源黑体 2 Heavy"/>
            </a:endParaRPr>
          </a:p>
        </p:txBody>
      </p:sp>
      <p:pic>
        <p:nvPicPr>
          <p:cNvPr id="24" name="图片 23">
            <a:extLst>
              <a:ext uri="{FF2B5EF4-FFF2-40B4-BE49-F238E27FC236}">
                <a16:creationId xmlns:a16="http://schemas.microsoft.com/office/drawing/2014/main" id="{880C6149-0CEE-3E6F-26AF-3D1F8A9FCD65}"/>
              </a:ext>
            </a:extLst>
          </p:cNvPr>
          <p:cNvPicPr>
            <a:picLocks noChangeAspect="1"/>
          </p:cNvPicPr>
          <p:nvPr/>
        </p:nvPicPr>
        <p:blipFill>
          <a:blip r:embed="rId3"/>
          <a:stretch>
            <a:fillRect/>
          </a:stretch>
        </p:blipFill>
        <p:spPr>
          <a:xfrm>
            <a:off x="831663" y="2761755"/>
            <a:ext cx="16624673" cy="2708776"/>
          </a:xfrm>
          <a:prstGeom prst="rect">
            <a:avLst/>
          </a:prstGeom>
        </p:spPr>
      </p:pic>
      <p:sp>
        <p:nvSpPr>
          <p:cNvPr id="28" name="TextBox 29">
            <a:extLst>
              <a:ext uri="{FF2B5EF4-FFF2-40B4-BE49-F238E27FC236}">
                <a16:creationId xmlns:a16="http://schemas.microsoft.com/office/drawing/2014/main" id="{354A8D46-53F8-385B-A624-4DF2224AFD6E}"/>
              </a:ext>
            </a:extLst>
          </p:cNvPr>
          <p:cNvSpPr txBox="1"/>
          <p:nvPr/>
        </p:nvSpPr>
        <p:spPr>
          <a:xfrm>
            <a:off x="1297528" y="5715196"/>
            <a:ext cx="14803567" cy="2867901"/>
          </a:xfrm>
          <a:prstGeom prst="rect">
            <a:avLst/>
          </a:prstGeom>
        </p:spPr>
        <p:txBody>
          <a:bodyPr wrap="square" lIns="0" tIns="0" rIns="0" bIns="0" rtlCol="0" anchor="t">
            <a:spAutoFit/>
          </a:bodyPr>
          <a:lstStyle/>
          <a:p>
            <a:pPr marL="0" lvl="0" indent="0">
              <a:lnSpc>
                <a:spcPct val="150000"/>
              </a:lnSpc>
              <a:spcBef>
                <a:spcPct val="0"/>
              </a:spcBef>
            </a:pPr>
            <a:r>
              <a:rPr lang="zh-CN" altLang="en-US" sz="3200" dirty="0">
                <a:solidFill>
                  <a:srgbClr val="100F0D"/>
                </a:solidFill>
                <a:latin typeface="思源黑体 2"/>
                <a:ea typeface="思源黑体 2"/>
                <a:cs typeface="思源黑体 2"/>
                <a:sym typeface="思源黑体 2"/>
              </a:rPr>
              <a:t>≤</a:t>
            </a:r>
            <a:r>
              <a:rPr lang="en-US" altLang="zh-CN" sz="3200" dirty="0">
                <a:solidFill>
                  <a:srgbClr val="100F0D"/>
                </a:solidFill>
                <a:latin typeface="思源黑体 2"/>
                <a:ea typeface="思源黑体 2"/>
                <a:cs typeface="思源黑体 2"/>
                <a:sym typeface="思源黑体 2"/>
              </a:rPr>
              <a:t>1024 → </a:t>
            </a:r>
            <a:r>
              <a:rPr lang="zh-CN" altLang="en-US" sz="3200" dirty="0">
                <a:solidFill>
                  <a:srgbClr val="100F0D"/>
                </a:solidFill>
                <a:latin typeface="思源黑体 2"/>
                <a:ea typeface="思源黑体 2"/>
                <a:cs typeface="思源黑体 2"/>
                <a:sym typeface="思源黑体 2"/>
              </a:rPr>
              <a:t>回答</a:t>
            </a:r>
            <a:r>
              <a:rPr lang="en-US" altLang="zh-CN" sz="3200" dirty="0">
                <a:solidFill>
                  <a:srgbClr val="100F0D"/>
                </a:solidFill>
                <a:latin typeface="思源黑体 2"/>
                <a:ea typeface="思源黑体 2"/>
                <a:cs typeface="思源黑体 2"/>
                <a:sym typeface="思源黑体 2"/>
              </a:rPr>
              <a:t>0</a:t>
            </a:r>
            <a:r>
              <a:rPr lang="zh-CN" altLang="en-US" sz="3200" dirty="0">
                <a:solidFill>
                  <a:srgbClr val="100F0D"/>
                </a:solidFill>
                <a:latin typeface="思源黑体 2"/>
                <a:ea typeface="思源黑体 2"/>
                <a:cs typeface="思源黑体 2"/>
                <a:sym typeface="思源黑体 2"/>
              </a:rPr>
              <a:t>字</a:t>
            </a:r>
            <a:r>
              <a:rPr lang="en-US" altLang="zh-CN" sz="3200" dirty="0">
                <a:solidFill>
                  <a:srgbClr val="100F0D"/>
                </a:solidFill>
                <a:latin typeface="思源黑体 2"/>
                <a:ea typeface="思源黑体 2"/>
                <a:cs typeface="思源黑体 2"/>
                <a:sym typeface="思源黑体 2"/>
              </a:rPr>
              <a:t>-&gt;</a:t>
            </a:r>
            <a:r>
              <a:rPr lang="zh-CN" altLang="en-US" sz="3200" dirty="0">
                <a:solidFill>
                  <a:srgbClr val="100F0D"/>
                </a:solidFill>
                <a:latin typeface="思源黑体 2"/>
                <a:ea typeface="思源黑体 2"/>
                <a:cs typeface="思源黑体 2"/>
                <a:sym typeface="思源黑体 2"/>
              </a:rPr>
              <a:t>推理模型内部耗尽</a:t>
            </a:r>
            <a:r>
              <a:rPr lang="en-US" altLang="zh-CN" sz="3200" dirty="0">
                <a:solidFill>
                  <a:srgbClr val="100F0D"/>
                </a:solidFill>
                <a:latin typeface="思源黑体 2"/>
                <a:ea typeface="思源黑体 2"/>
                <a:cs typeface="思源黑体 2"/>
                <a:sym typeface="思源黑体 2"/>
              </a:rPr>
              <a:t>Token</a:t>
            </a:r>
          </a:p>
          <a:p>
            <a:pPr marL="0" lvl="0" indent="0">
              <a:lnSpc>
                <a:spcPct val="150000"/>
              </a:lnSpc>
              <a:spcBef>
                <a:spcPct val="0"/>
              </a:spcBef>
            </a:pPr>
            <a:r>
              <a:rPr lang="en-US" altLang="zh-CN" sz="3200" dirty="0">
                <a:solidFill>
                  <a:srgbClr val="100F0D"/>
                </a:solidFill>
                <a:latin typeface="思源黑体 2"/>
                <a:ea typeface="思源黑体 2"/>
                <a:cs typeface="思源黑体 2"/>
                <a:sym typeface="思源黑体 2"/>
              </a:rPr>
              <a:t>4096 → </a:t>
            </a:r>
            <a:r>
              <a:rPr lang="zh-CN" altLang="en-US" sz="3200" dirty="0">
                <a:solidFill>
                  <a:srgbClr val="100F0D"/>
                </a:solidFill>
                <a:latin typeface="思源黑体 2"/>
                <a:ea typeface="思源黑体 2"/>
                <a:cs typeface="思源黑体 2"/>
                <a:sym typeface="思源黑体 2"/>
              </a:rPr>
              <a:t>回答完整（</a:t>
            </a:r>
            <a:r>
              <a:rPr lang="en-US" altLang="zh-CN" sz="3200" dirty="0">
                <a:solidFill>
                  <a:srgbClr val="100F0D"/>
                </a:solidFill>
                <a:latin typeface="思源黑体 2"/>
                <a:ea typeface="思源黑体 2"/>
                <a:cs typeface="思源黑体 2"/>
                <a:sym typeface="思源黑体 2"/>
              </a:rPr>
              <a:t>1244</a:t>
            </a:r>
            <a:r>
              <a:rPr lang="zh-CN" altLang="en-US" sz="3200" dirty="0">
                <a:solidFill>
                  <a:srgbClr val="100F0D"/>
                </a:solidFill>
                <a:latin typeface="思源黑体 2"/>
                <a:ea typeface="思源黑体 2"/>
                <a:cs typeface="思源黑体 2"/>
                <a:sym typeface="思源黑体 2"/>
              </a:rPr>
              <a:t>字）</a:t>
            </a:r>
            <a:r>
              <a:rPr lang="en-US" altLang="zh-CN" sz="3200" dirty="0">
                <a:solidFill>
                  <a:srgbClr val="100F0D"/>
                </a:solidFill>
                <a:latin typeface="思源黑体 2"/>
                <a:ea typeface="思源黑体 2"/>
                <a:cs typeface="思源黑体 2"/>
                <a:sym typeface="思源黑体 2"/>
              </a:rPr>
              <a:t>-&gt;</a:t>
            </a:r>
            <a:r>
              <a:rPr lang="zh-CN" altLang="en-US" sz="3200" dirty="0">
                <a:solidFill>
                  <a:srgbClr val="100F0D"/>
                </a:solidFill>
                <a:latin typeface="思源黑体 2"/>
                <a:ea typeface="思源黑体 2"/>
                <a:cs typeface="思源黑体 2"/>
                <a:sym typeface="思源黑体 2"/>
              </a:rPr>
              <a:t>最低可用值</a:t>
            </a:r>
          </a:p>
          <a:p>
            <a:pPr marL="0" lvl="0" indent="0">
              <a:lnSpc>
                <a:spcPct val="150000"/>
              </a:lnSpc>
              <a:spcBef>
                <a:spcPct val="0"/>
              </a:spcBef>
            </a:pPr>
            <a:r>
              <a:rPr lang="en-US" altLang="zh-CN" sz="3200" dirty="0">
                <a:solidFill>
                  <a:srgbClr val="100F0D"/>
                </a:solidFill>
                <a:latin typeface="思源黑体 2"/>
                <a:ea typeface="思源黑体 2"/>
                <a:cs typeface="思源黑体 2"/>
                <a:sym typeface="思源黑体 2"/>
              </a:rPr>
              <a:t>8192 → </a:t>
            </a:r>
            <a:r>
              <a:rPr lang="zh-CN" altLang="en-US" sz="3200" dirty="0">
                <a:solidFill>
                  <a:srgbClr val="100F0D"/>
                </a:solidFill>
                <a:latin typeface="思源黑体 2"/>
                <a:ea typeface="思源黑体 2"/>
                <a:cs typeface="思源黑体 2"/>
                <a:sym typeface="思源黑体 2"/>
              </a:rPr>
              <a:t>留有安全余量 </a:t>
            </a:r>
            <a:r>
              <a:rPr lang="en-US" altLang="zh-CN" sz="3200" dirty="0">
                <a:solidFill>
                  <a:srgbClr val="100F0D"/>
                </a:solidFill>
                <a:latin typeface="思源黑体 2"/>
                <a:ea typeface="思源黑体 2"/>
                <a:cs typeface="思源黑体 2"/>
                <a:sym typeface="思源黑体 2"/>
              </a:rPr>
              <a:t>-&gt;</a:t>
            </a:r>
            <a:r>
              <a:rPr lang="zh-CN" altLang="en-US" sz="3200" dirty="0">
                <a:solidFill>
                  <a:srgbClr val="100F0D"/>
                </a:solidFill>
                <a:latin typeface="思源黑体 2"/>
                <a:ea typeface="思源黑体 2"/>
                <a:cs typeface="思源黑体 2"/>
                <a:sym typeface="思源黑体 2"/>
              </a:rPr>
              <a:t>最终选择</a:t>
            </a:r>
            <a:endParaRPr lang="en-US" altLang="zh-CN" sz="3200" dirty="0">
              <a:solidFill>
                <a:srgbClr val="100F0D"/>
              </a:solidFill>
              <a:latin typeface="思源黑体 2"/>
              <a:ea typeface="思源黑体 2"/>
              <a:cs typeface="思源黑体 2"/>
              <a:sym typeface="思源黑体 2"/>
            </a:endParaRPr>
          </a:p>
          <a:p>
            <a:pPr marL="0" lvl="0" indent="0">
              <a:lnSpc>
                <a:spcPct val="150000"/>
              </a:lnSpc>
              <a:spcBef>
                <a:spcPct val="0"/>
              </a:spcBef>
            </a:pPr>
            <a:endParaRPr lang="zh-CN" altLang="en-US" sz="3200" dirty="0">
              <a:solidFill>
                <a:srgbClr val="100F0D"/>
              </a:solidFill>
              <a:latin typeface="思源黑体 2"/>
              <a:ea typeface="思源黑体 2"/>
              <a:cs typeface="思源黑体 2"/>
              <a:sym typeface="思源黑体 2"/>
            </a:endParaRPr>
          </a:p>
        </p:txBody>
      </p:sp>
    </p:spTree>
    <p:extLst>
      <p:ext uri="{BB962C8B-B14F-4D97-AF65-F5344CB8AC3E}">
        <p14:creationId xmlns:p14="http://schemas.microsoft.com/office/powerpoint/2010/main" val="3758310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820A1-1461-0FCF-278E-4B56077BA5A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A941133-1070-E54D-D2E0-7331A4D7BD69}"/>
              </a:ext>
            </a:extLst>
          </p:cNvPr>
          <p:cNvGrpSpPr/>
          <p:nvPr/>
        </p:nvGrpSpPr>
        <p:grpSpPr>
          <a:xfrm>
            <a:off x="11951784" y="-4585021"/>
            <a:ext cx="14954963" cy="21156019"/>
            <a:chOff x="0" y="0"/>
            <a:chExt cx="19939950" cy="28208025"/>
          </a:xfrm>
        </p:grpSpPr>
        <p:grpSp>
          <p:nvGrpSpPr>
            <p:cNvPr id="3" name="Group 3">
              <a:extLst>
                <a:ext uri="{FF2B5EF4-FFF2-40B4-BE49-F238E27FC236}">
                  <a16:creationId xmlns:a16="http://schemas.microsoft.com/office/drawing/2014/main" id="{338792EB-DDFF-FC94-2622-BE3C46C409FA}"/>
                </a:ext>
              </a:extLst>
            </p:cNvPr>
            <p:cNvGrpSpPr/>
            <p:nvPr/>
          </p:nvGrpSpPr>
          <p:grpSpPr>
            <a:xfrm>
              <a:off x="2979307" y="0"/>
              <a:ext cx="12531397" cy="11964703"/>
              <a:chOff x="0" y="0"/>
              <a:chExt cx="851297" cy="812800"/>
            </a:xfrm>
          </p:grpSpPr>
          <p:sp>
            <p:nvSpPr>
              <p:cNvPr id="4" name="Freeform 4">
                <a:extLst>
                  <a:ext uri="{FF2B5EF4-FFF2-40B4-BE49-F238E27FC236}">
                    <a16:creationId xmlns:a16="http://schemas.microsoft.com/office/drawing/2014/main" id="{68D102BA-170E-BCF9-E4AD-ED15E182325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a:extLst>
                  <a:ext uri="{FF2B5EF4-FFF2-40B4-BE49-F238E27FC236}">
                    <a16:creationId xmlns:a16="http://schemas.microsoft.com/office/drawing/2014/main" id="{B1CEC5ED-7E39-2E0E-A624-97324A1AEF88}"/>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a:extLst>
                <a:ext uri="{FF2B5EF4-FFF2-40B4-BE49-F238E27FC236}">
                  <a16:creationId xmlns:a16="http://schemas.microsoft.com/office/drawing/2014/main" id="{B2145FED-7E85-BD3F-AFCC-400BF8A5BC8F}"/>
                </a:ext>
              </a:extLst>
            </p:cNvPr>
            <p:cNvGrpSpPr/>
            <p:nvPr/>
          </p:nvGrpSpPr>
          <p:grpSpPr>
            <a:xfrm>
              <a:off x="5641873" y="3801375"/>
              <a:ext cx="12531397" cy="11964703"/>
              <a:chOff x="0" y="0"/>
              <a:chExt cx="851297" cy="812800"/>
            </a:xfrm>
          </p:grpSpPr>
          <p:sp>
            <p:nvSpPr>
              <p:cNvPr id="7" name="Freeform 7">
                <a:extLst>
                  <a:ext uri="{FF2B5EF4-FFF2-40B4-BE49-F238E27FC236}">
                    <a16:creationId xmlns:a16="http://schemas.microsoft.com/office/drawing/2014/main" id="{42AB4CDD-37F2-1C7B-F578-7B35997C80B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a:extLst>
                  <a:ext uri="{FF2B5EF4-FFF2-40B4-BE49-F238E27FC236}">
                    <a16:creationId xmlns:a16="http://schemas.microsoft.com/office/drawing/2014/main" id="{A476AF5F-C1C0-5A66-1112-A4626E939CDC}"/>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a:extLst>
                <a:ext uri="{FF2B5EF4-FFF2-40B4-BE49-F238E27FC236}">
                  <a16:creationId xmlns:a16="http://schemas.microsoft.com/office/drawing/2014/main" id="{4A536514-F139-2C7D-3B5C-58BE807C40B3}"/>
                </a:ext>
              </a:extLst>
            </p:cNvPr>
            <p:cNvGrpSpPr/>
            <p:nvPr/>
          </p:nvGrpSpPr>
          <p:grpSpPr>
            <a:xfrm>
              <a:off x="7408553" y="6714596"/>
              <a:ext cx="12531397" cy="11964703"/>
              <a:chOff x="0" y="0"/>
              <a:chExt cx="851297" cy="812800"/>
            </a:xfrm>
          </p:grpSpPr>
          <p:sp>
            <p:nvSpPr>
              <p:cNvPr id="10" name="Freeform 10">
                <a:extLst>
                  <a:ext uri="{FF2B5EF4-FFF2-40B4-BE49-F238E27FC236}">
                    <a16:creationId xmlns:a16="http://schemas.microsoft.com/office/drawing/2014/main" id="{3562552B-5594-5AE1-6CD6-5CAF9494312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a:extLst>
                  <a:ext uri="{FF2B5EF4-FFF2-40B4-BE49-F238E27FC236}">
                    <a16:creationId xmlns:a16="http://schemas.microsoft.com/office/drawing/2014/main" id="{224BCA3A-E231-D66E-BF7F-B24CB619D62A}"/>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a:extLst>
                <a:ext uri="{FF2B5EF4-FFF2-40B4-BE49-F238E27FC236}">
                  <a16:creationId xmlns:a16="http://schemas.microsoft.com/office/drawing/2014/main" id="{7C290ABD-E5AF-1526-055A-23808F5DF407}"/>
                </a:ext>
              </a:extLst>
            </p:cNvPr>
            <p:cNvGrpSpPr/>
            <p:nvPr/>
          </p:nvGrpSpPr>
          <p:grpSpPr>
            <a:xfrm>
              <a:off x="4568307" y="15697698"/>
              <a:ext cx="9353396" cy="8930418"/>
              <a:chOff x="0" y="0"/>
              <a:chExt cx="851297" cy="812800"/>
            </a:xfrm>
          </p:grpSpPr>
          <p:sp>
            <p:nvSpPr>
              <p:cNvPr id="13" name="Freeform 13">
                <a:extLst>
                  <a:ext uri="{FF2B5EF4-FFF2-40B4-BE49-F238E27FC236}">
                    <a16:creationId xmlns:a16="http://schemas.microsoft.com/office/drawing/2014/main" id="{0CB6A45F-7FF8-424A-BE11-A347A6AE1C3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a:extLst>
                  <a:ext uri="{FF2B5EF4-FFF2-40B4-BE49-F238E27FC236}">
                    <a16:creationId xmlns:a16="http://schemas.microsoft.com/office/drawing/2014/main" id="{7A80CC28-77DA-E807-FF1A-89BECA067B3A}"/>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a:extLst>
                <a:ext uri="{FF2B5EF4-FFF2-40B4-BE49-F238E27FC236}">
                  <a16:creationId xmlns:a16="http://schemas.microsoft.com/office/drawing/2014/main" id="{C066F51B-2495-323F-E8C4-5345EEF88EBF}"/>
                </a:ext>
              </a:extLst>
            </p:cNvPr>
            <p:cNvGrpSpPr/>
            <p:nvPr/>
          </p:nvGrpSpPr>
          <p:grpSpPr>
            <a:xfrm rot="2700000">
              <a:off x="1734689" y="17150758"/>
              <a:ext cx="9714738" cy="8930418"/>
              <a:chOff x="0" y="0"/>
              <a:chExt cx="884185" cy="812800"/>
            </a:xfrm>
          </p:grpSpPr>
          <p:sp>
            <p:nvSpPr>
              <p:cNvPr id="16" name="Freeform 16">
                <a:extLst>
                  <a:ext uri="{FF2B5EF4-FFF2-40B4-BE49-F238E27FC236}">
                    <a16:creationId xmlns:a16="http://schemas.microsoft.com/office/drawing/2014/main" id="{64CC55B0-6666-33FA-5460-9E10E218BA57}"/>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a:extLst>
                  <a:ext uri="{FF2B5EF4-FFF2-40B4-BE49-F238E27FC236}">
                    <a16:creationId xmlns:a16="http://schemas.microsoft.com/office/drawing/2014/main" id="{843F3053-E337-2296-A68E-BF07271B6C00}"/>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8" name="Group 18">
            <a:extLst>
              <a:ext uri="{FF2B5EF4-FFF2-40B4-BE49-F238E27FC236}">
                <a16:creationId xmlns:a16="http://schemas.microsoft.com/office/drawing/2014/main" id="{C9F3092D-5D03-B660-7B5A-8A203E46E744}"/>
              </a:ext>
            </a:extLst>
          </p:cNvPr>
          <p:cNvGrpSpPr/>
          <p:nvPr/>
        </p:nvGrpSpPr>
        <p:grpSpPr>
          <a:xfrm>
            <a:off x="-8618746" y="-6283998"/>
            <a:ext cx="14954963" cy="21156019"/>
            <a:chOff x="0" y="0"/>
            <a:chExt cx="19939950" cy="28208025"/>
          </a:xfrm>
        </p:grpSpPr>
        <p:grpSp>
          <p:nvGrpSpPr>
            <p:cNvPr id="19" name="Group 19">
              <a:extLst>
                <a:ext uri="{FF2B5EF4-FFF2-40B4-BE49-F238E27FC236}">
                  <a16:creationId xmlns:a16="http://schemas.microsoft.com/office/drawing/2014/main" id="{854797F7-4DC8-E457-9AA1-8E180CF78CAD}"/>
                </a:ext>
              </a:extLst>
            </p:cNvPr>
            <p:cNvGrpSpPr/>
            <p:nvPr/>
          </p:nvGrpSpPr>
          <p:grpSpPr>
            <a:xfrm rot="-10800000">
              <a:off x="4429246" y="16243322"/>
              <a:ext cx="12531397" cy="11964703"/>
              <a:chOff x="0" y="0"/>
              <a:chExt cx="851297" cy="812800"/>
            </a:xfrm>
          </p:grpSpPr>
          <p:sp>
            <p:nvSpPr>
              <p:cNvPr id="20" name="Freeform 20">
                <a:extLst>
                  <a:ext uri="{FF2B5EF4-FFF2-40B4-BE49-F238E27FC236}">
                    <a16:creationId xmlns:a16="http://schemas.microsoft.com/office/drawing/2014/main" id="{05A9640D-9D9B-3787-DBC8-0FE9B74D6B2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a:extLst>
                  <a:ext uri="{FF2B5EF4-FFF2-40B4-BE49-F238E27FC236}">
                    <a16:creationId xmlns:a16="http://schemas.microsoft.com/office/drawing/2014/main" id="{F57051E6-7052-85EC-BFDF-DE8068899D74}"/>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58CB8E7B-1917-6B26-B7A1-6DC11465D462}"/>
                </a:ext>
              </a:extLst>
            </p:cNvPr>
            <p:cNvGrpSpPr/>
            <p:nvPr/>
          </p:nvGrpSpPr>
          <p:grpSpPr>
            <a:xfrm rot="-10800000">
              <a:off x="1766680" y="12441947"/>
              <a:ext cx="12531397" cy="11964703"/>
              <a:chOff x="0" y="0"/>
              <a:chExt cx="851297" cy="812800"/>
            </a:xfrm>
          </p:grpSpPr>
          <p:sp>
            <p:nvSpPr>
              <p:cNvPr id="23" name="Freeform 23">
                <a:extLst>
                  <a:ext uri="{FF2B5EF4-FFF2-40B4-BE49-F238E27FC236}">
                    <a16:creationId xmlns:a16="http://schemas.microsoft.com/office/drawing/2014/main" id="{96AC0D91-C91E-C813-BC6F-B576792135C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a:extLst>
                  <a:ext uri="{FF2B5EF4-FFF2-40B4-BE49-F238E27FC236}">
                    <a16:creationId xmlns:a16="http://schemas.microsoft.com/office/drawing/2014/main" id="{B3B57CC8-002F-88B8-1641-3C7A24E7BC7F}"/>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EFCA1160-4945-4C7B-9BF3-5F5064024569}"/>
                </a:ext>
              </a:extLst>
            </p:cNvPr>
            <p:cNvGrpSpPr/>
            <p:nvPr/>
          </p:nvGrpSpPr>
          <p:grpSpPr>
            <a:xfrm rot="-10800000">
              <a:off x="0" y="9528727"/>
              <a:ext cx="12531397" cy="11964703"/>
              <a:chOff x="0" y="0"/>
              <a:chExt cx="851297" cy="812800"/>
            </a:xfrm>
          </p:grpSpPr>
          <p:sp>
            <p:nvSpPr>
              <p:cNvPr id="26" name="Freeform 26">
                <a:extLst>
                  <a:ext uri="{FF2B5EF4-FFF2-40B4-BE49-F238E27FC236}">
                    <a16:creationId xmlns:a16="http://schemas.microsoft.com/office/drawing/2014/main" id="{C32E533D-0678-C1BE-E4EE-21B4E009BCD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a:extLst>
                  <a:ext uri="{FF2B5EF4-FFF2-40B4-BE49-F238E27FC236}">
                    <a16:creationId xmlns:a16="http://schemas.microsoft.com/office/drawing/2014/main" id="{3A9A9FC3-1A2C-9385-F215-B83A9F34A541}"/>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8">
              <a:extLst>
                <a:ext uri="{FF2B5EF4-FFF2-40B4-BE49-F238E27FC236}">
                  <a16:creationId xmlns:a16="http://schemas.microsoft.com/office/drawing/2014/main" id="{CDF63C2C-6224-B07E-FD24-719F813153CB}"/>
                </a:ext>
              </a:extLst>
            </p:cNvPr>
            <p:cNvGrpSpPr/>
            <p:nvPr/>
          </p:nvGrpSpPr>
          <p:grpSpPr>
            <a:xfrm rot="-10800000">
              <a:off x="6018247" y="3579910"/>
              <a:ext cx="9353396" cy="8930418"/>
              <a:chOff x="0" y="0"/>
              <a:chExt cx="851297" cy="812800"/>
            </a:xfrm>
          </p:grpSpPr>
          <p:sp>
            <p:nvSpPr>
              <p:cNvPr id="29" name="Freeform 29">
                <a:extLst>
                  <a:ext uri="{FF2B5EF4-FFF2-40B4-BE49-F238E27FC236}">
                    <a16:creationId xmlns:a16="http://schemas.microsoft.com/office/drawing/2014/main" id="{B5AACE9A-E8CA-5531-E5C9-7D4D78B47D2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a:extLst>
                  <a:ext uri="{FF2B5EF4-FFF2-40B4-BE49-F238E27FC236}">
                    <a16:creationId xmlns:a16="http://schemas.microsoft.com/office/drawing/2014/main" id="{092C3891-FF96-219E-F790-BFF5D28F0544}"/>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a:extLst>
                <a:ext uri="{FF2B5EF4-FFF2-40B4-BE49-F238E27FC236}">
                  <a16:creationId xmlns:a16="http://schemas.microsoft.com/office/drawing/2014/main" id="{BAD9B9F0-17FC-D3A2-15B7-5BBE1D22D470}"/>
                </a:ext>
              </a:extLst>
            </p:cNvPr>
            <p:cNvGrpSpPr/>
            <p:nvPr/>
          </p:nvGrpSpPr>
          <p:grpSpPr>
            <a:xfrm rot="-8100000">
              <a:off x="8490523" y="2126849"/>
              <a:ext cx="9714738" cy="8930418"/>
              <a:chOff x="0" y="0"/>
              <a:chExt cx="884185" cy="812800"/>
            </a:xfrm>
          </p:grpSpPr>
          <p:sp>
            <p:nvSpPr>
              <p:cNvPr id="32" name="Freeform 32">
                <a:extLst>
                  <a:ext uri="{FF2B5EF4-FFF2-40B4-BE49-F238E27FC236}">
                    <a16:creationId xmlns:a16="http://schemas.microsoft.com/office/drawing/2014/main" id="{3A17D0EE-0242-F1FB-4279-AD5DF18309CE}"/>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a:extLst>
                  <a:ext uri="{FF2B5EF4-FFF2-40B4-BE49-F238E27FC236}">
                    <a16:creationId xmlns:a16="http://schemas.microsoft.com/office/drawing/2014/main" id="{0221C3A2-4692-D9EB-E9A9-FEAA16E5EEEA}"/>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4" name="TextBox 34">
            <a:extLst>
              <a:ext uri="{FF2B5EF4-FFF2-40B4-BE49-F238E27FC236}">
                <a16:creationId xmlns:a16="http://schemas.microsoft.com/office/drawing/2014/main" id="{76B7B26C-5BEC-07EE-9BB7-CEE7BF9DEBCA}"/>
              </a:ext>
            </a:extLst>
          </p:cNvPr>
          <p:cNvSpPr txBox="1"/>
          <p:nvPr/>
        </p:nvSpPr>
        <p:spPr>
          <a:xfrm>
            <a:off x="7614610" y="2003127"/>
            <a:ext cx="3058781" cy="2354427"/>
          </a:xfrm>
          <a:prstGeom prst="rect">
            <a:avLst/>
          </a:prstGeom>
        </p:spPr>
        <p:txBody>
          <a:bodyPr lIns="0" tIns="0" rIns="0" bIns="0" rtlCol="0" anchor="t">
            <a:spAutoFit/>
          </a:bodyPr>
          <a:lstStyle/>
          <a:p>
            <a:pPr marL="0" marR="0" lvl="0" indent="0" algn="ctr" defTabSz="914400" rtl="0" eaLnBrk="1" fontAlgn="auto" latinLnBrk="0" hangingPunct="1">
              <a:lnSpc>
                <a:spcPts val="18969"/>
              </a:lnSpc>
              <a:spcBef>
                <a:spcPts val="0"/>
              </a:spcBef>
              <a:spcAft>
                <a:spcPts val="0"/>
              </a:spcAft>
              <a:buClrTx/>
              <a:buSzTx/>
              <a:buFontTx/>
              <a:buNone/>
              <a:tabLst/>
              <a:defRPr/>
            </a:pPr>
            <a:r>
              <a:rPr kumimoji="0" lang="en-US" sz="15808" b="1" i="0" u="none" strike="noStrike" kern="1200" cap="none" spc="0" normalizeH="0" baseline="0" noProof="0" dirty="0">
                <a:ln>
                  <a:noFill/>
                </a:ln>
                <a:solidFill>
                  <a:srgbClr val="263D6D"/>
                </a:solidFill>
                <a:effectLst/>
                <a:uLnTx/>
                <a:uFillTx/>
                <a:latin typeface="Akzidenz-Grotesk Bold"/>
                <a:ea typeface="Akzidenz-Grotesk Bold"/>
                <a:cs typeface="Akzidenz-Grotesk Bold"/>
                <a:sym typeface="Akzidenz-Grotesk Bold"/>
              </a:rPr>
              <a:t>02</a:t>
            </a:r>
          </a:p>
        </p:txBody>
      </p:sp>
      <p:sp>
        <p:nvSpPr>
          <p:cNvPr id="35" name="TextBox 35">
            <a:extLst>
              <a:ext uri="{FF2B5EF4-FFF2-40B4-BE49-F238E27FC236}">
                <a16:creationId xmlns:a16="http://schemas.microsoft.com/office/drawing/2014/main" id="{EF050E47-7F2B-B681-9437-BCFD67F49BA7}"/>
              </a:ext>
            </a:extLst>
          </p:cNvPr>
          <p:cNvSpPr txBox="1"/>
          <p:nvPr/>
        </p:nvSpPr>
        <p:spPr>
          <a:xfrm>
            <a:off x="4555787" y="4297020"/>
            <a:ext cx="9176426" cy="1324356"/>
          </a:xfrm>
          <a:prstGeom prst="rect">
            <a:avLst/>
          </a:prstGeom>
        </p:spPr>
        <p:txBody>
          <a:bodyPr lIns="0" tIns="0" rIns="0" bIns="0" rtlCol="0" anchor="t">
            <a:spAutoFit/>
          </a:bodyPr>
          <a:lstStyle/>
          <a:p>
            <a:pPr marL="0" marR="0" lvl="0" indent="0" algn="ctr" defTabSz="914400" rtl="0" eaLnBrk="1" fontAlgn="auto" latinLnBrk="0" hangingPunct="1">
              <a:lnSpc>
                <a:spcPts val="10692"/>
              </a:lnSpc>
              <a:spcBef>
                <a:spcPct val="0"/>
              </a:spcBef>
              <a:spcAft>
                <a:spcPts val="0"/>
              </a:spcAft>
              <a:buClrTx/>
              <a:buSzTx/>
              <a:buFontTx/>
              <a:buNone/>
              <a:tabLst/>
              <a:defRPr/>
            </a:pPr>
            <a:r>
              <a:rPr kumimoji="0" lang="zh-CN" altLang="en-US" sz="81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rPr>
              <a:t>模块</a:t>
            </a:r>
            <a:r>
              <a:rPr lang="zh-CN" altLang="en-US" sz="8100" b="1" dirty="0">
                <a:solidFill>
                  <a:srgbClr val="1E1E1E"/>
                </a:solidFill>
                <a:latin typeface="思源黑体 4 Bold"/>
                <a:ea typeface="思源黑体 4 Bold"/>
                <a:cs typeface="思源黑体 4 Bold"/>
                <a:sym typeface="思源黑体 4 Bold"/>
              </a:rPr>
              <a:t>三</a:t>
            </a:r>
            <a:endParaRPr kumimoji="0" lang="zh-CN" altLang="en-US" sz="81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endParaRPr>
          </a:p>
        </p:txBody>
      </p:sp>
      <p:grpSp>
        <p:nvGrpSpPr>
          <p:cNvPr id="36" name="Group 36">
            <a:extLst>
              <a:ext uri="{FF2B5EF4-FFF2-40B4-BE49-F238E27FC236}">
                <a16:creationId xmlns:a16="http://schemas.microsoft.com/office/drawing/2014/main" id="{2291DED9-FFCA-B9AF-ADF9-9F0030296F9A}"/>
              </a:ext>
            </a:extLst>
          </p:cNvPr>
          <p:cNvGrpSpPr/>
          <p:nvPr/>
        </p:nvGrpSpPr>
        <p:grpSpPr>
          <a:xfrm>
            <a:off x="6085219" y="5829511"/>
            <a:ext cx="6117561" cy="496991"/>
            <a:chOff x="0" y="0"/>
            <a:chExt cx="8300307" cy="674318"/>
          </a:xfrm>
        </p:grpSpPr>
        <p:sp>
          <p:nvSpPr>
            <p:cNvPr id="37" name="Freeform 37">
              <a:extLst>
                <a:ext uri="{FF2B5EF4-FFF2-40B4-BE49-F238E27FC236}">
                  <a16:creationId xmlns:a16="http://schemas.microsoft.com/office/drawing/2014/main" id="{34E67188-4D31-D128-0539-6C474986C0E8}"/>
                </a:ext>
              </a:extLst>
            </p:cNvPr>
            <p:cNvSpPr/>
            <p:nvPr/>
          </p:nvSpPr>
          <p:spPr>
            <a:xfrm>
              <a:off x="0" y="0"/>
              <a:ext cx="8300307" cy="674318"/>
            </a:xfrm>
            <a:custGeom>
              <a:avLst/>
              <a:gdLst/>
              <a:ahLst/>
              <a:cxnLst/>
              <a:rect l="l" t="t" r="r" b="b"/>
              <a:pathLst>
                <a:path w="8300307" h="674318">
                  <a:moveTo>
                    <a:pt x="126552" y="0"/>
                  </a:moveTo>
                  <a:lnTo>
                    <a:pt x="8173755" y="0"/>
                  </a:lnTo>
                  <a:cubicBezTo>
                    <a:pt x="8243648" y="0"/>
                    <a:pt x="8300307" y="56659"/>
                    <a:pt x="8300307" y="126552"/>
                  </a:cubicBezTo>
                  <a:lnTo>
                    <a:pt x="8300307" y="547765"/>
                  </a:lnTo>
                  <a:cubicBezTo>
                    <a:pt x="8300307" y="617658"/>
                    <a:pt x="8243648" y="674318"/>
                    <a:pt x="8173755" y="674318"/>
                  </a:cubicBezTo>
                  <a:lnTo>
                    <a:pt x="126552" y="674318"/>
                  </a:lnTo>
                  <a:cubicBezTo>
                    <a:pt x="56659" y="674318"/>
                    <a:pt x="0" y="617658"/>
                    <a:pt x="0" y="547765"/>
                  </a:cubicBezTo>
                  <a:lnTo>
                    <a:pt x="0" y="126552"/>
                  </a:lnTo>
                  <a:cubicBezTo>
                    <a:pt x="0" y="56659"/>
                    <a:pt x="56659" y="0"/>
                    <a:pt x="126552" y="0"/>
                  </a:cubicBezTo>
                  <a:close/>
                </a:path>
              </a:pathLst>
            </a:custGeom>
            <a:solidFill>
              <a:srgbClr val="263D6D"/>
            </a:solidFill>
          </p:spPr>
        </p:sp>
        <p:sp>
          <p:nvSpPr>
            <p:cNvPr id="38" name="TextBox 38">
              <a:extLst>
                <a:ext uri="{FF2B5EF4-FFF2-40B4-BE49-F238E27FC236}">
                  <a16:creationId xmlns:a16="http://schemas.microsoft.com/office/drawing/2014/main" id="{1A76890D-8803-0C7F-4C0C-2FDFF1B9765C}"/>
                </a:ext>
              </a:extLst>
            </p:cNvPr>
            <p:cNvSpPr txBox="1"/>
            <p:nvPr/>
          </p:nvSpPr>
          <p:spPr>
            <a:xfrm>
              <a:off x="0" y="-47625"/>
              <a:ext cx="8300307" cy="721943"/>
            </a:xfrm>
            <a:prstGeom prst="rect">
              <a:avLst/>
            </a:prstGeom>
          </p:spPr>
          <p:txBody>
            <a:bodyPr lIns="50800" tIns="50800" rIns="50800" bIns="50800" rtlCol="0" anchor="ctr"/>
            <a:lstStyle/>
            <a:p>
              <a:pPr marL="0" marR="0" lvl="0" indent="0" algn="ctr" defTabSz="914400" rtl="0" eaLnBrk="1" fontAlgn="auto" latinLnBrk="0" hangingPunct="1">
                <a:lnSpc>
                  <a:spcPts val="3211"/>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0" name="TextBox 40">
            <a:extLst>
              <a:ext uri="{FF2B5EF4-FFF2-40B4-BE49-F238E27FC236}">
                <a16:creationId xmlns:a16="http://schemas.microsoft.com/office/drawing/2014/main" id="{C7C38191-CFEE-7693-8F7A-77155CC4821D}"/>
              </a:ext>
            </a:extLst>
          </p:cNvPr>
          <p:cNvSpPr txBox="1"/>
          <p:nvPr/>
        </p:nvSpPr>
        <p:spPr>
          <a:xfrm>
            <a:off x="6334173" y="5856832"/>
            <a:ext cx="5619654" cy="430887"/>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FFFFFF"/>
                </a:solidFill>
                <a:latin typeface="Akzidenz-Grotesk Medium"/>
                <a:ea typeface="Akzidenz-Grotesk Medium"/>
                <a:cs typeface="Akzidenz-Grotesk Medium"/>
                <a:sym typeface="Akzidenz-Grotesk Medium"/>
              </a:rPr>
              <a:t>AGENT</a:t>
            </a:r>
            <a:r>
              <a:rPr lang="zh-CN" altLang="en-US" sz="2800" b="1" dirty="0">
                <a:solidFill>
                  <a:srgbClr val="FFFFFF"/>
                </a:solidFill>
                <a:latin typeface="Akzidenz-Grotesk Medium"/>
                <a:ea typeface="Akzidenz-Grotesk Medium"/>
                <a:cs typeface="Akzidenz-Grotesk Medium"/>
                <a:sym typeface="Akzidenz-Grotesk Medium"/>
              </a:rPr>
              <a:t>决策层</a:t>
            </a:r>
            <a:endParaRPr kumimoji="0" lang="en-US" sz="2800" b="1" i="0" u="none" strike="noStrike" kern="1200" cap="none" spc="0" normalizeH="0" baseline="0" noProof="0" dirty="0">
              <a:ln>
                <a:noFill/>
              </a:ln>
              <a:solidFill>
                <a:srgbClr val="FFFFFF"/>
              </a:solidFill>
              <a:effectLst/>
              <a:uLnTx/>
              <a:uFillTx/>
              <a:latin typeface="Akzidenz-Grotesk Medium"/>
              <a:ea typeface="Akzidenz-Grotesk Medium"/>
              <a:cs typeface="Akzidenz-Grotesk Medium"/>
              <a:sym typeface="Akzidenz-Grotesk Medium"/>
            </a:endParaRPr>
          </a:p>
        </p:txBody>
      </p:sp>
    </p:spTree>
    <p:extLst>
      <p:ext uri="{BB962C8B-B14F-4D97-AF65-F5344CB8AC3E}">
        <p14:creationId xmlns:p14="http://schemas.microsoft.com/office/powerpoint/2010/main" val="1116244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交付清单</a:t>
            </a:r>
            <a:endParaRPr lang="en-US" sz="5199" b="1" dirty="0">
              <a:solidFill>
                <a:srgbClr val="100F0D"/>
              </a:solidFill>
              <a:latin typeface="思源黑体 2 Heavy"/>
              <a:ea typeface="思源黑体 2 Heavy"/>
              <a:cs typeface="思源黑体 2 Heavy"/>
              <a:sym typeface="思源黑体 2 Heavy"/>
            </a:endParaRPr>
          </a:p>
        </p:txBody>
      </p:sp>
      <p:sp>
        <p:nvSpPr>
          <p:cNvPr id="3" name="TextBox 3"/>
          <p:cNvSpPr txBox="1"/>
          <p:nvPr/>
        </p:nvSpPr>
        <p:spPr>
          <a:xfrm>
            <a:off x="1221328" y="1635590"/>
            <a:ext cx="6095025" cy="287451"/>
          </a:xfrm>
          <a:prstGeom prst="rect">
            <a:avLst/>
          </a:prstGeom>
        </p:spPr>
        <p:txBody>
          <a:bodyPr lIns="0" tIns="0" rIns="0" bIns="0" rtlCol="0" anchor="t">
            <a:spAutoFit/>
          </a:bodyPr>
          <a:lstStyle/>
          <a:p>
            <a:pPr marL="0" lvl="0" indent="0" algn="l">
              <a:lnSpc>
                <a:spcPts val="2280"/>
              </a:lnSpc>
              <a:spcBef>
                <a:spcPct val="0"/>
              </a:spcBef>
            </a:pPr>
            <a:r>
              <a:rPr lang="en-US" altLang="zh-CN" sz="1900" dirty="0">
                <a:solidFill>
                  <a:srgbClr val="263D6D"/>
                </a:solidFill>
                <a:latin typeface="Akzidenz-Grotesk"/>
                <a:ea typeface="Akzidenz-Grotesk"/>
                <a:cs typeface="Akzidenz-Grotesk"/>
                <a:sym typeface="Akzidenz-Grotesk"/>
              </a:rPr>
              <a:t>Delivery List</a:t>
            </a:r>
            <a:endParaRPr lang="en-US" sz="1900" dirty="0">
              <a:solidFill>
                <a:srgbClr val="263D6D"/>
              </a:solidFill>
              <a:latin typeface="Akzidenz-Grotesk"/>
              <a:ea typeface="Akzidenz-Grotesk"/>
              <a:cs typeface="Akzidenz-Grotesk"/>
              <a:sym typeface="Akzidenz-Grotesk"/>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2403501" y="2875150"/>
            <a:ext cx="6249754" cy="792056"/>
            <a:chOff x="0" y="0"/>
            <a:chExt cx="1646026" cy="208607"/>
          </a:xfrm>
        </p:grpSpPr>
        <p:sp>
          <p:nvSpPr>
            <p:cNvPr id="23" name="Freeform 23"/>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24" name="TextBox 24"/>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2403501" y="3657681"/>
            <a:ext cx="6249754" cy="2052989"/>
            <a:chOff x="0" y="0"/>
            <a:chExt cx="1646026" cy="540705"/>
          </a:xfrm>
        </p:grpSpPr>
        <p:sp>
          <p:nvSpPr>
            <p:cNvPr id="26" name="Freeform 26"/>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27" name="TextBox 27"/>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2173868" y="3987650"/>
            <a:ext cx="6371139" cy="1074718"/>
          </a:xfrm>
          <a:prstGeom prst="rect">
            <a:avLst/>
          </a:prstGeom>
        </p:spPr>
        <p:txBody>
          <a:bodyPr wrap="square" lIns="0" tIns="0" rIns="0" bIns="0" rtlCol="0" anchor="t">
            <a:spAutoFit/>
          </a:bodyPr>
          <a:lstStyle/>
          <a:p>
            <a:pPr lvl="1" algn="just">
              <a:lnSpc>
                <a:spcPts val="2856"/>
              </a:lnSpc>
            </a:pPr>
            <a:r>
              <a:rPr lang="zh-CN" altLang="en-US" sz="1700" dirty="0">
                <a:solidFill>
                  <a:srgbClr val="1E1E1E"/>
                </a:solidFill>
                <a:latin typeface="思源黑体 2"/>
                <a:ea typeface="思源黑体 2"/>
                <a:cs typeface="思源黑体 2"/>
                <a:sym typeface="思源黑体 2"/>
              </a:rPr>
              <a:t>手写</a:t>
            </a:r>
            <a:r>
              <a:rPr lang="en-US" sz="1700" dirty="0" err="1">
                <a:solidFill>
                  <a:srgbClr val="1E1E1E"/>
                </a:solidFill>
                <a:latin typeface="思源黑体 2"/>
                <a:ea typeface="思源黑体 2"/>
                <a:cs typeface="思源黑体 2"/>
                <a:sym typeface="思源黑体 2"/>
              </a:rPr>
              <a:t>ReAct</a:t>
            </a:r>
            <a:r>
              <a:rPr lang="en-US"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循环核心逻辑</a:t>
            </a:r>
            <a:r>
              <a:rPr lang="en-US" sz="1700" dirty="0">
                <a:solidFill>
                  <a:srgbClr val="1E1E1E"/>
                </a:solidFill>
                <a:latin typeface="思源黑体 2"/>
                <a:ea typeface="思源黑体 2"/>
                <a:cs typeface="思源黑体 2"/>
                <a:sym typeface="思源黑体 2"/>
              </a:rPr>
              <a:t>(</a:t>
            </a:r>
            <a:r>
              <a:rPr lang="en-US" sz="1700" dirty="0" err="1">
                <a:solidFill>
                  <a:srgbClr val="1E1E1E"/>
                </a:solidFill>
                <a:latin typeface="思源黑体 2"/>
                <a:ea typeface="思源黑体 2"/>
                <a:cs typeface="思源黑体 2"/>
                <a:sym typeface="思源黑体 2"/>
              </a:rPr>
              <a:t>Thought→Action→Observation</a:t>
            </a:r>
            <a:r>
              <a:rPr lang="en-US" sz="1700" dirty="0">
                <a:solidFill>
                  <a:srgbClr val="1E1E1E"/>
                </a:solidFill>
                <a:latin typeface="思源黑体 2"/>
                <a:ea typeface="思源黑体 2"/>
                <a:cs typeface="思源黑体 2"/>
                <a:sym typeface="思源黑体 2"/>
              </a:rPr>
              <a:t>）</a:t>
            </a:r>
          </a:p>
          <a:p>
            <a:pPr lvl="1" algn="just">
              <a:lnSpc>
                <a:spcPts val="2856"/>
              </a:lnSpc>
            </a:pPr>
            <a:r>
              <a:rPr lang="zh-CN" altLang="en-US" sz="1700" dirty="0">
                <a:solidFill>
                  <a:srgbClr val="1E1E1E"/>
                </a:solidFill>
                <a:latin typeface="思源黑体 2"/>
                <a:ea typeface="思源黑体 2"/>
                <a:cs typeface="思源黑体 2"/>
                <a:sym typeface="思源黑体 2"/>
              </a:rPr>
              <a:t>设计循环终止条件；构建 </a:t>
            </a:r>
            <a:r>
              <a:rPr lang="en-US" sz="1700" dirty="0">
                <a:solidFill>
                  <a:srgbClr val="1E1E1E"/>
                </a:solidFill>
                <a:latin typeface="思源黑体 2"/>
                <a:ea typeface="思源黑体 2"/>
                <a:cs typeface="思源黑体 2"/>
                <a:sym typeface="思源黑体 2"/>
              </a:rPr>
              <a:t>System Prompt </a:t>
            </a:r>
            <a:r>
              <a:rPr lang="zh-CN" altLang="en-US" sz="1700" dirty="0">
                <a:solidFill>
                  <a:srgbClr val="1E1E1E"/>
                </a:solidFill>
                <a:latin typeface="思源黑体 2"/>
                <a:ea typeface="思源黑体 2"/>
                <a:cs typeface="思源黑体 2"/>
                <a:sym typeface="思源黑体 2"/>
              </a:rPr>
              <a:t>结构（角色 </a:t>
            </a:r>
            <a:r>
              <a:rPr lang="en-US" altLang="zh-CN"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工具描述 </a:t>
            </a:r>
            <a:r>
              <a:rPr lang="en-US" altLang="zh-CN"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输出格式约束）。</a:t>
            </a:r>
            <a:endParaRPr lang="en-US" sz="1700" dirty="0">
              <a:solidFill>
                <a:srgbClr val="1E1E1E"/>
              </a:solidFill>
              <a:latin typeface="思源黑体 2"/>
              <a:ea typeface="思源黑体 2"/>
              <a:cs typeface="思源黑体 2"/>
              <a:sym typeface="思源黑体 2"/>
            </a:endParaRPr>
          </a:p>
        </p:txBody>
      </p:sp>
      <p:sp>
        <p:nvSpPr>
          <p:cNvPr id="29" name="TextBox 29"/>
          <p:cNvSpPr txBox="1"/>
          <p:nvPr/>
        </p:nvSpPr>
        <p:spPr>
          <a:xfrm>
            <a:off x="3730558" y="2987538"/>
            <a:ext cx="3391507" cy="430887"/>
          </a:xfrm>
          <a:prstGeom prst="rect">
            <a:avLst/>
          </a:prstGeom>
        </p:spPr>
        <p:txBody>
          <a:bodyPr wrap="square" lIns="0" tIns="0" rIns="0" bIns="0" rtlCol="0" anchor="t">
            <a:spAutoFit/>
          </a:bodyPr>
          <a:lstStyle/>
          <a:p>
            <a:pPr algn="ctr">
              <a:lnSpc>
                <a:spcPct val="100000"/>
              </a:lnSpc>
            </a:pPr>
            <a:r>
              <a:rPr lang="en-US" altLang="zh-CN" sz="2800" b="1" dirty="0">
                <a:solidFill>
                  <a:srgbClr val="FFFFFF"/>
                </a:solidFill>
                <a:latin typeface="思源黑体 2 Bold"/>
                <a:ea typeface="思源黑体 2 Bold"/>
                <a:cs typeface="思源黑体 2 Bold"/>
                <a:sym typeface="思源黑体 2 Bold"/>
              </a:rPr>
              <a:t>Agent </a:t>
            </a:r>
            <a:r>
              <a:rPr lang="zh-CN" altLang="en-US" sz="2800" b="1" dirty="0">
                <a:solidFill>
                  <a:srgbClr val="FFFFFF"/>
                </a:solidFill>
                <a:latin typeface="思源黑体 2 Bold"/>
                <a:ea typeface="思源黑体 2 Bold"/>
                <a:cs typeface="思源黑体 2 Bold"/>
                <a:sym typeface="思源黑体 2 Bold"/>
              </a:rPr>
              <a:t>核心循环实现</a:t>
            </a:r>
            <a:endParaRPr lang="en-US" sz="2800" b="1" dirty="0">
              <a:solidFill>
                <a:srgbClr val="FFFFFF"/>
              </a:solidFill>
              <a:latin typeface="思源黑体 2 Bold"/>
              <a:ea typeface="思源黑体 2 Bold"/>
              <a:cs typeface="思源黑体 2 Bold"/>
              <a:sym typeface="思源黑体 2 Bold"/>
            </a:endParaRPr>
          </a:p>
        </p:txBody>
      </p:sp>
      <p:grpSp>
        <p:nvGrpSpPr>
          <p:cNvPr id="30" name="Group 30"/>
          <p:cNvGrpSpPr/>
          <p:nvPr/>
        </p:nvGrpSpPr>
        <p:grpSpPr>
          <a:xfrm>
            <a:off x="5359438" y="3644380"/>
            <a:ext cx="337879" cy="295645"/>
            <a:chOff x="0" y="0"/>
            <a:chExt cx="812800" cy="711200"/>
          </a:xfrm>
        </p:grpSpPr>
        <p:sp>
          <p:nvSpPr>
            <p:cNvPr id="31" name="Freeform 3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32" name="TextBox 32"/>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9634745" y="2875150"/>
            <a:ext cx="6249754" cy="792056"/>
            <a:chOff x="0" y="0"/>
            <a:chExt cx="1646026" cy="208607"/>
          </a:xfrm>
        </p:grpSpPr>
        <p:sp>
          <p:nvSpPr>
            <p:cNvPr id="34" name="Freeform 34"/>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35" name="TextBox 35"/>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9634745" y="3657681"/>
            <a:ext cx="6249754" cy="2052989"/>
            <a:chOff x="0" y="0"/>
            <a:chExt cx="1646026" cy="540705"/>
          </a:xfrm>
        </p:grpSpPr>
        <p:sp>
          <p:nvSpPr>
            <p:cNvPr id="37" name="Freeform 37"/>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38" name="TextBox 38"/>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10177060" y="3987650"/>
            <a:ext cx="5165125" cy="1074718"/>
          </a:xfrm>
          <a:prstGeom prst="rect">
            <a:avLst/>
          </a:prstGeom>
        </p:spPr>
        <p:txBody>
          <a:bodyPr lIns="0" tIns="0" rIns="0" bIns="0" rtlCol="0" anchor="t">
            <a:spAutoFit/>
          </a:bodyPr>
          <a:lstStyle/>
          <a:p>
            <a:pPr algn="just">
              <a:lnSpc>
                <a:spcPts val="2856"/>
              </a:lnSpc>
            </a:pPr>
            <a:r>
              <a:rPr lang="en-US" altLang="zh-CN"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知识库检索、论文元信息提取、论文对比、关键词提取、摘要生成、计算器、当前时间、联网搜索共 </a:t>
            </a:r>
            <a:r>
              <a:rPr lang="en-US" altLang="zh-CN" sz="1700" dirty="0">
                <a:solidFill>
                  <a:srgbClr val="1E1E1E"/>
                </a:solidFill>
                <a:latin typeface="思源黑体 2"/>
                <a:ea typeface="思源黑体 2"/>
                <a:cs typeface="思源黑体 2"/>
                <a:sym typeface="思源黑体 2"/>
              </a:rPr>
              <a:t>8 </a:t>
            </a:r>
            <a:r>
              <a:rPr lang="zh-CN" altLang="en-US" sz="1700" dirty="0">
                <a:solidFill>
                  <a:srgbClr val="1E1E1E"/>
                </a:solidFill>
                <a:latin typeface="思源黑体 2"/>
                <a:ea typeface="思源黑体 2"/>
                <a:cs typeface="思源黑体 2"/>
                <a:sym typeface="思源黑体 2"/>
              </a:rPr>
              <a:t>个工具。</a:t>
            </a:r>
            <a:endParaRPr lang="en-US" sz="1700" dirty="0">
              <a:solidFill>
                <a:srgbClr val="1E1E1E"/>
              </a:solidFill>
              <a:latin typeface="思源黑体 2"/>
              <a:ea typeface="思源黑体 2"/>
              <a:cs typeface="思源黑体 2"/>
              <a:sym typeface="思源黑体 2"/>
            </a:endParaRPr>
          </a:p>
        </p:txBody>
      </p:sp>
      <p:sp>
        <p:nvSpPr>
          <p:cNvPr id="40" name="TextBox 40"/>
          <p:cNvSpPr txBox="1"/>
          <p:nvPr/>
        </p:nvSpPr>
        <p:spPr>
          <a:xfrm>
            <a:off x="11315093" y="2954187"/>
            <a:ext cx="2889059" cy="510158"/>
          </a:xfrm>
          <a:prstGeom prst="rect">
            <a:avLst/>
          </a:prstGeom>
        </p:spPr>
        <p:txBody>
          <a:bodyPr lIns="0" tIns="0" rIns="0" bIns="0" rtlCol="0" anchor="t">
            <a:spAutoFit/>
          </a:bodyPr>
          <a:lstStyle/>
          <a:p>
            <a:pPr algn="ctr">
              <a:lnSpc>
                <a:spcPts val="4368"/>
              </a:lnSpc>
            </a:pPr>
            <a:r>
              <a:rPr lang="zh-CN" altLang="en-US" sz="2800" b="1" dirty="0">
                <a:solidFill>
                  <a:srgbClr val="FFFFFF"/>
                </a:solidFill>
                <a:latin typeface="思源黑体 2 Bold"/>
                <a:ea typeface="思源黑体 2 Bold"/>
                <a:cs typeface="思源黑体 2 Bold"/>
                <a:sym typeface="思源黑体 2 Bold"/>
              </a:rPr>
              <a:t>工具集开发</a:t>
            </a:r>
            <a:endParaRPr lang="en-US" sz="2800" b="1" dirty="0">
              <a:solidFill>
                <a:srgbClr val="FFFFFF"/>
              </a:solidFill>
              <a:latin typeface="思源黑体 2 Bold"/>
              <a:ea typeface="思源黑体 2 Bold"/>
              <a:cs typeface="思源黑体 2 Bold"/>
              <a:sym typeface="思源黑体 2 Bold"/>
            </a:endParaRPr>
          </a:p>
        </p:txBody>
      </p:sp>
      <p:grpSp>
        <p:nvGrpSpPr>
          <p:cNvPr id="41" name="Group 41"/>
          <p:cNvGrpSpPr/>
          <p:nvPr/>
        </p:nvGrpSpPr>
        <p:grpSpPr>
          <a:xfrm>
            <a:off x="12590682" y="3644380"/>
            <a:ext cx="337879" cy="295645"/>
            <a:chOff x="0" y="0"/>
            <a:chExt cx="812800" cy="711200"/>
          </a:xfrm>
        </p:grpSpPr>
        <p:sp>
          <p:nvSpPr>
            <p:cNvPr id="42" name="Freeform 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43" name="TextBox 43"/>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2403501" y="6120245"/>
            <a:ext cx="6249754" cy="792056"/>
            <a:chOff x="0" y="0"/>
            <a:chExt cx="1646026" cy="208607"/>
          </a:xfrm>
        </p:grpSpPr>
        <p:sp>
          <p:nvSpPr>
            <p:cNvPr id="45" name="Freeform 45"/>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46" name="TextBox 46"/>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47" name="Group 47"/>
          <p:cNvGrpSpPr/>
          <p:nvPr/>
        </p:nvGrpSpPr>
        <p:grpSpPr>
          <a:xfrm>
            <a:off x="2403501" y="6902776"/>
            <a:ext cx="6249754" cy="2052989"/>
            <a:chOff x="0" y="0"/>
            <a:chExt cx="1646026" cy="540705"/>
          </a:xfrm>
        </p:grpSpPr>
        <p:sp>
          <p:nvSpPr>
            <p:cNvPr id="48" name="Freeform 48"/>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49" name="TextBox 49"/>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50" name="TextBox 50"/>
          <p:cNvSpPr txBox="1"/>
          <p:nvPr/>
        </p:nvSpPr>
        <p:spPr>
          <a:xfrm>
            <a:off x="2945815" y="7232745"/>
            <a:ext cx="5165125" cy="702821"/>
          </a:xfrm>
          <a:prstGeom prst="rect">
            <a:avLst/>
          </a:prstGeom>
        </p:spPr>
        <p:txBody>
          <a:bodyPr lIns="0" tIns="0" rIns="0" bIns="0" rtlCol="0" anchor="t">
            <a:spAutoFit/>
          </a:bodyPr>
          <a:lstStyle/>
          <a:p>
            <a:pPr algn="just">
              <a:lnSpc>
                <a:spcPts val="2856"/>
              </a:lnSpc>
            </a:pPr>
            <a:r>
              <a:rPr lang="zh-CN" altLang="en-US" sz="1700" dirty="0">
                <a:solidFill>
                  <a:srgbClr val="1E1E1E"/>
                </a:solidFill>
                <a:latin typeface="思源黑体 2"/>
                <a:ea typeface="思源黑体 2"/>
                <a:cs typeface="思源黑体 2"/>
                <a:sym typeface="思源黑体 2"/>
              </a:rPr>
              <a:t>工具选择路由、并行工具调用、错误恢复机制（超时重试 </a:t>
            </a:r>
            <a:r>
              <a:rPr lang="en-US" altLang="zh-CN"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异常替代 </a:t>
            </a:r>
            <a:r>
              <a:rPr lang="en-US" altLang="zh-CN" sz="1700" dirty="0">
                <a:solidFill>
                  <a:srgbClr val="1E1E1E"/>
                </a:solidFill>
                <a:latin typeface="思源黑体 2"/>
                <a:ea typeface="思源黑体 2"/>
                <a:cs typeface="思源黑体 2"/>
                <a:sym typeface="思源黑体 2"/>
              </a:rPr>
              <a:t>/ </a:t>
            </a:r>
            <a:r>
              <a:rPr lang="zh-CN" altLang="en-US" sz="1700" dirty="0">
                <a:solidFill>
                  <a:srgbClr val="1E1E1E"/>
                </a:solidFill>
                <a:latin typeface="思源黑体 2"/>
                <a:ea typeface="思源黑体 2"/>
                <a:cs typeface="思源黑体 2"/>
                <a:sym typeface="思源黑体 2"/>
              </a:rPr>
              <a:t>死循环强制终止）。</a:t>
            </a:r>
          </a:p>
        </p:txBody>
      </p:sp>
      <p:sp>
        <p:nvSpPr>
          <p:cNvPr id="51" name="TextBox 51"/>
          <p:cNvSpPr txBox="1"/>
          <p:nvPr/>
        </p:nvSpPr>
        <p:spPr>
          <a:xfrm>
            <a:off x="4083848" y="6199282"/>
            <a:ext cx="2889059" cy="508922"/>
          </a:xfrm>
          <a:prstGeom prst="rect">
            <a:avLst/>
          </a:prstGeom>
        </p:spPr>
        <p:txBody>
          <a:bodyPr lIns="0" tIns="0" rIns="0" bIns="0" rtlCol="0" anchor="t">
            <a:spAutoFit/>
          </a:bodyPr>
          <a:lstStyle/>
          <a:p>
            <a:pPr algn="ctr">
              <a:lnSpc>
                <a:spcPts val="4368"/>
              </a:lnSpc>
            </a:pPr>
            <a:r>
              <a:rPr lang="en-US" sz="2800" b="1" dirty="0">
                <a:solidFill>
                  <a:srgbClr val="FFFFFF"/>
                </a:solidFill>
                <a:latin typeface="思源黑体 2 Bold"/>
                <a:ea typeface="思源黑体 2 Bold"/>
                <a:cs typeface="思源黑体 2 Bold"/>
                <a:sym typeface="思源黑体 2 Bold"/>
              </a:rPr>
              <a:t>Agent </a:t>
            </a:r>
            <a:r>
              <a:rPr lang="zh-CN" altLang="en-US" sz="2800" b="1" dirty="0">
                <a:solidFill>
                  <a:srgbClr val="FFFFFF"/>
                </a:solidFill>
                <a:latin typeface="思源黑体 2 Bold"/>
                <a:ea typeface="思源黑体 2 Bold"/>
                <a:cs typeface="思源黑体 2 Bold"/>
                <a:sym typeface="思源黑体 2 Bold"/>
              </a:rPr>
              <a:t>决策优化</a:t>
            </a:r>
            <a:endParaRPr lang="en-US" sz="2800" b="1" dirty="0">
              <a:solidFill>
                <a:srgbClr val="FFFFFF"/>
              </a:solidFill>
              <a:latin typeface="思源黑体 2 Bold"/>
              <a:ea typeface="思源黑体 2 Bold"/>
              <a:cs typeface="思源黑体 2 Bold"/>
              <a:sym typeface="思源黑体 2 Bold"/>
            </a:endParaRPr>
          </a:p>
        </p:txBody>
      </p:sp>
      <p:grpSp>
        <p:nvGrpSpPr>
          <p:cNvPr id="52" name="Group 52"/>
          <p:cNvGrpSpPr/>
          <p:nvPr/>
        </p:nvGrpSpPr>
        <p:grpSpPr>
          <a:xfrm>
            <a:off x="5359438" y="6889475"/>
            <a:ext cx="337879" cy="295645"/>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54" name="TextBox 54"/>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55" name="Group 55"/>
          <p:cNvGrpSpPr/>
          <p:nvPr/>
        </p:nvGrpSpPr>
        <p:grpSpPr>
          <a:xfrm>
            <a:off x="9634745" y="6120245"/>
            <a:ext cx="6249754" cy="792056"/>
            <a:chOff x="0" y="0"/>
            <a:chExt cx="1646026" cy="208607"/>
          </a:xfrm>
        </p:grpSpPr>
        <p:sp>
          <p:nvSpPr>
            <p:cNvPr id="56" name="Freeform 56"/>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57" name="TextBox 57"/>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58" name="Group 58"/>
          <p:cNvGrpSpPr/>
          <p:nvPr/>
        </p:nvGrpSpPr>
        <p:grpSpPr>
          <a:xfrm>
            <a:off x="9634745" y="6902776"/>
            <a:ext cx="6249754" cy="2052989"/>
            <a:chOff x="0" y="0"/>
            <a:chExt cx="1646026" cy="540705"/>
          </a:xfrm>
        </p:grpSpPr>
        <p:sp>
          <p:nvSpPr>
            <p:cNvPr id="59" name="Freeform 59"/>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60" name="TextBox 60"/>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61" name="TextBox 61"/>
          <p:cNvSpPr txBox="1"/>
          <p:nvPr/>
        </p:nvSpPr>
        <p:spPr>
          <a:xfrm>
            <a:off x="10177060" y="7232745"/>
            <a:ext cx="5165125" cy="1074718"/>
          </a:xfrm>
          <a:prstGeom prst="rect">
            <a:avLst/>
          </a:prstGeom>
        </p:spPr>
        <p:txBody>
          <a:bodyPr lIns="0" tIns="0" rIns="0" bIns="0" rtlCol="0" anchor="t">
            <a:spAutoFit/>
          </a:bodyPr>
          <a:lstStyle/>
          <a:p>
            <a:pPr algn="just">
              <a:lnSpc>
                <a:spcPts val="2856"/>
              </a:lnSpc>
            </a:pPr>
            <a:r>
              <a:rPr lang="zh-CN" altLang="en-US" sz="1700" dirty="0">
                <a:solidFill>
                  <a:srgbClr val="1E1E1E"/>
                </a:solidFill>
                <a:latin typeface="思源黑体 2"/>
                <a:ea typeface="思源黑体 2"/>
                <a:cs typeface="思源黑体 2"/>
                <a:sym typeface="思源黑体 2"/>
              </a:rPr>
              <a:t>会话隔离（不同用户互不干扰）、滑动窗口 </a:t>
            </a:r>
            <a:r>
              <a:rPr lang="en-US" altLang="zh-CN" sz="1700" dirty="0">
                <a:solidFill>
                  <a:srgbClr val="1E1E1E"/>
                </a:solidFill>
                <a:latin typeface="思源黑体 2"/>
                <a:ea typeface="思源黑体 2"/>
                <a:cs typeface="思源黑体 2"/>
                <a:sym typeface="思源黑体 2"/>
              </a:rPr>
              <a:t>Token </a:t>
            </a:r>
            <a:r>
              <a:rPr lang="zh-CN" altLang="en-US" sz="1700" dirty="0">
                <a:solidFill>
                  <a:srgbClr val="1E1E1E"/>
                </a:solidFill>
                <a:latin typeface="思源黑体 2"/>
                <a:ea typeface="思源黑体 2"/>
                <a:cs typeface="思源黑体 2"/>
                <a:sym typeface="思源黑体 2"/>
              </a:rPr>
              <a:t>管理（自动截断超长历史）、对话摘要压缩（阶段性总结替换原始历史）。</a:t>
            </a:r>
          </a:p>
        </p:txBody>
      </p:sp>
      <p:sp>
        <p:nvSpPr>
          <p:cNvPr id="62" name="TextBox 62"/>
          <p:cNvSpPr txBox="1"/>
          <p:nvPr/>
        </p:nvSpPr>
        <p:spPr>
          <a:xfrm>
            <a:off x="11315093" y="6199282"/>
            <a:ext cx="2889059" cy="508922"/>
          </a:xfrm>
          <a:prstGeom prst="rect">
            <a:avLst/>
          </a:prstGeom>
        </p:spPr>
        <p:txBody>
          <a:bodyPr lIns="0" tIns="0" rIns="0" bIns="0" rtlCol="0" anchor="t">
            <a:spAutoFit/>
          </a:bodyPr>
          <a:lstStyle/>
          <a:p>
            <a:pPr algn="ctr">
              <a:lnSpc>
                <a:spcPts val="4368"/>
              </a:lnSpc>
            </a:pPr>
            <a:r>
              <a:rPr lang="en-US" altLang="zh-CN" sz="2800" b="1" dirty="0" err="1">
                <a:solidFill>
                  <a:srgbClr val="FFFFFF"/>
                </a:solidFill>
                <a:latin typeface="Noto Sans SC"/>
                <a:ea typeface="Noto Sans SC"/>
                <a:cs typeface="Noto Sans SC"/>
                <a:sym typeface="Noto Sans SC"/>
              </a:rPr>
              <a:t>多轮对话记忆管理</a:t>
            </a:r>
            <a:endParaRPr lang="en-US" sz="2800" b="1" dirty="0">
              <a:solidFill>
                <a:srgbClr val="FFFFFF"/>
              </a:solidFill>
              <a:latin typeface="思源黑体 2 Bold"/>
              <a:ea typeface="思源黑体 2 Bold"/>
              <a:cs typeface="思源黑体 2 Bold"/>
              <a:sym typeface="思源黑体 2 Bold"/>
            </a:endParaRPr>
          </a:p>
        </p:txBody>
      </p:sp>
      <p:grpSp>
        <p:nvGrpSpPr>
          <p:cNvPr id="63" name="Group 63"/>
          <p:cNvGrpSpPr/>
          <p:nvPr/>
        </p:nvGrpSpPr>
        <p:grpSpPr>
          <a:xfrm>
            <a:off x="12590682" y="6889475"/>
            <a:ext cx="337879" cy="295645"/>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65" name="TextBox 65"/>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54934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箭头: 燕尾形 56">
            <a:extLst>
              <a:ext uri="{FF2B5EF4-FFF2-40B4-BE49-F238E27FC236}">
                <a16:creationId xmlns:a16="http://schemas.microsoft.com/office/drawing/2014/main" id="{959331B9-79C9-245E-7351-911774423D0E}"/>
              </a:ext>
            </a:extLst>
          </p:cNvPr>
          <p:cNvSpPr/>
          <p:nvPr/>
        </p:nvSpPr>
        <p:spPr>
          <a:xfrm>
            <a:off x="10472446" y="3504987"/>
            <a:ext cx="1371593" cy="559251"/>
          </a:xfrm>
          <a:prstGeom prst="notchedRightArrow">
            <a:avLst>
              <a:gd name="adj1" fmla="val 50000"/>
              <a:gd name="adj2" fmla="val 4364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箭头: 燕尾形 53">
            <a:extLst>
              <a:ext uri="{FF2B5EF4-FFF2-40B4-BE49-F238E27FC236}">
                <a16:creationId xmlns:a16="http://schemas.microsoft.com/office/drawing/2014/main" id="{168E445F-34B1-D4AA-E3AA-AA1BE384ACDA}"/>
              </a:ext>
            </a:extLst>
          </p:cNvPr>
          <p:cNvSpPr/>
          <p:nvPr/>
        </p:nvSpPr>
        <p:spPr>
          <a:xfrm>
            <a:off x="5246935" y="3506508"/>
            <a:ext cx="1219193" cy="4572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Freeform 23">
            <a:extLst>
              <a:ext uri="{FF2B5EF4-FFF2-40B4-BE49-F238E27FC236}">
                <a16:creationId xmlns:a16="http://schemas.microsoft.com/office/drawing/2014/main" id="{260CB632-3F34-24A8-751D-28C79B0A4C21}"/>
              </a:ext>
            </a:extLst>
          </p:cNvPr>
          <p:cNvSpPr/>
          <p:nvPr/>
        </p:nvSpPr>
        <p:spPr>
          <a:xfrm>
            <a:off x="6466134" y="2495339"/>
            <a:ext cx="4493667" cy="2343361"/>
          </a:xfrm>
          <a:custGeom>
            <a:avLst/>
            <a:gdLst/>
            <a:ahLst/>
            <a:cxnLst/>
            <a:rect l="l" t="t" r="r" b="b"/>
            <a:pathLst>
              <a:path w="699063" h="155970">
                <a:moveTo>
                  <a:pt x="47304" y="0"/>
                </a:moveTo>
                <a:lnTo>
                  <a:pt x="651759" y="0"/>
                </a:lnTo>
                <a:cubicBezTo>
                  <a:pt x="677885" y="0"/>
                  <a:pt x="699063" y="21179"/>
                  <a:pt x="699063" y="47304"/>
                </a:cubicBezTo>
                <a:lnTo>
                  <a:pt x="699063" y="108666"/>
                </a:lnTo>
                <a:cubicBezTo>
                  <a:pt x="699063" y="121212"/>
                  <a:pt x="694080" y="133244"/>
                  <a:pt x="685208" y="142115"/>
                </a:cubicBezTo>
                <a:cubicBezTo>
                  <a:pt x="676337" y="150986"/>
                  <a:pt x="664305" y="155970"/>
                  <a:pt x="651759" y="155970"/>
                </a:cubicBezTo>
                <a:lnTo>
                  <a:pt x="47304" y="155970"/>
                </a:lnTo>
                <a:cubicBezTo>
                  <a:pt x="34758" y="155970"/>
                  <a:pt x="22726" y="150986"/>
                  <a:pt x="13855" y="142115"/>
                </a:cubicBezTo>
                <a:cubicBezTo>
                  <a:pt x="4984" y="133244"/>
                  <a:pt x="0" y="121212"/>
                  <a:pt x="0" y="108666"/>
                </a:cubicBezTo>
                <a:lnTo>
                  <a:pt x="0" y="47304"/>
                </a:lnTo>
                <a:cubicBezTo>
                  <a:pt x="0" y="34758"/>
                  <a:pt x="4984" y="22726"/>
                  <a:pt x="13855" y="13855"/>
                </a:cubicBezTo>
                <a:cubicBezTo>
                  <a:pt x="22726" y="4984"/>
                  <a:pt x="34758" y="0"/>
                  <a:pt x="47304" y="0"/>
                </a:cubicBezTo>
                <a:close/>
              </a:path>
            </a:pathLst>
          </a:custGeom>
          <a:solidFill>
            <a:srgbClr val="263D6D"/>
          </a:solidFill>
        </p:spPr>
      </p:sp>
      <p:sp>
        <p:nvSpPr>
          <p:cNvPr id="2" name="TextBox 2"/>
          <p:cNvSpPr txBox="1"/>
          <p:nvPr/>
        </p:nvSpPr>
        <p:spPr>
          <a:xfrm>
            <a:off x="1221328" y="791367"/>
            <a:ext cx="15757074" cy="1590179"/>
          </a:xfrm>
          <a:prstGeom prst="rect">
            <a:avLst/>
          </a:prstGeom>
        </p:spPr>
        <p:txBody>
          <a:bodyPr wrap="square" lIns="0" tIns="0" rIns="0" bIns="0" rtlCol="0" anchor="t">
            <a:spAutoFit/>
          </a:bodyPr>
          <a:lstStyle/>
          <a:p>
            <a:pPr>
              <a:lnSpc>
                <a:spcPts val="6239"/>
              </a:lnSpc>
            </a:pPr>
            <a:r>
              <a:rPr lang="en-US" altLang="zh-CN" sz="5400" b="1" dirty="0" err="1">
                <a:solidFill>
                  <a:srgbClr val="1E1E1E"/>
                </a:solidFill>
                <a:latin typeface="Noto Sans SC"/>
                <a:ea typeface="Noto Sans SC"/>
                <a:cs typeface="Noto Sans SC"/>
                <a:sym typeface="Noto Sans SC"/>
              </a:rPr>
              <a:t>ReAct</a:t>
            </a:r>
            <a:r>
              <a:rPr lang="en-US" altLang="zh-CN" sz="5400" b="1" dirty="0">
                <a:solidFill>
                  <a:srgbClr val="1E1E1E"/>
                </a:solidFill>
                <a:latin typeface="Noto Sans SC"/>
                <a:ea typeface="Noto Sans SC"/>
                <a:cs typeface="Noto Sans SC"/>
                <a:sym typeface="Noto Sans SC"/>
              </a:rPr>
              <a:t> </a:t>
            </a:r>
            <a:r>
              <a:rPr lang="en-US" altLang="zh-CN" sz="5400" b="1" dirty="0" err="1">
                <a:solidFill>
                  <a:srgbClr val="1E1E1E"/>
                </a:solidFill>
                <a:latin typeface="Noto Sans SC"/>
                <a:ea typeface="Noto Sans SC"/>
                <a:cs typeface="Noto Sans SC"/>
                <a:sym typeface="Noto Sans SC"/>
              </a:rPr>
              <a:t>循环：Thought</a:t>
            </a:r>
            <a:r>
              <a:rPr lang="en-US" altLang="zh-CN" sz="5400" b="1" dirty="0">
                <a:solidFill>
                  <a:srgbClr val="1E1E1E"/>
                </a:solidFill>
                <a:latin typeface="Noto Sans SC"/>
                <a:ea typeface="Noto Sans SC"/>
                <a:cs typeface="Noto Sans SC"/>
                <a:sym typeface="Noto Sans SC"/>
              </a:rPr>
              <a:t> → Action → Observation</a:t>
            </a:r>
            <a:endParaRPr lang="en-US" altLang="zh-CN" sz="2800" dirty="0"/>
          </a:p>
          <a:p>
            <a:pPr algn="l">
              <a:lnSpc>
                <a:spcPts val="6239"/>
              </a:lnSpc>
            </a:pPr>
            <a:endParaRPr lang="en-US" sz="5199" b="1" dirty="0">
              <a:solidFill>
                <a:srgbClr val="100F0D"/>
              </a:solidFill>
              <a:latin typeface="思源黑体 2 Heavy"/>
              <a:ea typeface="思源黑体 2 Heavy"/>
              <a:cs typeface="思源黑体 2 Heavy"/>
              <a:sym typeface="思源黑体 2 Heavy"/>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221326" y="2495339"/>
            <a:ext cx="4493673" cy="2343361"/>
            <a:chOff x="0" y="0"/>
            <a:chExt cx="699064" cy="155970"/>
          </a:xfrm>
        </p:grpSpPr>
        <p:sp>
          <p:nvSpPr>
            <p:cNvPr id="23" name="Freeform 23"/>
            <p:cNvSpPr/>
            <p:nvPr/>
          </p:nvSpPr>
          <p:spPr>
            <a:xfrm>
              <a:off x="0" y="0"/>
              <a:ext cx="699063" cy="155970"/>
            </a:xfrm>
            <a:custGeom>
              <a:avLst/>
              <a:gdLst/>
              <a:ahLst/>
              <a:cxnLst/>
              <a:rect l="l" t="t" r="r" b="b"/>
              <a:pathLst>
                <a:path w="699063" h="155970">
                  <a:moveTo>
                    <a:pt x="47304" y="0"/>
                  </a:moveTo>
                  <a:lnTo>
                    <a:pt x="651759" y="0"/>
                  </a:lnTo>
                  <a:cubicBezTo>
                    <a:pt x="677885" y="0"/>
                    <a:pt x="699063" y="21179"/>
                    <a:pt x="699063" y="47304"/>
                  </a:cubicBezTo>
                  <a:lnTo>
                    <a:pt x="699063" y="108666"/>
                  </a:lnTo>
                  <a:cubicBezTo>
                    <a:pt x="699063" y="121212"/>
                    <a:pt x="694080" y="133244"/>
                    <a:pt x="685208" y="142115"/>
                  </a:cubicBezTo>
                  <a:cubicBezTo>
                    <a:pt x="676337" y="150986"/>
                    <a:pt x="664305" y="155970"/>
                    <a:pt x="651759" y="155970"/>
                  </a:cubicBezTo>
                  <a:lnTo>
                    <a:pt x="47304" y="155970"/>
                  </a:lnTo>
                  <a:cubicBezTo>
                    <a:pt x="34758" y="155970"/>
                    <a:pt x="22726" y="150986"/>
                    <a:pt x="13855" y="142115"/>
                  </a:cubicBezTo>
                  <a:cubicBezTo>
                    <a:pt x="4984" y="133244"/>
                    <a:pt x="0" y="121212"/>
                    <a:pt x="0" y="108666"/>
                  </a:cubicBezTo>
                  <a:lnTo>
                    <a:pt x="0" y="47304"/>
                  </a:lnTo>
                  <a:cubicBezTo>
                    <a:pt x="0" y="34758"/>
                    <a:pt x="4984" y="22726"/>
                    <a:pt x="13855" y="13855"/>
                  </a:cubicBezTo>
                  <a:cubicBezTo>
                    <a:pt x="22726" y="4984"/>
                    <a:pt x="34758" y="0"/>
                    <a:pt x="47304" y="0"/>
                  </a:cubicBezTo>
                  <a:close/>
                </a:path>
              </a:pathLst>
            </a:custGeom>
            <a:solidFill>
              <a:srgbClr val="263D6D"/>
            </a:solidFill>
          </p:spPr>
        </p:sp>
        <p:sp>
          <p:nvSpPr>
            <p:cNvPr id="24" name="TextBox 24"/>
            <p:cNvSpPr txBox="1"/>
            <p:nvPr/>
          </p:nvSpPr>
          <p:spPr>
            <a:xfrm>
              <a:off x="0" y="-47625"/>
              <a:ext cx="699064" cy="203595"/>
            </a:xfrm>
            <a:prstGeom prst="rect">
              <a:avLst/>
            </a:prstGeom>
          </p:spPr>
          <p:txBody>
            <a:bodyPr lIns="50800" tIns="50800" rIns="50800" bIns="50800" rtlCol="0" anchor="ctr"/>
            <a:lstStyle/>
            <a:p>
              <a:pPr algn="ctr">
                <a:lnSpc>
                  <a:spcPts val="3356"/>
                </a:lnSpc>
              </a:pPr>
              <a:endParaRPr/>
            </a:p>
          </p:txBody>
        </p:sp>
      </p:grpSp>
      <p:sp>
        <p:nvSpPr>
          <p:cNvPr id="25" name="TextBox 25"/>
          <p:cNvSpPr txBox="1"/>
          <p:nvPr/>
        </p:nvSpPr>
        <p:spPr>
          <a:xfrm>
            <a:off x="1221320" y="2666828"/>
            <a:ext cx="2250731" cy="510158"/>
          </a:xfrm>
          <a:prstGeom prst="rect">
            <a:avLst/>
          </a:prstGeom>
        </p:spPr>
        <p:txBody>
          <a:bodyPr lIns="0" tIns="0" rIns="0" bIns="0" rtlCol="0" anchor="t">
            <a:spAutoFit/>
          </a:bodyPr>
          <a:lstStyle/>
          <a:p>
            <a:pPr algn="ctr">
              <a:lnSpc>
                <a:spcPts val="4368"/>
              </a:lnSpc>
            </a:pPr>
            <a:r>
              <a:rPr lang="en-US" sz="2800" b="1" dirty="0">
                <a:solidFill>
                  <a:schemeClr val="bg1"/>
                </a:solidFill>
                <a:latin typeface="思源黑体 2 Bold"/>
                <a:ea typeface="思源黑体 2 Bold"/>
                <a:cs typeface="思源黑体 2 Bold"/>
                <a:sym typeface="思源黑体 2 Bold"/>
              </a:rPr>
              <a:t>Thought</a:t>
            </a:r>
          </a:p>
        </p:txBody>
      </p:sp>
      <p:sp>
        <p:nvSpPr>
          <p:cNvPr id="39" name="Freeform 23">
            <a:extLst>
              <a:ext uri="{FF2B5EF4-FFF2-40B4-BE49-F238E27FC236}">
                <a16:creationId xmlns:a16="http://schemas.microsoft.com/office/drawing/2014/main" id="{FDED33DB-C449-EB3E-24F1-8573307BA0D9}"/>
              </a:ext>
            </a:extLst>
          </p:cNvPr>
          <p:cNvSpPr/>
          <p:nvPr/>
        </p:nvSpPr>
        <p:spPr>
          <a:xfrm>
            <a:off x="11816700" y="2504758"/>
            <a:ext cx="4493667" cy="2343361"/>
          </a:xfrm>
          <a:custGeom>
            <a:avLst/>
            <a:gdLst/>
            <a:ahLst/>
            <a:cxnLst/>
            <a:rect l="l" t="t" r="r" b="b"/>
            <a:pathLst>
              <a:path w="699063" h="155970">
                <a:moveTo>
                  <a:pt x="47304" y="0"/>
                </a:moveTo>
                <a:lnTo>
                  <a:pt x="651759" y="0"/>
                </a:lnTo>
                <a:cubicBezTo>
                  <a:pt x="677885" y="0"/>
                  <a:pt x="699063" y="21179"/>
                  <a:pt x="699063" y="47304"/>
                </a:cubicBezTo>
                <a:lnTo>
                  <a:pt x="699063" y="108666"/>
                </a:lnTo>
                <a:cubicBezTo>
                  <a:pt x="699063" y="121212"/>
                  <a:pt x="694080" y="133244"/>
                  <a:pt x="685208" y="142115"/>
                </a:cubicBezTo>
                <a:cubicBezTo>
                  <a:pt x="676337" y="150986"/>
                  <a:pt x="664305" y="155970"/>
                  <a:pt x="651759" y="155970"/>
                </a:cubicBezTo>
                <a:lnTo>
                  <a:pt x="47304" y="155970"/>
                </a:lnTo>
                <a:cubicBezTo>
                  <a:pt x="34758" y="155970"/>
                  <a:pt x="22726" y="150986"/>
                  <a:pt x="13855" y="142115"/>
                </a:cubicBezTo>
                <a:cubicBezTo>
                  <a:pt x="4984" y="133244"/>
                  <a:pt x="0" y="121212"/>
                  <a:pt x="0" y="108666"/>
                </a:cubicBezTo>
                <a:lnTo>
                  <a:pt x="0" y="47304"/>
                </a:lnTo>
                <a:cubicBezTo>
                  <a:pt x="0" y="34758"/>
                  <a:pt x="4984" y="22726"/>
                  <a:pt x="13855" y="13855"/>
                </a:cubicBezTo>
                <a:cubicBezTo>
                  <a:pt x="22726" y="4984"/>
                  <a:pt x="34758" y="0"/>
                  <a:pt x="47304" y="0"/>
                </a:cubicBezTo>
                <a:close/>
              </a:path>
            </a:pathLst>
          </a:custGeom>
          <a:solidFill>
            <a:srgbClr val="263D6D"/>
          </a:solidFill>
        </p:spPr>
      </p:sp>
      <p:sp>
        <p:nvSpPr>
          <p:cNvPr id="40" name="文本框 39">
            <a:extLst>
              <a:ext uri="{FF2B5EF4-FFF2-40B4-BE49-F238E27FC236}">
                <a16:creationId xmlns:a16="http://schemas.microsoft.com/office/drawing/2014/main" id="{0D8F3597-AA6A-6C91-5D24-1A0D2C14C641}"/>
              </a:ext>
            </a:extLst>
          </p:cNvPr>
          <p:cNvSpPr txBox="1"/>
          <p:nvPr/>
        </p:nvSpPr>
        <p:spPr>
          <a:xfrm>
            <a:off x="1581886" y="3523503"/>
            <a:ext cx="3733800" cy="1107996"/>
          </a:xfrm>
          <a:prstGeom prst="rect">
            <a:avLst/>
          </a:prstGeom>
          <a:noFill/>
        </p:spPr>
        <p:txBody>
          <a:bodyPr wrap="square" rtlCol="0">
            <a:spAutoFit/>
          </a:bodyPr>
          <a:lstStyle/>
          <a:p>
            <a:r>
              <a:rPr lang="en-US" altLang="zh-CN" sz="2400" dirty="0" err="1">
                <a:solidFill>
                  <a:srgbClr val="FFFFFF">
                    <a:alpha val="85098"/>
                  </a:srgbClr>
                </a:solidFill>
                <a:latin typeface="Noto Sans SC"/>
                <a:ea typeface="Noto Sans SC"/>
                <a:cs typeface="Noto Sans SC"/>
                <a:sym typeface="Noto Sans SC"/>
              </a:rPr>
              <a:t>推理当前状态，规划下一步行动</a:t>
            </a:r>
            <a:endParaRPr lang="en-US" altLang="zh-CN" sz="2400" dirty="0"/>
          </a:p>
          <a:p>
            <a:endParaRPr lang="zh-CN" altLang="en-US" dirty="0"/>
          </a:p>
        </p:txBody>
      </p:sp>
      <p:sp>
        <p:nvSpPr>
          <p:cNvPr id="42" name="文本框 41">
            <a:extLst>
              <a:ext uri="{FF2B5EF4-FFF2-40B4-BE49-F238E27FC236}">
                <a16:creationId xmlns:a16="http://schemas.microsoft.com/office/drawing/2014/main" id="{B5AC4758-103C-5775-C5A7-8017253DB05B}"/>
              </a:ext>
            </a:extLst>
          </p:cNvPr>
          <p:cNvSpPr txBox="1"/>
          <p:nvPr/>
        </p:nvSpPr>
        <p:spPr>
          <a:xfrm>
            <a:off x="6841428" y="3487091"/>
            <a:ext cx="3352800" cy="496033"/>
          </a:xfrm>
          <a:prstGeom prst="rect">
            <a:avLst/>
          </a:prstGeom>
          <a:noFill/>
        </p:spPr>
        <p:txBody>
          <a:bodyPr wrap="square" rtlCol="0">
            <a:spAutoFit/>
          </a:bodyPr>
          <a:lstStyle/>
          <a:p>
            <a:pPr marL="0" marR="0" indent="0" algn="l" rtl="0">
              <a:lnSpc>
                <a:spcPct val="117000"/>
              </a:lnSpc>
              <a:buNone/>
            </a:pPr>
            <a:r>
              <a:rPr lang="en-US" altLang="zh-CN" sz="2400" b="0" i="0" dirty="0" err="1">
                <a:solidFill>
                  <a:srgbClr val="FFFFFF">
                    <a:alpha val="85000"/>
                  </a:srgbClr>
                </a:solidFill>
                <a:effectLst/>
                <a:latin typeface="Noto Sans SC" panose="020B0200000000000000" pitchFamily="34" charset="-122"/>
                <a:ea typeface="Noto Sans SC" panose="020B0200000000000000" pitchFamily="34" charset="-122"/>
                <a:cs typeface="Noto Sans SC" panose="020B0200000000000000" pitchFamily="34" charset="-122"/>
              </a:rPr>
              <a:t>选择并执行对应工具</a:t>
            </a:r>
            <a:endParaRPr lang="zh-CN" altLang="zh-CN" sz="2400" dirty="0">
              <a:effectLst/>
            </a:endParaRPr>
          </a:p>
        </p:txBody>
      </p:sp>
      <p:sp>
        <p:nvSpPr>
          <p:cNvPr id="43" name="文本框 42">
            <a:extLst>
              <a:ext uri="{FF2B5EF4-FFF2-40B4-BE49-F238E27FC236}">
                <a16:creationId xmlns:a16="http://schemas.microsoft.com/office/drawing/2014/main" id="{6BD7183D-1EC0-FE5C-EE4D-0A79E9691B11}"/>
              </a:ext>
            </a:extLst>
          </p:cNvPr>
          <p:cNvSpPr txBox="1"/>
          <p:nvPr/>
        </p:nvSpPr>
        <p:spPr>
          <a:xfrm>
            <a:off x="12122257" y="3341296"/>
            <a:ext cx="3577407" cy="928139"/>
          </a:xfrm>
          <a:prstGeom prst="rect">
            <a:avLst/>
          </a:prstGeom>
          <a:noFill/>
        </p:spPr>
        <p:txBody>
          <a:bodyPr wrap="square" rtlCol="0">
            <a:spAutoFit/>
          </a:bodyPr>
          <a:lstStyle/>
          <a:p>
            <a:pPr marL="0" marR="0" indent="0" algn="l" rtl="0">
              <a:lnSpc>
                <a:spcPct val="117000"/>
              </a:lnSpc>
              <a:buNone/>
            </a:pPr>
            <a:r>
              <a:rPr lang="en-US" altLang="zh-CN" sz="2400" b="0" i="0" dirty="0" err="1">
                <a:solidFill>
                  <a:srgbClr val="FFFFFF">
                    <a:alpha val="90000"/>
                  </a:srgbClr>
                </a:solidFill>
                <a:effectLst/>
                <a:latin typeface="Noto Sans SC" panose="020B0200000000000000" pitchFamily="34" charset="-122"/>
                <a:ea typeface="Noto Sans SC" panose="020B0200000000000000" pitchFamily="34" charset="-122"/>
                <a:cs typeface="Noto Sans SC" panose="020B0200000000000000" pitchFamily="34" charset="-122"/>
              </a:rPr>
              <a:t>观察工具返回结果，决定继续或终止</a:t>
            </a:r>
            <a:endParaRPr lang="zh-CN" altLang="zh-CN" sz="2400" dirty="0">
              <a:effectLst/>
            </a:endParaRPr>
          </a:p>
        </p:txBody>
      </p:sp>
      <p:sp>
        <p:nvSpPr>
          <p:cNvPr id="46" name="TextBox 25">
            <a:extLst>
              <a:ext uri="{FF2B5EF4-FFF2-40B4-BE49-F238E27FC236}">
                <a16:creationId xmlns:a16="http://schemas.microsoft.com/office/drawing/2014/main" id="{C5614A11-228D-4D9C-6803-A41B77178F42}"/>
              </a:ext>
            </a:extLst>
          </p:cNvPr>
          <p:cNvSpPr txBox="1"/>
          <p:nvPr/>
        </p:nvSpPr>
        <p:spPr>
          <a:xfrm>
            <a:off x="6571892" y="2666828"/>
            <a:ext cx="2250731" cy="510158"/>
          </a:xfrm>
          <a:prstGeom prst="rect">
            <a:avLst/>
          </a:prstGeom>
        </p:spPr>
        <p:txBody>
          <a:bodyPr lIns="0" tIns="0" rIns="0" bIns="0" rtlCol="0" anchor="t">
            <a:spAutoFit/>
          </a:bodyPr>
          <a:lstStyle/>
          <a:p>
            <a:pPr algn="ctr">
              <a:lnSpc>
                <a:spcPts val="4368"/>
              </a:lnSpc>
            </a:pPr>
            <a:r>
              <a:rPr lang="en-US" sz="2800" b="1" dirty="0">
                <a:solidFill>
                  <a:schemeClr val="bg1"/>
                </a:solidFill>
                <a:latin typeface="思源黑体 2 Bold"/>
                <a:ea typeface="思源黑体 2 Bold"/>
                <a:cs typeface="思源黑体 2 Bold"/>
                <a:sym typeface="思源黑体 2 Bold"/>
              </a:rPr>
              <a:t>Thought</a:t>
            </a:r>
          </a:p>
        </p:txBody>
      </p:sp>
      <p:sp>
        <p:nvSpPr>
          <p:cNvPr id="48" name="TextBox 25">
            <a:extLst>
              <a:ext uri="{FF2B5EF4-FFF2-40B4-BE49-F238E27FC236}">
                <a16:creationId xmlns:a16="http://schemas.microsoft.com/office/drawing/2014/main" id="{3FBD888B-8D93-797D-018F-E296BFFA6755}"/>
              </a:ext>
            </a:extLst>
          </p:cNvPr>
          <p:cNvSpPr txBox="1"/>
          <p:nvPr/>
        </p:nvSpPr>
        <p:spPr>
          <a:xfrm>
            <a:off x="11816694" y="2667948"/>
            <a:ext cx="2250731" cy="510158"/>
          </a:xfrm>
          <a:prstGeom prst="rect">
            <a:avLst/>
          </a:prstGeom>
        </p:spPr>
        <p:txBody>
          <a:bodyPr lIns="0" tIns="0" rIns="0" bIns="0" rtlCol="0" anchor="t">
            <a:spAutoFit/>
          </a:bodyPr>
          <a:lstStyle/>
          <a:p>
            <a:pPr algn="ctr">
              <a:lnSpc>
                <a:spcPts val="4368"/>
              </a:lnSpc>
            </a:pPr>
            <a:r>
              <a:rPr lang="en-US" sz="2800" b="1" dirty="0">
                <a:solidFill>
                  <a:schemeClr val="bg1"/>
                </a:solidFill>
                <a:latin typeface="思源黑体 2 Bold"/>
                <a:ea typeface="思源黑体 2 Bold"/>
                <a:cs typeface="思源黑体 2 Bold"/>
                <a:sym typeface="思源黑体 2 Bold"/>
              </a:rPr>
              <a:t>Thought</a:t>
            </a:r>
          </a:p>
        </p:txBody>
      </p:sp>
      <p:sp>
        <p:nvSpPr>
          <p:cNvPr id="61" name="文本框 60">
            <a:extLst>
              <a:ext uri="{FF2B5EF4-FFF2-40B4-BE49-F238E27FC236}">
                <a16:creationId xmlns:a16="http://schemas.microsoft.com/office/drawing/2014/main" id="{E9030FED-3408-15C2-68A8-2929D7227C7F}"/>
              </a:ext>
            </a:extLst>
          </p:cNvPr>
          <p:cNvSpPr txBox="1"/>
          <p:nvPr/>
        </p:nvSpPr>
        <p:spPr>
          <a:xfrm>
            <a:off x="1317645" y="5169518"/>
            <a:ext cx="6856941" cy="707886"/>
          </a:xfrm>
          <a:prstGeom prst="rect">
            <a:avLst/>
          </a:prstGeom>
          <a:noFill/>
        </p:spPr>
        <p:txBody>
          <a:bodyPr wrap="square" rtlCol="0">
            <a:spAutoFit/>
          </a:bodyPr>
          <a:lstStyle/>
          <a:p>
            <a:r>
              <a:rPr lang="zh-CN" altLang="en-US" sz="4000" b="1" dirty="0">
                <a:solidFill>
                  <a:srgbClr val="1E1E1E"/>
                </a:solidFill>
                <a:latin typeface="Noto Sans SC"/>
                <a:ea typeface="Noto Sans SC"/>
                <a:sym typeface="Noto Sans SC"/>
              </a:rPr>
              <a:t>未完成则继续循环</a:t>
            </a:r>
            <a:endParaRPr lang="zh-CN" altLang="en-US" sz="4000" dirty="0"/>
          </a:p>
        </p:txBody>
      </p:sp>
      <p:cxnSp>
        <p:nvCxnSpPr>
          <p:cNvPr id="63" name="直接连接符 62">
            <a:extLst>
              <a:ext uri="{FF2B5EF4-FFF2-40B4-BE49-F238E27FC236}">
                <a16:creationId xmlns:a16="http://schemas.microsoft.com/office/drawing/2014/main" id="{F0A9D164-5C1D-035D-FCAA-7A567AF76B68}"/>
              </a:ext>
            </a:extLst>
          </p:cNvPr>
          <p:cNvCxnSpPr>
            <a:cxnSpLocks/>
          </p:cNvCxnSpPr>
          <p:nvPr/>
        </p:nvCxnSpPr>
        <p:spPr>
          <a:xfrm>
            <a:off x="1221320" y="6438900"/>
            <a:ext cx="15757082" cy="0"/>
          </a:xfrm>
          <a:prstGeom prst="line">
            <a:avLst/>
          </a:prstGeom>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3CEB856C-F23B-2E1C-8710-8DCA5A176C43}"/>
              </a:ext>
            </a:extLst>
          </p:cNvPr>
          <p:cNvSpPr txBox="1"/>
          <p:nvPr/>
        </p:nvSpPr>
        <p:spPr>
          <a:xfrm>
            <a:off x="1336478" y="6750124"/>
            <a:ext cx="6856941" cy="707886"/>
          </a:xfrm>
          <a:prstGeom prst="rect">
            <a:avLst/>
          </a:prstGeom>
          <a:noFill/>
        </p:spPr>
        <p:txBody>
          <a:bodyPr wrap="square" rtlCol="0">
            <a:spAutoFit/>
          </a:bodyPr>
          <a:lstStyle/>
          <a:p>
            <a:r>
              <a:rPr lang="zh-CN" altLang="en-US" sz="4000" b="1" dirty="0">
                <a:solidFill>
                  <a:srgbClr val="1E1E1E"/>
                </a:solidFill>
                <a:latin typeface="Noto Sans SC"/>
                <a:ea typeface="Noto Sans SC"/>
                <a:sym typeface="Noto Sans SC"/>
              </a:rPr>
              <a:t>循环终止条件</a:t>
            </a:r>
            <a:endParaRPr lang="zh-CN" altLang="en-US" sz="4000" dirty="0"/>
          </a:p>
        </p:txBody>
      </p:sp>
      <p:sp>
        <p:nvSpPr>
          <p:cNvPr id="67" name="AutoShape 20">
            <a:extLst>
              <a:ext uri="{FF2B5EF4-FFF2-40B4-BE49-F238E27FC236}">
                <a16:creationId xmlns:a16="http://schemas.microsoft.com/office/drawing/2014/main" id="{D73CAD75-F4EC-EB6D-5193-E1667C4765BF}"/>
              </a:ext>
            </a:extLst>
          </p:cNvPr>
          <p:cNvSpPr txBox="1"/>
          <p:nvPr/>
        </p:nvSpPr>
        <p:spPr>
          <a:xfrm>
            <a:off x="1424581" y="7605554"/>
            <a:ext cx="6643067" cy="1890079"/>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indent="-152400" algn="l">
              <a:lnSpc>
                <a:spcPct val="133333"/>
              </a:lnSpc>
              <a:buClr>
                <a:srgbClr val="505A69"/>
              </a:buClr>
              <a:buChar char="•"/>
              <a:defRPr/>
            </a:pPr>
            <a:r>
              <a:rPr lang="en-US" sz="2800" b="0" i="0" u="none" strike="noStrike" dirty="0" err="1">
                <a:solidFill>
                  <a:srgbClr val="505A69"/>
                </a:solidFill>
                <a:latin typeface="Noto Sans SC"/>
                <a:ea typeface="Noto Sans SC"/>
                <a:cs typeface="Noto Sans SC"/>
                <a:sym typeface="Noto Sans SC"/>
              </a:rPr>
              <a:t>最大迭代次数限制（防止死循环</a:t>
            </a:r>
            <a:r>
              <a:rPr lang="en-US" sz="2800" b="0" i="0" u="none" strike="noStrike" dirty="0">
                <a:solidFill>
                  <a:srgbClr val="505A69"/>
                </a:solidFill>
                <a:latin typeface="Noto Sans SC"/>
                <a:ea typeface="Noto Sans SC"/>
                <a:cs typeface="Noto Sans SC"/>
                <a:sym typeface="Noto Sans SC"/>
              </a:rPr>
              <a:t>）</a:t>
            </a:r>
            <a:endParaRPr lang="en-US" sz="2800" dirty="0"/>
          </a:p>
          <a:p>
            <a:pPr marL="152400" indent="-152400" algn="l">
              <a:lnSpc>
                <a:spcPct val="133333"/>
              </a:lnSpc>
              <a:buClr>
                <a:srgbClr val="505A69"/>
              </a:buClr>
              <a:buChar char="•"/>
            </a:pPr>
            <a:r>
              <a:rPr lang="en-US" sz="2800" b="0" i="0" u="none" strike="noStrike" dirty="0" err="1">
                <a:solidFill>
                  <a:srgbClr val="505A69"/>
                </a:solidFill>
                <a:latin typeface="Noto Sans SC"/>
                <a:ea typeface="Noto Sans SC"/>
                <a:cs typeface="Noto Sans SC"/>
                <a:sym typeface="Noto Sans SC"/>
              </a:rPr>
              <a:t>任务完成标志：LLM</a:t>
            </a:r>
            <a:r>
              <a:rPr lang="en-US" sz="2800" b="0" i="0" u="none" strike="noStrike" dirty="0">
                <a:solidFill>
                  <a:srgbClr val="505A69"/>
                </a:solidFill>
                <a:latin typeface="Noto Sans SC"/>
                <a:ea typeface="Noto Sans SC"/>
                <a:cs typeface="Noto Sans SC"/>
                <a:sym typeface="Noto Sans SC"/>
              </a:rPr>
              <a:t> </a:t>
            </a:r>
            <a:r>
              <a:rPr lang="en-US" sz="2800" b="0" i="0" u="none" strike="noStrike" dirty="0" err="1">
                <a:solidFill>
                  <a:srgbClr val="505A69"/>
                </a:solidFill>
                <a:latin typeface="Noto Sans SC"/>
                <a:ea typeface="Noto Sans SC"/>
                <a:cs typeface="Noto Sans SC"/>
                <a:sym typeface="Noto Sans SC"/>
              </a:rPr>
              <a:t>输出</a:t>
            </a:r>
            <a:r>
              <a:rPr lang="en-US" sz="2800" b="0" i="0" u="none" strike="noStrike" dirty="0">
                <a:solidFill>
                  <a:srgbClr val="505A69"/>
                </a:solidFill>
                <a:latin typeface="Noto Sans SC"/>
                <a:ea typeface="Noto Sans SC"/>
                <a:cs typeface="Noto Sans SC"/>
                <a:sym typeface="Noto Sans SC"/>
              </a:rPr>
              <a:t> Final Answer </a:t>
            </a:r>
            <a:r>
              <a:rPr lang="en-US" sz="2800" b="0" i="0" u="none" strike="noStrike" dirty="0" err="1">
                <a:solidFill>
                  <a:srgbClr val="505A69"/>
                </a:solidFill>
                <a:latin typeface="Noto Sans SC"/>
                <a:ea typeface="Noto Sans SC"/>
                <a:cs typeface="Noto Sans SC"/>
                <a:sym typeface="Noto Sans SC"/>
              </a:rPr>
              <a:t>即终止</a:t>
            </a:r>
            <a:endParaRPr lang="en-US" sz="2800" b="0" i="0" u="none" strike="noStrike" dirty="0">
              <a:solidFill>
                <a:srgbClr val="505A69"/>
              </a:solidFill>
              <a:latin typeface="Noto Sans SC"/>
              <a:ea typeface="Noto Sans SC"/>
              <a:cs typeface="Noto Sans SC"/>
              <a:sym typeface="Noto Sans SC"/>
            </a:endParaRPr>
          </a:p>
        </p:txBody>
      </p:sp>
      <p:sp>
        <p:nvSpPr>
          <p:cNvPr id="69" name="AutoShape 21">
            <a:extLst>
              <a:ext uri="{FF2B5EF4-FFF2-40B4-BE49-F238E27FC236}">
                <a16:creationId xmlns:a16="http://schemas.microsoft.com/office/drawing/2014/main" id="{818C5E56-E65F-6B94-B789-5BADEF9F96CE}"/>
              </a:ext>
            </a:extLst>
          </p:cNvPr>
          <p:cNvSpPr txBox="1"/>
          <p:nvPr/>
        </p:nvSpPr>
        <p:spPr>
          <a:xfrm>
            <a:off x="8975151" y="7443426"/>
            <a:ext cx="7479407" cy="1944581"/>
          </a:xfrm>
          <a:prstGeom prst="rect">
            <a:avLst/>
          </a:prstGeom>
          <a:noFill/>
          <a:ln w="12700" cap="flat" cmpd="sng">
            <a:noFill/>
            <a:prstDash val="solid"/>
            <a:round/>
          </a:ln>
        </p:spPr>
        <p:txBody>
          <a:bodyPr vert="horz" wrap="square" lIns="0" tIns="0" rIns="0" bIns="0" rtlCol="0" anchor="ctr" anchorCtr="0"/>
          <a:lstStyle/>
          <a:p>
            <a:pPr marL="152400" indent="-152400" algn="l">
              <a:lnSpc>
                <a:spcPct val="133333"/>
              </a:lnSpc>
              <a:buClr>
                <a:srgbClr val="505A69"/>
              </a:buClr>
              <a:buChar char="•"/>
              <a:defRPr/>
            </a:pPr>
            <a:r>
              <a:rPr lang="en-US" sz="2800" b="0" i="0" u="none" strike="noStrike" dirty="0" err="1">
                <a:solidFill>
                  <a:srgbClr val="505A69"/>
                </a:solidFill>
                <a:latin typeface="Noto Sans SC"/>
                <a:ea typeface="Noto Sans SC"/>
                <a:cs typeface="Noto Sans SC"/>
                <a:sym typeface="Noto Sans SC"/>
              </a:rPr>
              <a:t>输出解析器：正则匹配</a:t>
            </a:r>
            <a:r>
              <a:rPr lang="en-US" sz="2800" b="0" i="0" u="none" strike="noStrike" dirty="0">
                <a:solidFill>
                  <a:srgbClr val="505A69"/>
                </a:solidFill>
                <a:latin typeface="Noto Sans SC"/>
                <a:ea typeface="Noto Sans SC"/>
                <a:cs typeface="Noto Sans SC"/>
                <a:sym typeface="Noto Sans SC"/>
              </a:rPr>
              <a:t> Thought / Action / Final Answer</a:t>
            </a:r>
            <a:endParaRPr lang="en-US" sz="2800" dirty="0"/>
          </a:p>
          <a:p>
            <a:pPr marL="152400" indent="-152400" algn="l">
              <a:lnSpc>
                <a:spcPct val="133333"/>
              </a:lnSpc>
              <a:buClr>
                <a:srgbClr val="505A69"/>
              </a:buClr>
              <a:buChar char="•"/>
            </a:pPr>
            <a:r>
              <a:rPr lang="en-US" sz="2800" b="0" i="0" u="none" strike="noStrike" dirty="0" err="1">
                <a:solidFill>
                  <a:srgbClr val="505A69"/>
                </a:solidFill>
                <a:latin typeface="Noto Sans SC"/>
                <a:ea typeface="Noto Sans SC"/>
                <a:cs typeface="Noto Sans SC"/>
                <a:sym typeface="Noto Sans SC"/>
              </a:rPr>
              <a:t>解析失败时记录错误并安全退出</a:t>
            </a:r>
            <a:endParaRPr lang="en-US" sz="2800" b="0" i="0" u="none" strike="noStrike" dirty="0">
              <a:solidFill>
                <a:srgbClr val="505A69"/>
              </a:solidFill>
              <a:latin typeface="Noto Sans SC"/>
              <a:ea typeface="Noto Sans SC"/>
              <a:cs typeface="Noto Sans SC"/>
              <a:sym typeface="Noto Sans SC"/>
            </a:endParaRPr>
          </a:p>
        </p:txBody>
      </p:sp>
    </p:spTree>
    <p:extLst>
      <p:ext uri="{BB962C8B-B14F-4D97-AF65-F5344CB8AC3E}">
        <p14:creationId xmlns:p14="http://schemas.microsoft.com/office/powerpoint/2010/main" val="6290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14094872" cy="1590179"/>
          </a:xfrm>
          <a:prstGeom prst="rect">
            <a:avLst/>
          </a:prstGeom>
        </p:spPr>
        <p:txBody>
          <a:bodyPr wrap="square" lIns="0" tIns="0" rIns="0" bIns="0" rtlCol="0" anchor="t">
            <a:spAutoFit/>
          </a:bodyPr>
          <a:lstStyle/>
          <a:p>
            <a:pPr algn="l">
              <a:lnSpc>
                <a:spcPts val="6239"/>
              </a:lnSpc>
            </a:pPr>
            <a:r>
              <a:rPr lang="en-US" sz="5199" b="1" dirty="0">
                <a:solidFill>
                  <a:srgbClr val="100F0D"/>
                </a:solidFill>
                <a:latin typeface="思源黑体 2 Heavy"/>
                <a:ea typeface="思源黑体 2 Heavy"/>
                <a:cs typeface="思源黑体 2 Heavy"/>
                <a:sym typeface="思源黑体 2 Heavy"/>
              </a:rPr>
              <a:t>System Prompt </a:t>
            </a:r>
            <a:r>
              <a:rPr lang="zh-CN" altLang="en-US" sz="5199" b="1" dirty="0">
                <a:solidFill>
                  <a:srgbClr val="100F0D"/>
                </a:solidFill>
                <a:latin typeface="思源黑体 2 Heavy"/>
                <a:ea typeface="思源黑体 2 Heavy"/>
                <a:cs typeface="思源黑体 2 Heavy"/>
                <a:sym typeface="思源黑体 2 Heavy"/>
              </a:rPr>
              <a:t>结构：约束 </a:t>
            </a:r>
            <a:r>
              <a:rPr lang="en-US" sz="5199" b="1" dirty="0">
                <a:solidFill>
                  <a:srgbClr val="100F0D"/>
                </a:solidFill>
                <a:latin typeface="思源黑体 2 Heavy"/>
                <a:ea typeface="思源黑体 2 Heavy"/>
                <a:cs typeface="思源黑体 2 Heavy"/>
                <a:sym typeface="思源黑体 2 Heavy"/>
              </a:rPr>
              <a:t>LLM </a:t>
            </a:r>
            <a:r>
              <a:rPr lang="zh-CN" altLang="en-US" sz="5199" b="1" dirty="0">
                <a:solidFill>
                  <a:srgbClr val="100F0D"/>
                </a:solidFill>
                <a:latin typeface="思源黑体 2 Heavy"/>
                <a:ea typeface="思源黑体 2 Heavy"/>
                <a:cs typeface="思源黑体 2 Heavy"/>
                <a:sym typeface="思源黑体 2 Heavy"/>
              </a:rPr>
              <a:t>输出格式</a:t>
            </a:r>
          </a:p>
          <a:p>
            <a:pPr algn="l">
              <a:lnSpc>
                <a:spcPts val="6239"/>
              </a:lnSpc>
            </a:pPr>
            <a:endParaRPr lang="en-US" sz="5199" b="1" dirty="0">
              <a:solidFill>
                <a:srgbClr val="100F0D"/>
              </a:solidFill>
              <a:latin typeface="思源黑体 2 Heavy"/>
              <a:ea typeface="思源黑体 2 Heavy"/>
              <a:cs typeface="思源黑体 2 Heavy"/>
              <a:sym typeface="思源黑体 2 Heavy"/>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5400000">
            <a:off x="11540971" y="408125"/>
            <a:ext cx="2712215" cy="7932235"/>
            <a:chOff x="0" y="0"/>
            <a:chExt cx="812800" cy="2377143"/>
          </a:xfrm>
        </p:grpSpPr>
        <p:sp>
          <p:nvSpPr>
            <p:cNvPr id="23" name="Freeform 23"/>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4" name="TextBox 24"/>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5" name="Group 25"/>
          <p:cNvGrpSpPr/>
          <p:nvPr/>
        </p:nvGrpSpPr>
        <p:grpSpPr>
          <a:xfrm rot="5400000">
            <a:off x="11540971" y="3396564"/>
            <a:ext cx="2712215" cy="7932235"/>
            <a:chOff x="0" y="0"/>
            <a:chExt cx="812800" cy="2377143"/>
          </a:xfrm>
        </p:grpSpPr>
        <p:sp>
          <p:nvSpPr>
            <p:cNvPr id="26" name="Freeform 26"/>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7" name="TextBox 27"/>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8" name="Group 28"/>
          <p:cNvGrpSpPr/>
          <p:nvPr/>
        </p:nvGrpSpPr>
        <p:grpSpPr>
          <a:xfrm>
            <a:off x="8390646" y="3833927"/>
            <a:ext cx="1080630" cy="108063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0" name="TextBox 30"/>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grpSp>
        <p:nvGrpSpPr>
          <p:cNvPr id="31" name="Group 31"/>
          <p:cNvGrpSpPr/>
          <p:nvPr/>
        </p:nvGrpSpPr>
        <p:grpSpPr>
          <a:xfrm>
            <a:off x="8390646" y="6822367"/>
            <a:ext cx="1080630" cy="108063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3" name="TextBox 33"/>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sp>
        <p:nvSpPr>
          <p:cNvPr id="34" name="Freeform 34"/>
          <p:cNvSpPr/>
          <p:nvPr/>
        </p:nvSpPr>
        <p:spPr>
          <a:xfrm>
            <a:off x="8644924" y="7076645"/>
            <a:ext cx="572074" cy="572074"/>
          </a:xfrm>
          <a:custGeom>
            <a:avLst/>
            <a:gdLst/>
            <a:ahLst/>
            <a:cxnLst/>
            <a:rect l="l" t="t" r="r" b="b"/>
            <a:pathLst>
              <a:path w="572074" h="572074">
                <a:moveTo>
                  <a:pt x="0" y="0"/>
                </a:moveTo>
                <a:lnTo>
                  <a:pt x="572074" y="0"/>
                </a:lnTo>
                <a:lnTo>
                  <a:pt x="572074" y="572074"/>
                </a:lnTo>
                <a:lnTo>
                  <a:pt x="0" y="572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8601149" y="4088205"/>
            <a:ext cx="659624" cy="572074"/>
          </a:xfrm>
          <a:custGeom>
            <a:avLst/>
            <a:gdLst/>
            <a:ahLst/>
            <a:cxnLst/>
            <a:rect l="l" t="t" r="r" b="b"/>
            <a:pathLst>
              <a:path w="659624" h="572074">
                <a:moveTo>
                  <a:pt x="0" y="0"/>
                </a:moveTo>
                <a:lnTo>
                  <a:pt x="659624" y="0"/>
                </a:lnTo>
                <a:lnTo>
                  <a:pt x="659624" y="572074"/>
                </a:lnTo>
                <a:lnTo>
                  <a:pt x="0" y="5720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6" name="TextBox 36"/>
          <p:cNvSpPr txBox="1"/>
          <p:nvPr/>
        </p:nvSpPr>
        <p:spPr>
          <a:xfrm>
            <a:off x="10011590" y="4099880"/>
            <a:ext cx="6283175" cy="923330"/>
          </a:xfrm>
          <a:prstGeom prst="rect">
            <a:avLst/>
          </a:prstGeom>
        </p:spPr>
        <p:txBody>
          <a:bodyPr lIns="0" tIns="0" rIns="0" bIns="0" rtlCol="0" anchor="t">
            <a:spAutoFit/>
          </a:bodyPr>
          <a:lstStyle/>
          <a:p>
            <a:r>
              <a:rPr lang="en-US" altLang="zh-CN" sz="2000" b="1" dirty="0" err="1"/>
              <a:t>角色定义</a:t>
            </a:r>
            <a:r>
              <a:rPr lang="en-US" altLang="zh-CN" sz="2000" dirty="0"/>
              <a:t>　</a:t>
            </a:r>
            <a:r>
              <a:rPr lang="en-US" altLang="zh-CN" sz="2000" dirty="0" err="1"/>
              <a:t>你是科研文献智能助手</a:t>
            </a:r>
            <a:r>
              <a:rPr lang="en-US" altLang="zh-CN" sz="2000" dirty="0"/>
              <a:t>……</a:t>
            </a:r>
            <a:endParaRPr lang="zh-CN" altLang="zh-CN" sz="2000" dirty="0"/>
          </a:p>
          <a:p>
            <a:r>
              <a:rPr lang="en-US" altLang="zh-CN" sz="2000" b="1" dirty="0" err="1"/>
              <a:t>可用工具描述</a:t>
            </a:r>
            <a:r>
              <a:rPr lang="en-US" altLang="zh-CN" sz="2000" dirty="0"/>
              <a:t>　</a:t>
            </a:r>
            <a:r>
              <a:rPr lang="en-US" altLang="zh-CN" sz="2000" dirty="0" err="1"/>
              <a:t>列出每个工具的名称、用途、参数</a:t>
            </a:r>
            <a:endParaRPr lang="zh-CN" altLang="zh-CN" sz="2000" dirty="0"/>
          </a:p>
          <a:p>
            <a:r>
              <a:rPr lang="en-US" altLang="zh-CN" sz="2000" b="1" dirty="0" err="1"/>
              <a:t>输出格式约束</a:t>
            </a:r>
            <a:r>
              <a:rPr lang="en-US" altLang="zh-CN" sz="2000" dirty="0"/>
              <a:t>　</a:t>
            </a:r>
            <a:r>
              <a:rPr lang="en-US" altLang="zh-CN" sz="2000" dirty="0" err="1"/>
              <a:t>必须输出</a:t>
            </a:r>
            <a:r>
              <a:rPr lang="en-US" altLang="zh-CN" sz="2000" dirty="0"/>
              <a:t> Thought / Action / </a:t>
            </a:r>
            <a:r>
              <a:rPr lang="en-US" altLang="zh-CN" sz="2000" dirty="0" err="1"/>
              <a:t>Args</a:t>
            </a:r>
            <a:r>
              <a:rPr lang="en-US" altLang="zh-CN" sz="2000" dirty="0"/>
              <a:t> </a:t>
            </a:r>
            <a:r>
              <a:rPr lang="en-US" altLang="zh-CN" sz="2000" dirty="0" err="1"/>
              <a:t>三行</a:t>
            </a:r>
            <a:endParaRPr lang="en-US" sz="2000" u="none" strike="noStrike" dirty="0">
              <a:solidFill>
                <a:srgbClr val="1E1E1E"/>
              </a:solidFill>
              <a:latin typeface="思源黑体 2"/>
              <a:ea typeface="思源黑体 2"/>
              <a:cs typeface="思源黑体 2"/>
              <a:sym typeface="思源黑体 2"/>
            </a:endParaRPr>
          </a:p>
        </p:txBody>
      </p:sp>
      <p:sp>
        <p:nvSpPr>
          <p:cNvPr id="37" name="TextBox 37"/>
          <p:cNvSpPr txBox="1"/>
          <p:nvPr/>
        </p:nvSpPr>
        <p:spPr>
          <a:xfrm>
            <a:off x="9976101" y="3283025"/>
            <a:ext cx="5035299" cy="1073179"/>
          </a:xfrm>
          <a:prstGeom prst="rect">
            <a:avLst/>
          </a:prstGeom>
        </p:spPr>
        <p:txBody>
          <a:bodyPr wrap="square" lIns="0" tIns="0" rIns="0" bIns="0" rtlCol="0" anchor="t">
            <a:spAutoFit/>
          </a:bodyPr>
          <a:lstStyle/>
          <a:p>
            <a:pPr marL="0" lvl="0" indent="0" algn="l">
              <a:lnSpc>
                <a:spcPts val="4368"/>
              </a:lnSpc>
              <a:spcBef>
                <a:spcPct val="0"/>
              </a:spcBef>
            </a:pPr>
            <a:r>
              <a:rPr lang="zh-CN" altLang="en-US" sz="2800" b="1" dirty="0">
                <a:solidFill>
                  <a:srgbClr val="1E1E1E"/>
                </a:solidFill>
                <a:latin typeface="思源黑体 2 Bold"/>
                <a:ea typeface="思源黑体 2 Bold"/>
                <a:cs typeface="思源黑体 2 Bold"/>
                <a:sym typeface="思源黑体 2 Bold"/>
              </a:rPr>
              <a:t>三段式 </a:t>
            </a:r>
            <a:r>
              <a:rPr lang="en-US" sz="2800" b="1" dirty="0">
                <a:solidFill>
                  <a:srgbClr val="1E1E1E"/>
                </a:solidFill>
                <a:latin typeface="思源黑体 2 Bold"/>
                <a:ea typeface="思源黑体 2 Bold"/>
                <a:cs typeface="思源黑体 2 Bold"/>
                <a:sym typeface="思源黑体 2 Bold"/>
              </a:rPr>
              <a:t>System Prompt</a:t>
            </a:r>
          </a:p>
          <a:p>
            <a:pPr marL="0" lvl="0" indent="0" algn="l">
              <a:lnSpc>
                <a:spcPts val="4368"/>
              </a:lnSpc>
              <a:spcBef>
                <a:spcPct val="0"/>
              </a:spcBef>
            </a:pPr>
            <a:endParaRPr lang="en-US" sz="2800" b="1" dirty="0">
              <a:solidFill>
                <a:srgbClr val="1E1E1E"/>
              </a:solidFill>
              <a:latin typeface="思源黑体 2 Bold"/>
              <a:ea typeface="思源黑体 2 Bold"/>
              <a:cs typeface="思源黑体 2 Bold"/>
              <a:sym typeface="思源黑体 2 Bold"/>
            </a:endParaRPr>
          </a:p>
        </p:txBody>
      </p:sp>
      <p:sp>
        <p:nvSpPr>
          <p:cNvPr id="38" name="TextBox 38"/>
          <p:cNvSpPr txBox="1"/>
          <p:nvPr/>
        </p:nvSpPr>
        <p:spPr>
          <a:xfrm>
            <a:off x="9976101" y="6271465"/>
            <a:ext cx="2889059" cy="510158"/>
          </a:xfrm>
          <a:prstGeom prst="rect">
            <a:avLst/>
          </a:prstGeom>
        </p:spPr>
        <p:txBody>
          <a:bodyPr lIns="0" tIns="0" rIns="0" bIns="0" rtlCol="0" anchor="t">
            <a:spAutoFit/>
          </a:bodyPr>
          <a:lstStyle/>
          <a:p>
            <a:pPr marL="0" lvl="0" indent="0" algn="l">
              <a:lnSpc>
                <a:spcPts val="4368"/>
              </a:lnSpc>
              <a:spcBef>
                <a:spcPct val="0"/>
              </a:spcBef>
            </a:pPr>
            <a:r>
              <a:rPr lang="zh-CN" altLang="en-US" sz="2800" b="1" dirty="0">
                <a:solidFill>
                  <a:srgbClr val="1E1E1E"/>
                </a:solidFill>
                <a:latin typeface="思源黑体 2 Bold"/>
                <a:ea typeface="思源黑体 2 Bold"/>
                <a:cs typeface="思源黑体 2 Bold"/>
                <a:sym typeface="思源黑体 2 Bold"/>
              </a:rPr>
              <a:t>输出解析</a:t>
            </a:r>
            <a:endParaRPr lang="en-US" sz="2800" b="1" dirty="0">
              <a:solidFill>
                <a:srgbClr val="1E1E1E"/>
              </a:solidFill>
              <a:latin typeface="思源黑体 2 Bold"/>
              <a:ea typeface="思源黑体 2 Bold"/>
              <a:cs typeface="思源黑体 2 Bold"/>
              <a:sym typeface="思源黑体 2 Bold"/>
            </a:endParaRPr>
          </a:p>
        </p:txBody>
      </p:sp>
      <p:grpSp>
        <p:nvGrpSpPr>
          <p:cNvPr id="40" name="Group 40"/>
          <p:cNvGrpSpPr/>
          <p:nvPr/>
        </p:nvGrpSpPr>
        <p:grpSpPr>
          <a:xfrm>
            <a:off x="1424804" y="2095500"/>
            <a:ext cx="6572424" cy="6801454"/>
            <a:chOff x="0" y="0"/>
            <a:chExt cx="812800" cy="812800"/>
          </a:xfrm>
        </p:grpSpPr>
        <p:sp>
          <p:nvSpPr>
            <p:cNvPr id="41" name="Freeform 4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263D6D"/>
            </a:solidFill>
          </p:spPr>
          <p:txBody>
            <a:bodyPr/>
            <a:lstStyle/>
            <a:p>
              <a:endParaRPr lang="zh-CN" altLang="en-US" dirty="0"/>
            </a:p>
          </p:txBody>
        </p:sp>
        <p:sp>
          <p:nvSpPr>
            <p:cNvPr id="42" name="TextBox 42"/>
            <p:cNvSpPr txBox="1"/>
            <p:nvPr/>
          </p:nvSpPr>
          <p:spPr>
            <a:xfrm>
              <a:off x="0" y="0"/>
              <a:ext cx="812800" cy="812800"/>
            </a:xfrm>
            <a:prstGeom prst="rect">
              <a:avLst/>
            </a:prstGeom>
          </p:spPr>
          <p:txBody>
            <a:bodyPr lIns="50800" tIns="50800" rIns="50800" bIns="50800" rtlCol="0" anchor="ctr"/>
            <a:lstStyle/>
            <a:p>
              <a:pPr algn="ctr">
                <a:lnSpc>
                  <a:spcPts val="2987"/>
                </a:lnSpc>
              </a:pPr>
              <a:endParaRPr/>
            </a:p>
          </p:txBody>
        </p:sp>
      </p:grpSp>
      <p:sp>
        <p:nvSpPr>
          <p:cNvPr id="48" name="文本框 47">
            <a:extLst>
              <a:ext uri="{FF2B5EF4-FFF2-40B4-BE49-F238E27FC236}">
                <a16:creationId xmlns:a16="http://schemas.microsoft.com/office/drawing/2014/main" id="{892B8F00-374C-2946-8A52-FB54E77FF5BE}"/>
              </a:ext>
            </a:extLst>
          </p:cNvPr>
          <p:cNvSpPr txBox="1"/>
          <p:nvPr/>
        </p:nvSpPr>
        <p:spPr>
          <a:xfrm>
            <a:off x="1676400" y="2259145"/>
            <a:ext cx="2411187" cy="738664"/>
          </a:xfrm>
          <a:prstGeom prst="rect">
            <a:avLst/>
          </a:prstGeom>
          <a:noFill/>
        </p:spPr>
        <p:txBody>
          <a:bodyPr wrap="square" rtlCol="0">
            <a:spAutoFit/>
          </a:bodyPr>
          <a:lstStyle/>
          <a:p>
            <a:r>
              <a:rPr lang="en-US" altLang="zh-CN" sz="2400" dirty="0">
                <a:solidFill>
                  <a:schemeClr val="bg1"/>
                </a:solidFill>
              </a:rPr>
              <a:t>LLM </a:t>
            </a:r>
            <a:r>
              <a:rPr lang="en-US" altLang="zh-CN" sz="2400" dirty="0" err="1">
                <a:solidFill>
                  <a:schemeClr val="bg1"/>
                </a:solidFill>
              </a:rPr>
              <a:t>输出示例</a:t>
            </a:r>
            <a:endParaRPr lang="zh-CN" altLang="zh-CN" sz="2400" dirty="0">
              <a:solidFill>
                <a:schemeClr val="bg1"/>
              </a:solidFill>
            </a:endParaRPr>
          </a:p>
          <a:p>
            <a:endParaRPr lang="zh-CN" altLang="en-US" dirty="0"/>
          </a:p>
        </p:txBody>
      </p:sp>
      <p:sp>
        <p:nvSpPr>
          <p:cNvPr id="49" name="AutoShape 12">
            <a:extLst>
              <a:ext uri="{FF2B5EF4-FFF2-40B4-BE49-F238E27FC236}">
                <a16:creationId xmlns:a16="http://schemas.microsoft.com/office/drawing/2014/main" id="{84E2D628-D05C-0529-9D8B-B7F9F293B796}"/>
              </a:ext>
            </a:extLst>
          </p:cNvPr>
          <p:cNvSpPr txBox="1"/>
          <p:nvPr/>
        </p:nvSpPr>
        <p:spPr>
          <a:xfrm>
            <a:off x="1717555" y="2971748"/>
            <a:ext cx="6069170" cy="5448352"/>
          </a:xfrm>
          <a:prstGeom prst="rect">
            <a:avLst/>
          </a:prstGeom>
          <a:noFill/>
          <a:ln w="12700" cap="flat" cmpd="sng">
            <a:noFill/>
            <a:prstDash val="solid"/>
            <a:round/>
          </a:ln>
        </p:spPr>
        <p:txBody>
          <a:bodyPr vert="horz" wrap="square" lIns="0" tIns="0" rIns="0" bIns="0" rtlCol="0" anchor="ctr" anchorCtr="0"/>
          <a:lstStyle/>
          <a:p>
            <a:pPr>
              <a:lnSpc>
                <a:spcPct val="141666"/>
              </a:lnSpc>
              <a:buClr>
                <a:srgbClr val="000000"/>
              </a:buClr>
              <a:buFont typeface="Arial"/>
              <a:buNone/>
              <a:defRPr/>
            </a:pPr>
            <a:r>
              <a:rPr lang="en-US" sz="2400" kern="0" dirty="0">
                <a:solidFill>
                  <a:srgbClr val="60A5FA"/>
                </a:solidFill>
                <a:latin typeface="Roboto Mono"/>
                <a:ea typeface="Roboto Mono"/>
                <a:cs typeface="Roboto Mono"/>
                <a:sym typeface="Roboto Mono"/>
              </a:rPr>
              <a:t>Thought:</a:t>
            </a: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需要检索知识库中关于</a:t>
            </a:r>
            <a:endParaRPr lang="en-US" sz="2400" kern="0" dirty="0">
              <a:solidFill>
                <a:srgbClr val="000000"/>
              </a:solidFill>
              <a:latin typeface="Arial"/>
              <a:cs typeface="Arial"/>
              <a:sym typeface="Arial"/>
            </a:endParaRPr>
          </a:p>
          <a:p>
            <a:pPr>
              <a:lnSpc>
                <a:spcPct val="141666"/>
              </a:lnSpc>
              <a:buClr>
                <a:srgbClr val="000000"/>
              </a:buClr>
              <a:buFont typeface="Arial"/>
              <a:buNone/>
            </a:pP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注意力机制的相关文献</a:t>
            </a:r>
            <a:endParaRPr lang="en-US" sz="2400" kern="0" dirty="0">
              <a:solidFill>
                <a:srgbClr val="CBD5E1"/>
              </a:solidFill>
              <a:latin typeface="Roboto Mono"/>
              <a:ea typeface="Roboto Mono"/>
              <a:cs typeface="Roboto Mono"/>
              <a:sym typeface="Roboto Mono"/>
            </a:endParaRPr>
          </a:p>
          <a:p>
            <a:pPr>
              <a:lnSpc>
                <a:spcPct val="141666"/>
              </a:lnSpc>
              <a:buClr>
                <a:srgbClr val="000000"/>
              </a:buClr>
              <a:buFont typeface="Arial"/>
              <a:buNone/>
            </a:pPr>
            <a:r>
              <a:rPr lang="en-US" sz="2400" kern="0" dirty="0">
                <a:solidFill>
                  <a:srgbClr val="34D399"/>
                </a:solidFill>
                <a:latin typeface="Roboto Mono"/>
                <a:ea typeface="Roboto Mono"/>
                <a:cs typeface="Roboto Mono"/>
                <a:sym typeface="Roboto Mono"/>
              </a:rPr>
              <a:t>Action:</a:t>
            </a: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knowledge_search</a:t>
            </a:r>
            <a:endParaRPr lang="en-US" sz="2400" kern="0" dirty="0">
              <a:solidFill>
                <a:srgbClr val="CBD5E1"/>
              </a:solidFill>
              <a:latin typeface="Roboto Mono"/>
              <a:ea typeface="Roboto Mono"/>
              <a:cs typeface="Roboto Mono"/>
              <a:sym typeface="Roboto Mono"/>
            </a:endParaRPr>
          </a:p>
          <a:p>
            <a:pPr>
              <a:lnSpc>
                <a:spcPct val="141666"/>
              </a:lnSpc>
              <a:buClr>
                <a:srgbClr val="000000"/>
              </a:buClr>
              <a:buFont typeface="Arial"/>
              <a:buNone/>
            </a:pPr>
            <a:r>
              <a:rPr lang="en-US" sz="2400" kern="0" dirty="0" err="1">
                <a:solidFill>
                  <a:srgbClr val="34D399"/>
                </a:solidFill>
                <a:latin typeface="Roboto Mono"/>
                <a:ea typeface="Roboto Mono"/>
                <a:cs typeface="Roboto Mono"/>
                <a:sym typeface="Roboto Mono"/>
              </a:rPr>
              <a:t>Args</a:t>
            </a:r>
            <a:r>
              <a:rPr lang="en-US" sz="2400" kern="0" dirty="0">
                <a:solidFill>
                  <a:srgbClr val="34D399"/>
                </a:solidFill>
                <a:latin typeface="Roboto Mono"/>
                <a:ea typeface="Roboto Mono"/>
                <a:cs typeface="Roboto Mono"/>
                <a:sym typeface="Roboto Mono"/>
              </a:rPr>
              <a:t>:</a:t>
            </a:r>
            <a:r>
              <a:rPr lang="en-US" sz="2400" kern="0" dirty="0">
                <a:solidFill>
                  <a:srgbClr val="CBD5E1"/>
                </a:solidFill>
                <a:latin typeface="Roboto Mono"/>
                <a:ea typeface="Roboto Mono"/>
                <a:cs typeface="Roboto Mono"/>
                <a:sym typeface="Roboto Mono"/>
              </a:rPr>
              <a:t> {"query": "</a:t>
            </a:r>
            <a:r>
              <a:rPr lang="en-US" sz="2400" kern="0" dirty="0" err="1">
                <a:solidFill>
                  <a:srgbClr val="CBD5E1"/>
                </a:solidFill>
                <a:latin typeface="Roboto Mono"/>
                <a:ea typeface="Roboto Mono"/>
                <a:cs typeface="Roboto Mono"/>
                <a:sym typeface="Roboto Mono"/>
              </a:rPr>
              <a:t>注意力机制</a:t>
            </a: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top_k</a:t>
            </a:r>
            <a:r>
              <a:rPr lang="en-US" sz="2400" kern="0" dirty="0">
                <a:solidFill>
                  <a:srgbClr val="CBD5E1"/>
                </a:solidFill>
                <a:latin typeface="Roboto Mono"/>
                <a:ea typeface="Roboto Mono"/>
                <a:cs typeface="Roboto Mono"/>
                <a:sym typeface="Roboto Mono"/>
              </a:rPr>
              <a:t>": 3}</a:t>
            </a:r>
          </a:p>
          <a:p>
            <a:pPr>
              <a:lnSpc>
                <a:spcPct val="141666"/>
              </a:lnSpc>
              <a:buClr>
                <a:srgbClr val="000000"/>
              </a:buClr>
              <a:buFont typeface="Arial"/>
              <a:buNone/>
            </a:pPr>
            <a:endParaRPr lang="en-US" sz="2400" kern="0" dirty="0">
              <a:solidFill>
                <a:srgbClr val="CBD5E1"/>
              </a:solidFill>
              <a:latin typeface="Roboto Mono"/>
              <a:ea typeface="Roboto Mono"/>
              <a:cs typeface="Roboto Mono"/>
              <a:sym typeface="Roboto Mono"/>
            </a:endParaRPr>
          </a:p>
          <a:p>
            <a:pPr>
              <a:lnSpc>
                <a:spcPct val="141666"/>
              </a:lnSpc>
              <a:buClr>
                <a:srgbClr val="000000"/>
              </a:buClr>
              <a:buFont typeface="Arial"/>
              <a:buNone/>
            </a:pPr>
            <a:r>
              <a:rPr lang="en-US" sz="2400" kern="0" dirty="0">
                <a:solidFill>
                  <a:srgbClr val="60A5FA"/>
                </a:solidFill>
                <a:latin typeface="Roboto Mono"/>
                <a:ea typeface="Roboto Mono"/>
                <a:cs typeface="Roboto Mono"/>
                <a:sym typeface="Roboto Mono"/>
              </a:rPr>
              <a:t>Thought:</a:t>
            </a: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已获得足够信息</a:t>
            </a:r>
            <a:r>
              <a:rPr lang="en-US" sz="2400" kern="0" dirty="0">
                <a:solidFill>
                  <a:srgbClr val="CBD5E1"/>
                </a:solidFill>
                <a:latin typeface="Roboto Mono"/>
                <a:ea typeface="Roboto Mono"/>
                <a:cs typeface="Roboto Mono"/>
                <a:sym typeface="Roboto Mono"/>
              </a:rPr>
              <a:t>，</a:t>
            </a:r>
          </a:p>
          <a:p>
            <a:pPr>
              <a:lnSpc>
                <a:spcPct val="141666"/>
              </a:lnSpc>
              <a:buClr>
                <a:srgbClr val="000000"/>
              </a:buClr>
              <a:buFont typeface="Arial"/>
              <a:buNone/>
            </a:pP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可以总结回答了</a:t>
            </a:r>
            <a:endParaRPr lang="en-US" sz="2400" kern="0" dirty="0">
              <a:solidFill>
                <a:srgbClr val="CBD5E1"/>
              </a:solidFill>
              <a:latin typeface="Roboto Mono"/>
              <a:ea typeface="Roboto Mono"/>
              <a:cs typeface="Roboto Mono"/>
              <a:sym typeface="Roboto Mono"/>
            </a:endParaRPr>
          </a:p>
          <a:p>
            <a:pPr>
              <a:lnSpc>
                <a:spcPct val="141666"/>
              </a:lnSpc>
              <a:buClr>
                <a:srgbClr val="000000"/>
              </a:buClr>
              <a:buFont typeface="Arial"/>
              <a:buNone/>
            </a:pPr>
            <a:r>
              <a:rPr lang="en-US" sz="2400" kern="0" dirty="0">
                <a:solidFill>
                  <a:srgbClr val="FBBF24"/>
                </a:solidFill>
                <a:latin typeface="Roboto Mono"/>
                <a:ea typeface="Roboto Mono"/>
                <a:cs typeface="Roboto Mono"/>
                <a:sym typeface="Roboto Mono"/>
              </a:rPr>
              <a:t>Final Answer:</a:t>
            </a: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注意力机制通过加权</a:t>
            </a:r>
            <a:endParaRPr lang="en-US" sz="2400" kern="0" dirty="0">
              <a:solidFill>
                <a:srgbClr val="CBD5E1"/>
              </a:solidFill>
              <a:latin typeface="Roboto Mono"/>
              <a:ea typeface="Roboto Mono"/>
              <a:cs typeface="Roboto Mono"/>
              <a:sym typeface="Roboto Mono"/>
            </a:endParaRPr>
          </a:p>
          <a:p>
            <a:pPr>
              <a:lnSpc>
                <a:spcPct val="141666"/>
              </a:lnSpc>
              <a:buClr>
                <a:srgbClr val="000000"/>
              </a:buClr>
              <a:buFont typeface="Arial"/>
              <a:buNone/>
            </a:pPr>
            <a:r>
              <a:rPr lang="en-US" sz="2400" kern="0" dirty="0">
                <a:solidFill>
                  <a:srgbClr val="CBD5E1"/>
                </a:solidFill>
                <a:latin typeface="Roboto Mono"/>
                <a:ea typeface="Roboto Mono"/>
                <a:cs typeface="Roboto Mono"/>
                <a:sym typeface="Roboto Mono"/>
              </a:rPr>
              <a:t>　</a:t>
            </a:r>
            <a:r>
              <a:rPr lang="en-US" sz="2400" kern="0" dirty="0" err="1">
                <a:solidFill>
                  <a:srgbClr val="CBD5E1"/>
                </a:solidFill>
                <a:latin typeface="Roboto Mono"/>
                <a:ea typeface="Roboto Mono"/>
                <a:cs typeface="Roboto Mono"/>
                <a:sym typeface="Roboto Mono"/>
              </a:rPr>
              <a:t>求和聚焦关键信息，引用</a:t>
            </a:r>
            <a:r>
              <a:rPr lang="en-US" sz="2400" kern="0" dirty="0">
                <a:solidFill>
                  <a:srgbClr val="CBD5E1"/>
                </a:solidFill>
                <a:latin typeface="Roboto Mono"/>
                <a:ea typeface="Roboto Mono"/>
                <a:cs typeface="Roboto Mono"/>
                <a:sym typeface="Roboto Mono"/>
              </a:rPr>
              <a:t>[</a:t>
            </a:r>
            <a:r>
              <a:rPr lang="en-US" sz="2400" kern="0" dirty="0" err="1">
                <a:solidFill>
                  <a:srgbClr val="CBD5E1"/>
                </a:solidFill>
                <a:latin typeface="Roboto Mono"/>
                <a:ea typeface="Roboto Mono"/>
                <a:cs typeface="Roboto Mono"/>
                <a:sym typeface="Roboto Mono"/>
              </a:rPr>
              <a:t>来源</a:t>
            </a:r>
            <a:r>
              <a:rPr lang="en-US" sz="2400" kern="0" dirty="0">
                <a:solidFill>
                  <a:srgbClr val="CBD5E1"/>
                </a:solidFill>
                <a:latin typeface="Roboto Mono"/>
                <a:ea typeface="Roboto Mono"/>
                <a:cs typeface="Roboto Mono"/>
                <a:sym typeface="Roboto Mono"/>
              </a:rPr>
              <a:t>: a.pdf]</a:t>
            </a:r>
          </a:p>
        </p:txBody>
      </p:sp>
      <p:sp>
        <p:nvSpPr>
          <p:cNvPr id="50" name="AutoShape 9">
            <a:extLst>
              <a:ext uri="{FF2B5EF4-FFF2-40B4-BE49-F238E27FC236}">
                <a16:creationId xmlns:a16="http://schemas.microsoft.com/office/drawing/2014/main" id="{2AF79C18-67DD-BC72-842E-84CC55AAABD6}"/>
              </a:ext>
            </a:extLst>
          </p:cNvPr>
          <p:cNvSpPr txBox="1"/>
          <p:nvPr/>
        </p:nvSpPr>
        <p:spPr>
          <a:xfrm>
            <a:off x="10006424" y="6781623"/>
            <a:ext cx="5169208" cy="1524000"/>
          </a:xfrm>
          <a:prstGeom prst="rect">
            <a:avLst/>
          </a:prstGeom>
          <a:noFill/>
          <a:ln w="12700" cap="flat" cmpd="sng">
            <a:noFill/>
            <a:prstDash val="solid"/>
            <a:round/>
          </a:ln>
        </p:spPr>
        <p:txBody>
          <a:bodyPr vert="horz" wrap="square" lIns="0" tIns="0" rIns="0" bIns="0" rtlCol="0" anchor="ctr" anchorCtr="0"/>
          <a:lstStyle/>
          <a:p>
            <a:pPr>
              <a:lnSpc>
                <a:spcPct val="133333"/>
              </a:lnSpc>
              <a:buClr>
                <a:srgbClr val="3C4655"/>
              </a:buClr>
              <a:defRPr/>
            </a:pPr>
            <a:r>
              <a:rPr lang="en-US" sz="2000" kern="0" dirty="0" err="1">
                <a:solidFill>
                  <a:srgbClr val="3C4655"/>
                </a:solidFill>
                <a:latin typeface="Noto Sans SC"/>
                <a:ea typeface="Noto Sans SC"/>
                <a:cs typeface="Noto Sans SC"/>
                <a:sym typeface="Noto Sans SC"/>
              </a:rPr>
              <a:t>匹配</a:t>
            </a:r>
            <a:r>
              <a:rPr lang="en-US" sz="2000" kern="0" dirty="0">
                <a:solidFill>
                  <a:srgbClr val="3C4655"/>
                </a:solidFill>
                <a:latin typeface="Noto Sans SC"/>
                <a:ea typeface="Noto Sans SC"/>
                <a:cs typeface="Noto Sans SC"/>
                <a:sym typeface="Noto Sans SC"/>
              </a:rPr>
              <a:t> </a:t>
            </a:r>
            <a:r>
              <a:rPr lang="en-US" sz="2000" kern="0" dirty="0">
                <a:solidFill>
                  <a:srgbClr val="3C4655"/>
                </a:solidFill>
                <a:latin typeface="Roboto Mono"/>
                <a:ea typeface="Roboto Mono"/>
                <a:cs typeface="Roboto Mono"/>
                <a:sym typeface="Roboto Mono"/>
              </a:rPr>
              <a:t>Action: &lt;</a:t>
            </a:r>
            <a:r>
              <a:rPr lang="en-US" sz="2000" kern="0" dirty="0" err="1">
                <a:solidFill>
                  <a:srgbClr val="3C4655"/>
                </a:solidFill>
                <a:latin typeface="Roboto Mono"/>
                <a:ea typeface="Roboto Mono"/>
                <a:cs typeface="Roboto Mono"/>
                <a:sym typeface="Roboto Mono"/>
              </a:rPr>
              <a:t>tool_name</a:t>
            </a:r>
            <a:r>
              <a:rPr lang="en-US" sz="2000" kern="0" dirty="0">
                <a:solidFill>
                  <a:srgbClr val="3C4655"/>
                </a:solidFill>
                <a:latin typeface="Roboto Mono"/>
                <a:ea typeface="Roboto Mono"/>
                <a:cs typeface="Roboto Mono"/>
                <a:sym typeface="Roboto Mono"/>
              </a:rPr>
              <a:t>&gt;</a:t>
            </a:r>
            <a:r>
              <a:rPr lang="en-US" sz="2000" kern="0" dirty="0">
                <a:solidFill>
                  <a:srgbClr val="3C4655"/>
                </a:solidFill>
                <a:latin typeface="Noto Sans SC"/>
                <a:ea typeface="Noto Sans SC"/>
                <a:cs typeface="Noto Sans SC"/>
                <a:sym typeface="Noto Sans SC"/>
              </a:rPr>
              <a:t> → </a:t>
            </a:r>
            <a:r>
              <a:rPr lang="en-US" sz="2000" kern="0" dirty="0" err="1">
                <a:solidFill>
                  <a:srgbClr val="3C4655"/>
                </a:solidFill>
                <a:latin typeface="Noto Sans SC"/>
                <a:ea typeface="Noto Sans SC"/>
                <a:cs typeface="Noto Sans SC"/>
                <a:sym typeface="Noto Sans SC"/>
              </a:rPr>
              <a:t>执行工具</a:t>
            </a:r>
            <a:endParaRPr lang="en-US" sz="2000" kern="0" dirty="0">
              <a:solidFill>
                <a:srgbClr val="000000"/>
              </a:solidFill>
              <a:latin typeface="Arial"/>
              <a:cs typeface="Arial"/>
              <a:sym typeface="Arial"/>
            </a:endParaRPr>
          </a:p>
          <a:p>
            <a:pPr>
              <a:lnSpc>
                <a:spcPct val="133333"/>
              </a:lnSpc>
              <a:buClr>
                <a:srgbClr val="3C4655"/>
              </a:buClr>
            </a:pPr>
            <a:r>
              <a:rPr lang="en-US" sz="2000" kern="0" dirty="0" err="1">
                <a:solidFill>
                  <a:srgbClr val="3C4655"/>
                </a:solidFill>
                <a:latin typeface="Noto Sans SC"/>
                <a:ea typeface="Noto Sans SC"/>
                <a:cs typeface="Noto Sans SC"/>
                <a:sym typeface="Noto Sans SC"/>
              </a:rPr>
              <a:t>匹配</a:t>
            </a:r>
            <a:r>
              <a:rPr lang="en-US" sz="2000" kern="0" dirty="0">
                <a:solidFill>
                  <a:srgbClr val="3C4655"/>
                </a:solidFill>
                <a:latin typeface="Noto Sans SC"/>
                <a:ea typeface="Noto Sans SC"/>
                <a:cs typeface="Noto Sans SC"/>
                <a:sym typeface="Noto Sans SC"/>
              </a:rPr>
              <a:t> </a:t>
            </a:r>
            <a:r>
              <a:rPr lang="en-US" sz="2000" kern="0" dirty="0">
                <a:solidFill>
                  <a:srgbClr val="3C4655"/>
                </a:solidFill>
                <a:latin typeface="Roboto Mono"/>
                <a:ea typeface="Roboto Mono"/>
                <a:cs typeface="Roboto Mono"/>
                <a:sym typeface="Roboto Mono"/>
              </a:rPr>
              <a:t>Final Answer: ...</a:t>
            </a:r>
            <a:r>
              <a:rPr lang="en-US" sz="2000" kern="0" dirty="0">
                <a:solidFill>
                  <a:srgbClr val="3C4655"/>
                </a:solidFill>
                <a:latin typeface="Noto Sans SC"/>
                <a:ea typeface="Noto Sans SC"/>
                <a:cs typeface="Noto Sans SC"/>
                <a:sym typeface="Noto Sans SC"/>
              </a:rPr>
              <a:t> → </a:t>
            </a:r>
            <a:r>
              <a:rPr lang="en-US" sz="2000" kern="0" dirty="0" err="1">
                <a:solidFill>
                  <a:srgbClr val="3C4655"/>
                </a:solidFill>
                <a:latin typeface="Noto Sans SC"/>
                <a:ea typeface="Noto Sans SC"/>
                <a:cs typeface="Noto Sans SC"/>
                <a:sym typeface="Noto Sans SC"/>
              </a:rPr>
              <a:t>结束循环</a:t>
            </a:r>
            <a:endParaRPr lang="en-US" sz="2000" kern="0" dirty="0">
              <a:solidFill>
                <a:srgbClr val="3C4655"/>
              </a:solidFill>
              <a:latin typeface="Noto Sans SC"/>
              <a:ea typeface="Noto Sans SC"/>
              <a:cs typeface="Noto Sans SC"/>
              <a:sym typeface="Noto Sans SC"/>
            </a:endParaRPr>
          </a:p>
          <a:p>
            <a:pPr>
              <a:lnSpc>
                <a:spcPct val="133333"/>
              </a:lnSpc>
              <a:buClr>
                <a:srgbClr val="3C4655"/>
              </a:buClr>
            </a:pPr>
            <a:r>
              <a:rPr lang="en-US" sz="2000" kern="0" dirty="0" err="1">
                <a:solidFill>
                  <a:srgbClr val="3C4655"/>
                </a:solidFill>
                <a:latin typeface="Noto Sans SC"/>
                <a:ea typeface="Noto Sans SC"/>
                <a:cs typeface="Noto Sans SC"/>
                <a:sym typeface="Noto Sans SC"/>
              </a:rPr>
              <a:t>Args</a:t>
            </a:r>
            <a:r>
              <a:rPr lang="en-US" sz="2000" kern="0" dirty="0">
                <a:solidFill>
                  <a:srgbClr val="3C4655"/>
                </a:solidFill>
                <a:latin typeface="Noto Sans SC"/>
                <a:ea typeface="Noto Sans SC"/>
                <a:cs typeface="Noto Sans SC"/>
                <a:sym typeface="Noto Sans SC"/>
              </a:rPr>
              <a:t> 为 JSON </a:t>
            </a:r>
            <a:r>
              <a:rPr lang="en-US" sz="2000" kern="0" dirty="0" err="1">
                <a:solidFill>
                  <a:srgbClr val="3C4655"/>
                </a:solidFill>
                <a:latin typeface="Noto Sans SC"/>
                <a:ea typeface="Noto Sans SC"/>
                <a:cs typeface="Noto Sans SC"/>
                <a:sym typeface="Noto Sans SC"/>
              </a:rPr>
              <a:t>字符串，安全解析后传参</a:t>
            </a:r>
            <a:endParaRPr lang="en-US" sz="2000" kern="0" dirty="0">
              <a:solidFill>
                <a:srgbClr val="3C4655"/>
              </a:solidFill>
              <a:latin typeface="Noto Sans SC"/>
              <a:ea typeface="Noto Sans SC"/>
              <a:cs typeface="Noto Sans SC"/>
              <a:sym typeface="Noto Sans SC"/>
            </a:endParaRPr>
          </a:p>
        </p:txBody>
      </p:sp>
    </p:spTree>
    <p:extLst>
      <p:ext uri="{BB962C8B-B14F-4D97-AF65-F5344CB8AC3E}">
        <p14:creationId xmlns:p14="http://schemas.microsoft.com/office/powerpoint/2010/main" val="1258631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8696" y="649373"/>
            <a:ext cx="6122248" cy="790575"/>
          </a:xfrm>
          <a:prstGeom prst="rect">
            <a:avLst/>
          </a:prstGeom>
        </p:spPr>
        <p:txBody>
          <a:bodyPr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工具集开发</a:t>
            </a:r>
            <a:endParaRPr lang="en-US" sz="5199" b="1" dirty="0">
              <a:solidFill>
                <a:srgbClr val="100F0D"/>
              </a:solidFill>
              <a:latin typeface="思源黑体 2 Heavy"/>
              <a:ea typeface="思源黑体 2 Heavy"/>
              <a:cs typeface="思源黑体 2 Heavy"/>
              <a:sym typeface="思源黑体 2 Heavy"/>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9017996" y="3298055"/>
            <a:ext cx="2250731" cy="510158"/>
          </a:xfrm>
          <a:prstGeom prst="rect">
            <a:avLst/>
          </a:prstGeom>
        </p:spPr>
        <p:txBody>
          <a:bodyPr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成果展示</a:t>
            </a:r>
          </a:p>
        </p:txBody>
      </p:sp>
      <p:grpSp>
        <p:nvGrpSpPr>
          <p:cNvPr id="28" name="Group 28"/>
          <p:cNvGrpSpPr/>
          <p:nvPr/>
        </p:nvGrpSpPr>
        <p:grpSpPr>
          <a:xfrm>
            <a:off x="1182532" y="1695693"/>
            <a:ext cx="7868784" cy="1602362"/>
            <a:chOff x="0" y="0"/>
            <a:chExt cx="1029044" cy="542859"/>
          </a:xfrm>
        </p:grpSpPr>
        <p:sp>
          <p:nvSpPr>
            <p:cNvPr id="29" name="Freeform 29"/>
            <p:cNvSpPr/>
            <p:nvPr/>
          </p:nvSpPr>
          <p:spPr>
            <a:xfrm>
              <a:off x="0" y="0"/>
              <a:ext cx="1029044" cy="542859"/>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30" name="TextBox 30"/>
            <p:cNvSpPr txBox="1"/>
            <p:nvPr/>
          </p:nvSpPr>
          <p:spPr>
            <a:xfrm>
              <a:off x="0" y="-28575"/>
              <a:ext cx="1029044" cy="571434"/>
            </a:xfrm>
            <a:prstGeom prst="rect">
              <a:avLst/>
            </a:prstGeom>
          </p:spPr>
          <p:txBody>
            <a:bodyPr lIns="50800" tIns="50800" rIns="50800" bIns="50800" rtlCol="0" anchor="ctr"/>
            <a:lstStyle/>
            <a:p>
              <a:pPr algn="ctr">
                <a:lnSpc>
                  <a:spcPts val="2659"/>
                </a:lnSpc>
              </a:pPr>
              <a:endParaRPr/>
            </a:p>
          </p:txBody>
        </p:sp>
      </p:grpSp>
      <p:sp>
        <p:nvSpPr>
          <p:cNvPr id="37" name="Freeform 29">
            <a:extLst>
              <a:ext uri="{FF2B5EF4-FFF2-40B4-BE49-F238E27FC236}">
                <a16:creationId xmlns:a16="http://schemas.microsoft.com/office/drawing/2014/main" id="{0F2CC2AC-7939-B668-E0BD-5D53E1F51F6A}"/>
              </a:ext>
            </a:extLst>
          </p:cNvPr>
          <p:cNvSpPr/>
          <p:nvPr/>
        </p:nvSpPr>
        <p:spPr>
          <a:xfrm>
            <a:off x="1236678" y="3928075"/>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39" name="Freeform 29">
            <a:extLst>
              <a:ext uri="{FF2B5EF4-FFF2-40B4-BE49-F238E27FC236}">
                <a16:creationId xmlns:a16="http://schemas.microsoft.com/office/drawing/2014/main" id="{EA8C1075-EF5D-0344-48B1-BF1902F297E0}"/>
              </a:ext>
            </a:extLst>
          </p:cNvPr>
          <p:cNvSpPr/>
          <p:nvPr/>
        </p:nvSpPr>
        <p:spPr>
          <a:xfrm>
            <a:off x="1218696" y="6187765"/>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41" name="Freeform 29">
            <a:extLst>
              <a:ext uri="{FF2B5EF4-FFF2-40B4-BE49-F238E27FC236}">
                <a16:creationId xmlns:a16="http://schemas.microsoft.com/office/drawing/2014/main" id="{11C000A4-2821-3431-1332-E225D31B26F3}"/>
              </a:ext>
            </a:extLst>
          </p:cNvPr>
          <p:cNvSpPr/>
          <p:nvPr/>
        </p:nvSpPr>
        <p:spPr>
          <a:xfrm>
            <a:off x="1218696" y="8485129"/>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43" name="Freeform 29">
            <a:extLst>
              <a:ext uri="{FF2B5EF4-FFF2-40B4-BE49-F238E27FC236}">
                <a16:creationId xmlns:a16="http://schemas.microsoft.com/office/drawing/2014/main" id="{482A392C-94DC-9CCC-B836-DCEA2A67CBFA}"/>
              </a:ext>
            </a:extLst>
          </p:cNvPr>
          <p:cNvSpPr/>
          <p:nvPr/>
        </p:nvSpPr>
        <p:spPr>
          <a:xfrm>
            <a:off x="9608120" y="1625075"/>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45" name="Freeform 29">
            <a:extLst>
              <a:ext uri="{FF2B5EF4-FFF2-40B4-BE49-F238E27FC236}">
                <a16:creationId xmlns:a16="http://schemas.microsoft.com/office/drawing/2014/main" id="{E828B519-E60B-479B-69C8-4ABC8A13640A}"/>
              </a:ext>
            </a:extLst>
          </p:cNvPr>
          <p:cNvSpPr/>
          <p:nvPr/>
        </p:nvSpPr>
        <p:spPr>
          <a:xfrm>
            <a:off x="9640258" y="3950686"/>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p>
            <a:endParaRPr lang="zh-CN" altLang="en-US" dirty="0"/>
          </a:p>
        </p:txBody>
      </p:sp>
      <p:sp>
        <p:nvSpPr>
          <p:cNvPr id="46" name="Freeform 29">
            <a:extLst>
              <a:ext uri="{FF2B5EF4-FFF2-40B4-BE49-F238E27FC236}">
                <a16:creationId xmlns:a16="http://schemas.microsoft.com/office/drawing/2014/main" id="{11C000A4-2821-3431-1332-E225D31B26F3}"/>
              </a:ext>
            </a:extLst>
          </p:cNvPr>
          <p:cNvSpPr/>
          <p:nvPr/>
        </p:nvSpPr>
        <p:spPr>
          <a:xfrm>
            <a:off x="9640258" y="6187765"/>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7" name="Freeform 29">
            <a:extLst>
              <a:ext uri="{FF2B5EF4-FFF2-40B4-BE49-F238E27FC236}">
                <a16:creationId xmlns:a16="http://schemas.microsoft.com/office/drawing/2014/main" id="{11C000A4-2821-3431-1332-E225D31B26F3}"/>
              </a:ext>
            </a:extLst>
          </p:cNvPr>
          <p:cNvSpPr/>
          <p:nvPr/>
        </p:nvSpPr>
        <p:spPr>
          <a:xfrm>
            <a:off x="9611442" y="8434139"/>
            <a:ext cx="7868784" cy="1602362"/>
          </a:xfrm>
          <a:custGeom>
            <a:avLst/>
            <a:gdLst/>
            <a:ahLst/>
            <a:cxnLst/>
            <a:rect l="l" t="t" r="r" b="b"/>
            <a:pathLst>
              <a:path w="1029044" h="542859">
                <a:moveTo>
                  <a:pt x="39629" y="0"/>
                </a:moveTo>
                <a:lnTo>
                  <a:pt x="989415" y="0"/>
                </a:lnTo>
                <a:cubicBezTo>
                  <a:pt x="1011301" y="0"/>
                  <a:pt x="1029044" y="17743"/>
                  <a:pt x="1029044" y="39629"/>
                </a:cubicBezTo>
                <a:lnTo>
                  <a:pt x="1029044" y="503230"/>
                </a:lnTo>
                <a:cubicBezTo>
                  <a:pt x="1029044" y="525117"/>
                  <a:pt x="1011301" y="542859"/>
                  <a:pt x="989415" y="542859"/>
                </a:cubicBezTo>
                <a:lnTo>
                  <a:pt x="39629" y="542859"/>
                </a:lnTo>
                <a:cubicBezTo>
                  <a:pt x="17743" y="542859"/>
                  <a:pt x="0" y="525117"/>
                  <a:pt x="0" y="503230"/>
                </a:cubicBezTo>
                <a:lnTo>
                  <a:pt x="0" y="39629"/>
                </a:lnTo>
                <a:cubicBezTo>
                  <a:pt x="0" y="17743"/>
                  <a:pt x="17743" y="0"/>
                  <a:pt x="39629" y="0"/>
                </a:cubicBezTo>
                <a:close/>
              </a:path>
            </a:pathLst>
          </a:custGeom>
          <a:solidFill>
            <a:srgbClr val="263D6D">
              <a:alpha val="13725"/>
            </a:srgbClr>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9" name="AutoShape 6">
            <a:extLst>
              <a:ext uri="{FF2B5EF4-FFF2-40B4-BE49-F238E27FC236}">
                <a16:creationId xmlns:a16="http://schemas.microsoft.com/office/drawing/2014/main" id="{43BDFBAC-2E0E-1910-D46D-761537D2A096}"/>
              </a:ext>
            </a:extLst>
          </p:cNvPr>
          <p:cNvSpPr txBox="1"/>
          <p:nvPr/>
        </p:nvSpPr>
        <p:spPr>
          <a:xfrm>
            <a:off x="1676400" y="1756899"/>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knowledge_search</a:t>
            </a:r>
            <a:endParaRPr lang="en-US" sz="2400" dirty="0"/>
          </a:p>
        </p:txBody>
      </p:sp>
      <p:sp>
        <p:nvSpPr>
          <p:cNvPr id="53" name="AutoShape 7">
            <a:extLst>
              <a:ext uri="{FF2B5EF4-FFF2-40B4-BE49-F238E27FC236}">
                <a16:creationId xmlns:a16="http://schemas.microsoft.com/office/drawing/2014/main" id="{C5229960-8494-AFD9-F5F7-A278F0CDFA6D}"/>
              </a:ext>
            </a:extLst>
          </p:cNvPr>
          <p:cNvSpPr txBox="1"/>
          <p:nvPr/>
        </p:nvSpPr>
        <p:spPr>
          <a:xfrm>
            <a:off x="1676400" y="2361518"/>
            <a:ext cx="7162800" cy="62320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知识库检索：封装模块二</a:t>
            </a:r>
            <a:r>
              <a:rPr lang="en-US" sz="2400" b="0" i="0" u="none" strike="noStrike" dirty="0">
                <a:solidFill>
                  <a:srgbClr val="505A69"/>
                </a:solidFill>
                <a:latin typeface="Noto Sans SC"/>
                <a:ea typeface="Noto Sans SC"/>
                <a:cs typeface="Noto Sans SC"/>
                <a:sym typeface="Noto Sans SC"/>
              </a:rPr>
              <a:t> RAG </a:t>
            </a:r>
            <a:r>
              <a:rPr lang="en-US" sz="2400" b="0" i="0" u="none" strike="noStrike" dirty="0" err="1">
                <a:solidFill>
                  <a:srgbClr val="505A69"/>
                </a:solidFill>
                <a:latin typeface="Noto Sans SC"/>
                <a:ea typeface="Noto Sans SC"/>
                <a:cs typeface="Noto Sans SC"/>
                <a:sym typeface="Noto Sans SC"/>
              </a:rPr>
              <a:t>引擎，作为</a:t>
            </a:r>
            <a:r>
              <a:rPr lang="en-US" sz="2400" b="0" i="0" u="none" strike="noStrike" dirty="0">
                <a:solidFill>
                  <a:srgbClr val="505A69"/>
                </a:solidFill>
                <a:latin typeface="Noto Sans SC"/>
                <a:ea typeface="Noto Sans SC"/>
                <a:cs typeface="Noto Sans SC"/>
                <a:sym typeface="Noto Sans SC"/>
              </a:rPr>
              <a:t> Agent </a:t>
            </a:r>
            <a:r>
              <a:rPr lang="en-US" sz="2400" b="0" i="0" u="none" strike="noStrike" dirty="0" err="1">
                <a:solidFill>
                  <a:srgbClr val="505A69"/>
                </a:solidFill>
                <a:latin typeface="Noto Sans SC"/>
                <a:ea typeface="Noto Sans SC"/>
                <a:cs typeface="Noto Sans SC"/>
                <a:sym typeface="Noto Sans SC"/>
              </a:rPr>
              <a:t>最核心的工具</a:t>
            </a:r>
            <a:endParaRPr lang="en-US" sz="2400" dirty="0"/>
          </a:p>
        </p:txBody>
      </p:sp>
      <p:sp>
        <p:nvSpPr>
          <p:cNvPr id="55" name="AutoShape 9">
            <a:extLst>
              <a:ext uri="{FF2B5EF4-FFF2-40B4-BE49-F238E27FC236}">
                <a16:creationId xmlns:a16="http://schemas.microsoft.com/office/drawing/2014/main" id="{85F83252-AB43-2198-C0F3-FB2F41E2DCF7}"/>
              </a:ext>
            </a:extLst>
          </p:cNvPr>
          <p:cNvSpPr txBox="1"/>
          <p:nvPr/>
        </p:nvSpPr>
        <p:spPr>
          <a:xfrm>
            <a:off x="1524000" y="4177258"/>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knowledge_qa</a:t>
            </a:r>
            <a:endParaRPr lang="en-US" sz="2400" dirty="0"/>
          </a:p>
        </p:txBody>
      </p:sp>
      <p:sp>
        <p:nvSpPr>
          <p:cNvPr id="57" name="AutoShape 10">
            <a:extLst>
              <a:ext uri="{FF2B5EF4-FFF2-40B4-BE49-F238E27FC236}">
                <a16:creationId xmlns:a16="http://schemas.microsoft.com/office/drawing/2014/main" id="{E49F9D94-230A-F93D-09FB-0A7435AED399}"/>
              </a:ext>
            </a:extLst>
          </p:cNvPr>
          <p:cNvSpPr txBox="1"/>
          <p:nvPr/>
        </p:nvSpPr>
        <p:spPr>
          <a:xfrm>
            <a:off x="1524000" y="4707603"/>
            <a:ext cx="6248400" cy="46331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知识库问答：基于检索结果直接生成答案</a:t>
            </a:r>
            <a:endParaRPr lang="en-US" sz="2400" dirty="0"/>
          </a:p>
        </p:txBody>
      </p:sp>
      <p:sp>
        <p:nvSpPr>
          <p:cNvPr id="59" name="AutoShape 12">
            <a:extLst>
              <a:ext uri="{FF2B5EF4-FFF2-40B4-BE49-F238E27FC236}">
                <a16:creationId xmlns:a16="http://schemas.microsoft.com/office/drawing/2014/main" id="{E9816D27-1E04-C0DF-B52B-6AEB3CB0E2BA}"/>
              </a:ext>
            </a:extLst>
          </p:cNvPr>
          <p:cNvSpPr txBox="1"/>
          <p:nvPr/>
        </p:nvSpPr>
        <p:spPr>
          <a:xfrm>
            <a:off x="1514959" y="6396940"/>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paper_meta</a:t>
            </a:r>
            <a:endParaRPr lang="en-US" sz="2400" dirty="0"/>
          </a:p>
        </p:txBody>
      </p:sp>
      <p:sp>
        <p:nvSpPr>
          <p:cNvPr id="61" name="AutoShape 13">
            <a:extLst>
              <a:ext uri="{FF2B5EF4-FFF2-40B4-BE49-F238E27FC236}">
                <a16:creationId xmlns:a16="http://schemas.microsoft.com/office/drawing/2014/main" id="{F036F25F-3CEC-0E84-7059-6DB3E4A0CD7D}"/>
              </a:ext>
            </a:extLst>
          </p:cNvPr>
          <p:cNvSpPr txBox="1"/>
          <p:nvPr/>
        </p:nvSpPr>
        <p:spPr>
          <a:xfrm>
            <a:off x="1524000" y="7206668"/>
            <a:ext cx="7493996" cy="30327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论文元信息提取：从已上传论文中提取标题、作者、年份、摘要、DOI</a:t>
            </a:r>
            <a:endParaRPr lang="en-US" sz="2400" dirty="0"/>
          </a:p>
        </p:txBody>
      </p:sp>
      <p:sp>
        <p:nvSpPr>
          <p:cNvPr id="63" name="AutoShape 15">
            <a:extLst>
              <a:ext uri="{FF2B5EF4-FFF2-40B4-BE49-F238E27FC236}">
                <a16:creationId xmlns:a16="http://schemas.microsoft.com/office/drawing/2014/main" id="{944CD36D-4E0D-D5B7-5DF8-C0E8AFF1F4EB}"/>
              </a:ext>
            </a:extLst>
          </p:cNvPr>
          <p:cNvSpPr txBox="1"/>
          <p:nvPr/>
        </p:nvSpPr>
        <p:spPr>
          <a:xfrm>
            <a:off x="1609043" y="8590157"/>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paper_compare</a:t>
            </a:r>
            <a:endParaRPr lang="en-US" sz="2400" dirty="0"/>
          </a:p>
        </p:txBody>
      </p:sp>
      <p:sp>
        <p:nvSpPr>
          <p:cNvPr id="65" name="AutoShape 16">
            <a:extLst>
              <a:ext uri="{FF2B5EF4-FFF2-40B4-BE49-F238E27FC236}">
                <a16:creationId xmlns:a16="http://schemas.microsoft.com/office/drawing/2014/main" id="{5842DC54-9C48-F167-C463-11ABDBE4AF9A}"/>
              </a:ext>
            </a:extLst>
          </p:cNvPr>
          <p:cNvSpPr txBox="1"/>
          <p:nvPr/>
        </p:nvSpPr>
        <p:spPr>
          <a:xfrm>
            <a:off x="1523999" y="9187564"/>
            <a:ext cx="7141393" cy="6803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论文对比：接受两篇论文</a:t>
            </a:r>
            <a:r>
              <a:rPr lang="en-US" sz="2400" b="0" i="0" u="none" strike="noStrike" dirty="0">
                <a:solidFill>
                  <a:srgbClr val="505A69"/>
                </a:solidFill>
                <a:latin typeface="Noto Sans SC"/>
                <a:ea typeface="Noto Sans SC"/>
                <a:cs typeface="Noto Sans SC"/>
                <a:sym typeface="Noto Sans SC"/>
              </a:rPr>
              <a:t> </a:t>
            </a:r>
            <a:r>
              <a:rPr lang="en-US" sz="2400" b="0" i="0" u="none" strike="noStrike" dirty="0" err="1">
                <a:solidFill>
                  <a:srgbClr val="505A69"/>
                </a:solidFill>
                <a:latin typeface="Noto Sans SC"/>
                <a:ea typeface="Noto Sans SC"/>
                <a:cs typeface="Noto Sans SC"/>
                <a:sym typeface="Noto Sans SC"/>
              </a:rPr>
              <a:t>ID，对比方法、数据集、实验结果</a:t>
            </a:r>
            <a:endParaRPr lang="en-US" sz="2400" dirty="0"/>
          </a:p>
        </p:txBody>
      </p:sp>
      <p:sp>
        <p:nvSpPr>
          <p:cNvPr id="67" name="AutoShape 27">
            <a:extLst>
              <a:ext uri="{FF2B5EF4-FFF2-40B4-BE49-F238E27FC236}">
                <a16:creationId xmlns:a16="http://schemas.microsoft.com/office/drawing/2014/main" id="{F9D8261E-C085-E7A9-F335-967CF08B297D}"/>
              </a:ext>
            </a:extLst>
          </p:cNvPr>
          <p:cNvSpPr txBox="1"/>
          <p:nvPr/>
        </p:nvSpPr>
        <p:spPr>
          <a:xfrm>
            <a:off x="9906000" y="8682936"/>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text_generate</a:t>
            </a:r>
            <a:endParaRPr lang="en-US" sz="2400" dirty="0"/>
          </a:p>
        </p:txBody>
      </p:sp>
      <p:sp>
        <p:nvSpPr>
          <p:cNvPr id="69" name="AutoShape 28">
            <a:extLst>
              <a:ext uri="{FF2B5EF4-FFF2-40B4-BE49-F238E27FC236}">
                <a16:creationId xmlns:a16="http://schemas.microsoft.com/office/drawing/2014/main" id="{D0C7F670-2306-029B-7805-8568DAB5B851}"/>
              </a:ext>
            </a:extLst>
          </p:cNvPr>
          <p:cNvSpPr txBox="1"/>
          <p:nvPr/>
        </p:nvSpPr>
        <p:spPr>
          <a:xfrm>
            <a:off x="9906000" y="928631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文本生成：通用</a:t>
            </a:r>
            <a:r>
              <a:rPr lang="en-US" sz="2400" b="0" i="0" u="none" strike="noStrike" dirty="0">
                <a:solidFill>
                  <a:srgbClr val="505A69"/>
                </a:solidFill>
                <a:latin typeface="Noto Sans SC"/>
                <a:ea typeface="Noto Sans SC"/>
                <a:cs typeface="Noto Sans SC"/>
                <a:sym typeface="Noto Sans SC"/>
              </a:rPr>
              <a:t> LLM </a:t>
            </a:r>
            <a:r>
              <a:rPr lang="en-US" sz="2400" b="0" i="0" u="none" strike="noStrike" dirty="0" err="1">
                <a:solidFill>
                  <a:srgbClr val="505A69"/>
                </a:solidFill>
                <a:latin typeface="Noto Sans SC"/>
                <a:ea typeface="Noto Sans SC"/>
                <a:cs typeface="Noto Sans SC"/>
                <a:sym typeface="Noto Sans SC"/>
              </a:rPr>
              <a:t>文本生成能力</a:t>
            </a:r>
            <a:endParaRPr lang="en-US" sz="2400" dirty="0"/>
          </a:p>
        </p:txBody>
      </p:sp>
      <p:sp>
        <p:nvSpPr>
          <p:cNvPr id="71" name="AutoShape 24">
            <a:extLst>
              <a:ext uri="{FF2B5EF4-FFF2-40B4-BE49-F238E27FC236}">
                <a16:creationId xmlns:a16="http://schemas.microsoft.com/office/drawing/2014/main" id="{540C3680-9370-B313-B639-ACCA8CB75A94}"/>
              </a:ext>
            </a:extLst>
          </p:cNvPr>
          <p:cNvSpPr txBox="1"/>
          <p:nvPr/>
        </p:nvSpPr>
        <p:spPr>
          <a:xfrm>
            <a:off x="9800227" y="6323808"/>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a:solidFill>
                  <a:srgbClr val="2B4C7E"/>
                </a:solidFill>
                <a:latin typeface="Roboto Mono"/>
                <a:ea typeface="Roboto Mono"/>
                <a:cs typeface="Roboto Mono"/>
                <a:sym typeface="Roboto Mono"/>
              </a:rPr>
              <a:t>calculator</a:t>
            </a:r>
            <a:endParaRPr lang="en-US" sz="2400" dirty="0"/>
          </a:p>
        </p:txBody>
      </p:sp>
      <p:sp>
        <p:nvSpPr>
          <p:cNvPr id="73" name="AutoShape 25">
            <a:extLst>
              <a:ext uri="{FF2B5EF4-FFF2-40B4-BE49-F238E27FC236}">
                <a16:creationId xmlns:a16="http://schemas.microsoft.com/office/drawing/2014/main" id="{6A5DCAFA-74AC-09EB-69CB-22DFEAD0624D}"/>
              </a:ext>
            </a:extLst>
          </p:cNvPr>
          <p:cNvSpPr txBox="1"/>
          <p:nvPr/>
        </p:nvSpPr>
        <p:spPr>
          <a:xfrm>
            <a:off x="9833078" y="6953410"/>
            <a:ext cx="6671009" cy="55653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安全计算器：沙箱求值，拒绝</a:t>
            </a:r>
            <a:r>
              <a:rPr lang="en-US" sz="2400" b="0" i="0" u="none" strike="noStrike" dirty="0">
                <a:solidFill>
                  <a:srgbClr val="505A69"/>
                </a:solidFill>
                <a:latin typeface="Noto Sans SC"/>
                <a:ea typeface="Noto Sans SC"/>
                <a:cs typeface="Noto Sans SC"/>
                <a:sym typeface="Noto Sans SC"/>
              </a:rPr>
              <a:t> __import__ </a:t>
            </a:r>
            <a:r>
              <a:rPr lang="en-US" sz="2400" b="0" i="0" u="none" strike="noStrike" dirty="0" err="1">
                <a:solidFill>
                  <a:srgbClr val="505A69"/>
                </a:solidFill>
                <a:latin typeface="Noto Sans SC"/>
                <a:ea typeface="Noto Sans SC"/>
                <a:cs typeface="Noto Sans SC"/>
                <a:sym typeface="Noto Sans SC"/>
              </a:rPr>
              <a:t>等危险调用</a:t>
            </a:r>
            <a:endParaRPr lang="en-US" sz="2400" dirty="0"/>
          </a:p>
        </p:txBody>
      </p:sp>
      <p:sp>
        <p:nvSpPr>
          <p:cNvPr id="75" name="AutoShape 21">
            <a:extLst>
              <a:ext uri="{FF2B5EF4-FFF2-40B4-BE49-F238E27FC236}">
                <a16:creationId xmlns:a16="http://schemas.microsoft.com/office/drawing/2014/main" id="{D9865F2C-9412-BB36-6FC2-B7F9C7CBEA88}"/>
              </a:ext>
            </a:extLst>
          </p:cNvPr>
          <p:cNvSpPr txBox="1"/>
          <p:nvPr/>
        </p:nvSpPr>
        <p:spPr>
          <a:xfrm>
            <a:off x="9735741" y="4065694"/>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keyword_extract</a:t>
            </a:r>
            <a:endParaRPr lang="en-US" sz="2400" dirty="0"/>
          </a:p>
        </p:txBody>
      </p:sp>
      <p:sp>
        <p:nvSpPr>
          <p:cNvPr id="77" name="AutoShape 22">
            <a:extLst>
              <a:ext uri="{FF2B5EF4-FFF2-40B4-BE49-F238E27FC236}">
                <a16:creationId xmlns:a16="http://schemas.microsoft.com/office/drawing/2014/main" id="{1D5E9287-3EF9-4EE4-A561-9564BB23D515}"/>
              </a:ext>
            </a:extLst>
          </p:cNvPr>
          <p:cNvSpPr txBox="1"/>
          <p:nvPr/>
        </p:nvSpPr>
        <p:spPr>
          <a:xfrm>
            <a:off x="9771552" y="4531463"/>
            <a:ext cx="7206850" cy="6897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关键词提取：从用户问题或文档中提取核心关键词</a:t>
            </a:r>
            <a:endParaRPr lang="en-US" sz="2400" dirty="0"/>
          </a:p>
        </p:txBody>
      </p:sp>
      <p:sp>
        <p:nvSpPr>
          <p:cNvPr id="79" name="AutoShape 18">
            <a:extLst>
              <a:ext uri="{FF2B5EF4-FFF2-40B4-BE49-F238E27FC236}">
                <a16:creationId xmlns:a16="http://schemas.microsoft.com/office/drawing/2014/main" id="{56F44E4D-1071-2303-1745-3E0B3842303A}"/>
              </a:ext>
            </a:extLst>
          </p:cNvPr>
          <p:cNvSpPr txBox="1"/>
          <p:nvPr/>
        </p:nvSpPr>
        <p:spPr>
          <a:xfrm>
            <a:off x="9800227" y="1830489"/>
            <a:ext cx="4699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Roboto Mono"/>
                <a:ea typeface="Roboto Mono"/>
                <a:cs typeface="Roboto Mono"/>
                <a:sym typeface="Roboto Mono"/>
              </a:rPr>
              <a:t>text_summarize</a:t>
            </a:r>
            <a:endParaRPr lang="en-US" sz="2400" dirty="0"/>
          </a:p>
        </p:txBody>
      </p:sp>
      <p:sp>
        <p:nvSpPr>
          <p:cNvPr id="81" name="AutoShape 19">
            <a:extLst>
              <a:ext uri="{FF2B5EF4-FFF2-40B4-BE49-F238E27FC236}">
                <a16:creationId xmlns:a16="http://schemas.microsoft.com/office/drawing/2014/main" id="{D9ADFBE6-12A1-3CBA-EF84-CB5D9C141A4F}"/>
              </a:ext>
            </a:extLst>
          </p:cNvPr>
          <p:cNvSpPr txBox="1"/>
          <p:nvPr/>
        </p:nvSpPr>
        <p:spPr>
          <a:xfrm>
            <a:off x="9809268" y="2377144"/>
            <a:ext cx="7245407" cy="59195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dirty="0" err="1">
                <a:solidFill>
                  <a:srgbClr val="505A69"/>
                </a:solidFill>
                <a:latin typeface="Noto Sans SC"/>
                <a:ea typeface="Noto Sans SC"/>
                <a:cs typeface="Noto Sans SC"/>
                <a:sym typeface="Noto Sans SC"/>
              </a:rPr>
              <a:t>摘要生成：针对特定论文生成结构化摘要（背景-方法-结果-结论</a:t>
            </a:r>
            <a:r>
              <a:rPr lang="en-US" sz="2400" b="0" i="0" u="none" strike="noStrike" dirty="0">
                <a:solidFill>
                  <a:srgbClr val="505A69"/>
                </a:solidFill>
                <a:latin typeface="Noto Sans SC"/>
                <a:ea typeface="Noto Sans SC"/>
                <a:cs typeface="Noto Sans SC"/>
                <a:sym typeface="Noto Sans SC"/>
              </a:rPr>
              <a:t>）</a:t>
            </a:r>
            <a:endParaRPr lang="en-US" sz="2400" dirty="0"/>
          </a:p>
        </p:txBody>
      </p:sp>
    </p:spTree>
    <p:extLst>
      <p:ext uri="{BB962C8B-B14F-4D97-AF65-F5344CB8AC3E}">
        <p14:creationId xmlns:p14="http://schemas.microsoft.com/office/powerpoint/2010/main" val="2140959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13485272" cy="795089"/>
          </a:xfrm>
          <a:prstGeom prst="rect">
            <a:avLst/>
          </a:prstGeom>
        </p:spPr>
        <p:txBody>
          <a:bodyPr wrap="square" lIns="0" tIns="0" rIns="0" bIns="0" rtlCol="0" anchor="t">
            <a:spAutoFit/>
          </a:bodyPr>
          <a:lstStyle/>
          <a:p>
            <a:pPr algn="l">
              <a:lnSpc>
                <a:spcPts val="6239"/>
              </a:lnSpc>
            </a:pPr>
            <a:r>
              <a:rPr lang="en-US" sz="5199" b="1" dirty="0">
                <a:solidFill>
                  <a:srgbClr val="100F0D"/>
                </a:solidFill>
                <a:latin typeface="思源黑体 2 Heavy"/>
                <a:ea typeface="思源黑体 2 Heavy"/>
                <a:cs typeface="思源黑体 2 Heavy"/>
                <a:sym typeface="思源黑体 2 Heavy"/>
              </a:rPr>
              <a:t>Agent </a:t>
            </a:r>
            <a:r>
              <a:rPr lang="zh-CN" altLang="en-US" sz="5199" b="1" dirty="0">
                <a:solidFill>
                  <a:srgbClr val="100F0D"/>
                </a:solidFill>
                <a:latin typeface="思源黑体 2 Heavy"/>
                <a:ea typeface="思源黑体 2 Heavy"/>
                <a:cs typeface="思源黑体 2 Heavy"/>
                <a:sym typeface="思源黑体 2 Heavy"/>
              </a:rPr>
              <a:t>决策优化：路由、并行、容错</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74" name="AutoShape 5">
            <a:extLst>
              <a:ext uri="{FF2B5EF4-FFF2-40B4-BE49-F238E27FC236}">
                <a16:creationId xmlns:a16="http://schemas.microsoft.com/office/drawing/2014/main" id="{E9E3592A-72CA-80F4-F63D-D6ACB019B60F}"/>
              </a:ext>
            </a:extLst>
          </p:cNvPr>
          <p:cNvSpPr txBox="1"/>
          <p:nvPr/>
        </p:nvSpPr>
        <p:spPr>
          <a:xfrm>
            <a:off x="1586364"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01 </a:t>
            </a:r>
            <a:r>
              <a:rPr lang="en-US" sz="2800" b="1" i="0" u="none" strike="noStrike" dirty="0" err="1">
                <a:solidFill>
                  <a:srgbClr val="2B4C7E"/>
                </a:solidFill>
                <a:latin typeface="Noto Sans SC"/>
                <a:ea typeface="Noto Sans SC"/>
                <a:cs typeface="Noto Sans SC"/>
                <a:sym typeface="Noto Sans SC"/>
              </a:rPr>
              <a:t>工具选择路由</a:t>
            </a:r>
            <a:endParaRPr lang="en-US" sz="2800" dirty="0"/>
          </a:p>
        </p:txBody>
      </p:sp>
      <p:sp>
        <p:nvSpPr>
          <p:cNvPr id="76" name="AutoShape 7">
            <a:extLst>
              <a:ext uri="{FF2B5EF4-FFF2-40B4-BE49-F238E27FC236}">
                <a16:creationId xmlns:a16="http://schemas.microsoft.com/office/drawing/2014/main" id="{2467931C-0298-2FE9-2C26-BD87607FF3ED}"/>
              </a:ext>
            </a:extLst>
          </p:cNvPr>
          <p:cNvSpPr txBox="1"/>
          <p:nvPr/>
        </p:nvSpPr>
        <p:spPr>
          <a:xfrm>
            <a:off x="1647320" y="3016244"/>
            <a:ext cx="3657601" cy="5780888"/>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50000"/>
              </a:lnSpc>
              <a:defRPr/>
            </a:pPr>
            <a:r>
              <a:rPr lang="en-US" sz="2000" b="0" i="0" u="none" strike="noStrike" dirty="0" err="1">
                <a:solidFill>
                  <a:srgbClr val="3C4655"/>
                </a:solidFill>
                <a:latin typeface="Noto Sans SC"/>
                <a:ea typeface="Noto Sans SC"/>
                <a:cs typeface="Noto Sans SC"/>
                <a:sym typeface="Noto Sans SC"/>
              </a:rPr>
              <a:t>根据问题类型快速路由到对应工具，减少无效推理轮次</a:t>
            </a:r>
            <a:r>
              <a:rPr lang="en-US" sz="2000" b="0" i="0" u="none" strike="noStrike" dirty="0">
                <a:solidFill>
                  <a:srgbClr val="3C4655"/>
                </a:solidFill>
                <a:latin typeface="Noto Sans SC"/>
                <a:ea typeface="Noto Sans SC"/>
                <a:cs typeface="Noto Sans SC"/>
                <a:sym typeface="Noto Sans SC"/>
              </a:rPr>
              <a:t>。</a:t>
            </a:r>
            <a:endParaRPr lang="en-US" sz="2000" dirty="0"/>
          </a:p>
          <a:p>
            <a:pPr marL="0" indent="0" algn="l">
              <a:lnSpc>
                <a:spcPct val="150000"/>
              </a:lnSpc>
            </a:pPr>
            <a:endParaRPr lang="en-US" sz="2000" dirty="0"/>
          </a:p>
          <a:p>
            <a:pPr marL="0" indent="0" algn="l">
              <a:lnSpc>
                <a:spcPct val="150000"/>
              </a:lnSpc>
            </a:pPr>
            <a:r>
              <a:rPr lang="en-US" sz="2000" b="0" i="0" u="none" strike="noStrike" dirty="0" err="1">
                <a:solidFill>
                  <a:srgbClr val="3C4655"/>
                </a:solidFill>
                <a:latin typeface="Noto Sans SC"/>
                <a:ea typeface="Noto Sans SC"/>
                <a:cs typeface="Noto Sans SC"/>
                <a:sym typeface="Noto Sans SC"/>
              </a:rPr>
              <a:t>典型路由规则</a:t>
            </a:r>
            <a:r>
              <a:rPr lang="en-US" sz="2000" b="0" i="0" u="none" strike="noStrike" dirty="0">
                <a:solidFill>
                  <a:srgbClr val="3C4655"/>
                </a:solidFill>
                <a:latin typeface="Noto Sans SC"/>
                <a:ea typeface="Noto Sans SC"/>
                <a:cs typeface="Noto Sans SC"/>
                <a:sym typeface="Noto Sans SC"/>
              </a:rPr>
              <a:t>：</a:t>
            </a: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含"对比</a:t>
            </a:r>
            <a:r>
              <a:rPr lang="en-US" sz="2000" b="0" i="0" u="none" strike="noStrike" dirty="0">
                <a:solidFill>
                  <a:srgbClr val="3C4655"/>
                </a:solidFill>
                <a:latin typeface="Noto Sans SC"/>
                <a:ea typeface="Noto Sans SC"/>
                <a:cs typeface="Noto Sans SC"/>
                <a:sym typeface="Noto Sans SC"/>
              </a:rPr>
              <a:t>/</a:t>
            </a:r>
            <a:r>
              <a:rPr lang="en-US" sz="2000" b="0" i="0" u="none" strike="noStrike" dirty="0" err="1">
                <a:solidFill>
                  <a:srgbClr val="3C4655"/>
                </a:solidFill>
                <a:latin typeface="Noto Sans SC"/>
                <a:ea typeface="Noto Sans SC"/>
                <a:cs typeface="Noto Sans SC"/>
                <a:sym typeface="Noto Sans SC"/>
              </a:rPr>
              <a:t>比较</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paper_compare</a:t>
            </a: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含"总结</a:t>
            </a:r>
            <a:r>
              <a:rPr lang="en-US" sz="2000" b="0" i="0" u="none" strike="noStrike" dirty="0">
                <a:solidFill>
                  <a:srgbClr val="3C4655"/>
                </a:solidFill>
                <a:latin typeface="Noto Sans SC"/>
                <a:ea typeface="Noto Sans SC"/>
                <a:cs typeface="Noto Sans SC"/>
                <a:sym typeface="Noto Sans SC"/>
              </a:rPr>
              <a:t>/</a:t>
            </a:r>
            <a:r>
              <a:rPr lang="en-US" sz="2000" b="0" i="0" u="none" strike="noStrike" dirty="0" err="1">
                <a:solidFill>
                  <a:srgbClr val="3C4655"/>
                </a:solidFill>
                <a:latin typeface="Noto Sans SC"/>
                <a:ea typeface="Noto Sans SC"/>
                <a:cs typeface="Noto Sans SC"/>
                <a:sym typeface="Noto Sans SC"/>
              </a:rPr>
              <a:t>摘要</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text_summarize</a:t>
            </a: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含"提取关键词</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keyword_extract</a:t>
            </a: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数值计算</a:t>
            </a:r>
            <a:r>
              <a:rPr lang="en-US" sz="2000" b="0" i="0" u="none" strike="noStrike" dirty="0">
                <a:solidFill>
                  <a:srgbClr val="3C4655"/>
                </a:solidFill>
                <a:latin typeface="Noto Sans SC"/>
                <a:ea typeface="Noto Sans SC"/>
                <a:cs typeface="Noto Sans SC"/>
                <a:sym typeface="Noto Sans SC"/>
              </a:rPr>
              <a:t> → calculator</a:t>
            </a:r>
          </a:p>
        </p:txBody>
      </p:sp>
      <p:cxnSp>
        <p:nvCxnSpPr>
          <p:cNvPr id="77" name="Connector 8">
            <a:extLst>
              <a:ext uri="{FF2B5EF4-FFF2-40B4-BE49-F238E27FC236}">
                <a16:creationId xmlns:a16="http://schemas.microsoft.com/office/drawing/2014/main" id="{E4B51A58-DAFF-ADE7-7A99-B6B24334CB34}"/>
              </a:ext>
            </a:extLst>
          </p:cNvPr>
          <p:cNvCxnSpPr>
            <a:cxnSpLocks/>
          </p:cNvCxnSpPr>
          <p:nvPr/>
        </p:nvCxnSpPr>
        <p:spPr>
          <a:xfrm>
            <a:off x="6001972" y="2980333"/>
            <a:ext cx="21721" cy="6916385"/>
          </a:xfrm>
          <a:prstGeom prst="straightConnector1">
            <a:avLst/>
          </a:prstGeom>
          <a:solidFill>
            <a:srgbClr val="DEE0E3">
              <a:alpha val="100000"/>
            </a:srgbClr>
          </a:solidFill>
          <a:ln w="12700" cap="flat" cmpd="sng">
            <a:solidFill>
              <a:srgbClr val="E1E6F0">
                <a:alpha val="100000"/>
              </a:srgbClr>
            </a:solidFill>
            <a:prstDash val="solid"/>
            <a:round/>
            <a:headEnd type="none" w="med" len="med"/>
            <a:tailEnd type="none" w="med" len="med"/>
          </a:ln>
        </p:spPr>
      </p:cxnSp>
      <p:sp>
        <p:nvSpPr>
          <p:cNvPr id="78" name="AutoShape 9">
            <a:extLst>
              <a:ext uri="{FF2B5EF4-FFF2-40B4-BE49-F238E27FC236}">
                <a16:creationId xmlns:a16="http://schemas.microsoft.com/office/drawing/2014/main" id="{1BF1F2BA-ED68-1DD7-5A0E-2DEBE1E2046C}"/>
              </a:ext>
            </a:extLst>
          </p:cNvPr>
          <p:cNvSpPr txBox="1"/>
          <p:nvPr/>
        </p:nvSpPr>
        <p:spPr>
          <a:xfrm>
            <a:off x="6023693"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02 </a:t>
            </a:r>
            <a:r>
              <a:rPr lang="en-US" sz="2800" b="1" i="0" u="none" strike="noStrike" dirty="0" err="1">
                <a:solidFill>
                  <a:srgbClr val="2B4C7E"/>
                </a:solidFill>
                <a:latin typeface="Noto Sans SC"/>
                <a:ea typeface="Noto Sans SC"/>
                <a:cs typeface="Noto Sans SC"/>
                <a:sym typeface="Noto Sans SC"/>
              </a:rPr>
              <a:t>并行工具调用</a:t>
            </a:r>
            <a:endParaRPr lang="en-US" sz="2800" dirty="0"/>
          </a:p>
        </p:txBody>
      </p:sp>
      <p:sp>
        <p:nvSpPr>
          <p:cNvPr id="80" name="AutoShape 11">
            <a:extLst>
              <a:ext uri="{FF2B5EF4-FFF2-40B4-BE49-F238E27FC236}">
                <a16:creationId xmlns:a16="http://schemas.microsoft.com/office/drawing/2014/main" id="{F0FC146D-DA02-A8AA-A91F-4227C0933421}"/>
              </a:ext>
            </a:extLst>
          </p:cNvPr>
          <p:cNvSpPr txBox="1"/>
          <p:nvPr/>
        </p:nvSpPr>
        <p:spPr>
          <a:xfrm>
            <a:off x="6274114" y="3325934"/>
            <a:ext cx="3657601" cy="41797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50000"/>
              </a:lnSpc>
              <a:defRPr/>
            </a:pPr>
            <a:r>
              <a:rPr lang="en-US" sz="2000" b="0" i="0" u="none" strike="noStrike" dirty="0">
                <a:solidFill>
                  <a:srgbClr val="3C4655"/>
                </a:solidFill>
                <a:latin typeface="Noto Sans SC"/>
                <a:ea typeface="Noto Sans SC"/>
                <a:cs typeface="Noto Sans SC"/>
                <a:sym typeface="Noto Sans SC"/>
              </a:rPr>
              <a:t>当 Agent </a:t>
            </a:r>
            <a:r>
              <a:rPr lang="en-US" sz="2000" b="0" i="0" u="none" strike="noStrike" dirty="0" err="1">
                <a:solidFill>
                  <a:srgbClr val="3C4655"/>
                </a:solidFill>
                <a:latin typeface="Noto Sans SC"/>
                <a:ea typeface="Noto Sans SC"/>
                <a:cs typeface="Noto Sans SC"/>
                <a:sym typeface="Noto Sans SC"/>
              </a:rPr>
              <a:t>判断需要多个独立工具时，并行执行以提升效率</a:t>
            </a:r>
            <a:r>
              <a:rPr lang="en-US" sz="2000" b="0" i="0" u="none" strike="noStrike" dirty="0">
                <a:solidFill>
                  <a:srgbClr val="3C4655"/>
                </a:solidFill>
                <a:latin typeface="Noto Sans SC"/>
                <a:ea typeface="Noto Sans SC"/>
                <a:cs typeface="Noto Sans SC"/>
                <a:sym typeface="Noto Sans SC"/>
              </a:rPr>
              <a:t>。</a:t>
            </a:r>
            <a:endParaRPr lang="en-US" sz="2000" dirty="0"/>
          </a:p>
          <a:p>
            <a:pPr marL="0" indent="0" algn="l">
              <a:lnSpc>
                <a:spcPct val="150000"/>
              </a:lnSpc>
            </a:pPr>
            <a:endParaRPr lang="en-US" sz="2000" dirty="0"/>
          </a:p>
          <a:p>
            <a:pPr marL="0" indent="0" algn="l">
              <a:lnSpc>
                <a:spcPct val="150000"/>
              </a:lnSpc>
            </a:pPr>
            <a:r>
              <a:rPr lang="en-US" sz="2000" b="0" i="0" u="none" strike="noStrike" dirty="0" err="1">
                <a:solidFill>
                  <a:srgbClr val="3C4655"/>
                </a:solidFill>
                <a:latin typeface="Noto Sans SC"/>
                <a:ea typeface="Noto Sans SC"/>
                <a:cs typeface="Noto Sans SC"/>
                <a:sym typeface="Noto Sans SC"/>
              </a:rPr>
              <a:t>例如</a:t>
            </a:r>
            <a:r>
              <a:rPr lang="en-US" sz="2000" b="0" i="0" u="none" strike="noStrike" dirty="0">
                <a:solidFill>
                  <a:srgbClr val="3C4655"/>
                </a:solidFill>
                <a:latin typeface="Noto Sans SC"/>
                <a:ea typeface="Noto Sans SC"/>
                <a:cs typeface="Noto Sans SC"/>
                <a:sym typeface="Noto Sans SC"/>
              </a:rPr>
              <a:t>：</a:t>
            </a: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同时检索知识库</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提取关键词</a:t>
            </a: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同时获取两篇论文元信息</a:t>
            </a: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r>
              <a:rPr lang="en-US" sz="2000" b="0" i="0" u="none" strike="noStrike" dirty="0" err="1">
                <a:solidFill>
                  <a:srgbClr val="3C4655"/>
                </a:solidFill>
                <a:latin typeface="Noto Sans SC"/>
                <a:ea typeface="Noto Sans SC"/>
                <a:cs typeface="Noto Sans SC"/>
                <a:sym typeface="Noto Sans SC"/>
              </a:rPr>
              <a:t>并行计算多个统计指标</a:t>
            </a:r>
            <a:endParaRPr lang="en-US" sz="2000" b="0" i="0" u="none" strike="noStrike" dirty="0">
              <a:solidFill>
                <a:srgbClr val="3C4655"/>
              </a:solidFill>
              <a:latin typeface="Noto Sans SC"/>
              <a:ea typeface="Noto Sans SC"/>
              <a:cs typeface="Noto Sans SC"/>
              <a:sym typeface="Noto Sans SC"/>
            </a:endParaRPr>
          </a:p>
          <a:p>
            <a:pPr marL="0" indent="0" algn="l">
              <a:lnSpc>
                <a:spcPct val="150000"/>
              </a:lnSpc>
            </a:pPr>
            <a:endParaRPr lang="en-US" sz="2000" b="0" i="0" u="none" strike="noStrike" dirty="0">
              <a:solidFill>
                <a:srgbClr val="3C4655"/>
              </a:solidFill>
              <a:latin typeface="Noto Sans SC"/>
              <a:ea typeface="Noto Sans SC"/>
              <a:cs typeface="Noto Sans SC"/>
              <a:sym typeface="Noto Sans SC"/>
            </a:endParaRPr>
          </a:p>
          <a:p>
            <a:pPr marL="0" indent="0" algn="l">
              <a:lnSpc>
                <a:spcPct val="150000"/>
              </a:lnSpc>
            </a:pPr>
            <a:r>
              <a:rPr lang="en-US" sz="2000" b="0" i="0" u="none" strike="noStrike" dirty="0" err="1">
                <a:solidFill>
                  <a:srgbClr val="3C4655"/>
                </a:solidFill>
                <a:latin typeface="Noto Sans SC"/>
                <a:ea typeface="Noto Sans SC"/>
                <a:cs typeface="Noto Sans SC"/>
                <a:sym typeface="Noto Sans SC"/>
              </a:rPr>
              <a:t>无依赖的工具不串行等待</a:t>
            </a:r>
            <a:r>
              <a:rPr lang="en-US" sz="2000" b="0" i="0" u="none" strike="noStrike" dirty="0">
                <a:solidFill>
                  <a:srgbClr val="3C4655"/>
                </a:solidFill>
                <a:latin typeface="Noto Sans SC"/>
                <a:ea typeface="Noto Sans SC"/>
                <a:cs typeface="Noto Sans SC"/>
                <a:sym typeface="Noto Sans SC"/>
              </a:rPr>
              <a:t>。</a:t>
            </a:r>
          </a:p>
        </p:txBody>
      </p:sp>
      <p:cxnSp>
        <p:nvCxnSpPr>
          <p:cNvPr id="81" name="Connector 12">
            <a:extLst>
              <a:ext uri="{FF2B5EF4-FFF2-40B4-BE49-F238E27FC236}">
                <a16:creationId xmlns:a16="http://schemas.microsoft.com/office/drawing/2014/main" id="{D8043665-9A70-7CD2-4404-C041AC4445AA}"/>
              </a:ext>
            </a:extLst>
          </p:cNvPr>
          <p:cNvCxnSpPr>
            <a:cxnSpLocks/>
          </p:cNvCxnSpPr>
          <p:nvPr/>
        </p:nvCxnSpPr>
        <p:spPr>
          <a:xfrm>
            <a:off x="11049000" y="3016245"/>
            <a:ext cx="21721" cy="6916385"/>
          </a:xfrm>
          <a:prstGeom prst="straightConnector1">
            <a:avLst/>
          </a:prstGeom>
          <a:solidFill>
            <a:srgbClr val="DEE0E3">
              <a:alpha val="100000"/>
            </a:srgbClr>
          </a:solidFill>
          <a:ln w="12700" cap="flat" cmpd="sng">
            <a:solidFill>
              <a:srgbClr val="E1E6F0">
                <a:alpha val="100000"/>
              </a:srgbClr>
            </a:solidFill>
            <a:prstDash val="solid"/>
            <a:round/>
            <a:headEnd type="none" w="med" len="med"/>
            <a:tailEnd type="none" w="med" len="med"/>
          </a:ln>
        </p:spPr>
      </p:cxnSp>
      <p:sp>
        <p:nvSpPr>
          <p:cNvPr id="82" name="AutoShape 13">
            <a:extLst>
              <a:ext uri="{FF2B5EF4-FFF2-40B4-BE49-F238E27FC236}">
                <a16:creationId xmlns:a16="http://schemas.microsoft.com/office/drawing/2014/main" id="{A79E1BE9-8F8F-041B-B0BD-C35238380CA1}"/>
              </a:ext>
            </a:extLst>
          </p:cNvPr>
          <p:cNvSpPr txBox="1"/>
          <p:nvPr/>
        </p:nvSpPr>
        <p:spPr>
          <a:xfrm>
            <a:off x="11070721"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03 </a:t>
            </a:r>
            <a:r>
              <a:rPr lang="en-US" sz="2800" b="1" i="0" u="none" strike="noStrike" dirty="0" err="1">
                <a:solidFill>
                  <a:srgbClr val="2B4C7E"/>
                </a:solidFill>
                <a:latin typeface="Noto Sans SC"/>
                <a:ea typeface="Noto Sans SC"/>
                <a:cs typeface="Noto Sans SC"/>
                <a:sym typeface="Noto Sans SC"/>
              </a:rPr>
              <a:t>错误恢复机制</a:t>
            </a:r>
            <a:endParaRPr lang="en-US" sz="2800" dirty="0"/>
          </a:p>
        </p:txBody>
      </p:sp>
      <p:sp>
        <p:nvSpPr>
          <p:cNvPr id="84" name="AutoShape 15">
            <a:extLst>
              <a:ext uri="{FF2B5EF4-FFF2-40B4-BE49-F238E27FC236}">
                <a16:creationId xmlns:a16="http://schemas.microsoft.com/office/drawing/2014/main" id="{3A956A8E-188C-70C7-0AE4-63C7152F2526}"/>
              </a:ext>
            </a:extLst>
          </p:cNvPr>
          <p:cNvSpPr txBox="1"/>
          <p:nvPr/>
        </p:nvSpPr>
        <p:spPr>
          <a:xfrm>
            <a:off x="11265841" y="3325934"/>
            <a:ext cx="3657601" cy="22747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50000"/>
              </a:lnSpc>
              <a:buClr>
                <a:srgbClr val="3C4655"/>
              </a:buClr>
              <a:defRPr/>
            </a:pPr>
            <a:r>
              <a:rPr lang="en-US" sz="2000" b="1" i="0" u="none" strike="noStrike" dirty="0">
                <a:solidFill>
                  <a:srgbClr val="3C4655"/>
                </a:solidFill>
                <a:latin typeface="Noto Sans SC"/>
                <a:ea typeface="Noto Sans SC"/>
                <a:cs typeface="Noto Sans SC"/>
                <a:sym typeface="Noto Sans SC"/>
              </a:rPr>
              <a:t>  </a:t>
            </a:r>
            <a:r>
              <a:rPr lang="en-US" sz="2000" b="1" i="0" u="none" strike="noStrike" dirty="0" err="1">
                <a:solidFill>
                  <a:srgbClr val="3C4655"/>
                </a:solidFill>
                <a:latin typeface="Noto Sans SC"/>
                <a:ea typeface="Noto Sans SC"/>
                <a:cs typeface="Noto Sans SC"/>
                <a:sym typeface="Noto Sans SC"/>
              </a:rPr>
              <a:t>工具调用超时</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重试或跳过</a:t>
            </a:r>
            <a:endParaRPr lang="en-US" sz="2000" dirty="0"/>
          </a:p>
          <a:p>
            <a:pPr algn="l">
              <a:lnSpc>
                <a:spcPct val="150000"/>
              </a:lnSpc>
              <a:buClr>
                <a:srgbClr val="3C4655"/>
              </a:buClr>
            </a:pPr>
            <a:r>
              <a:rPr lang="en-US" sz="2000" b="1" i="0" u="none" strike="noStrike" dirty="0">
                <a:solidFill>
                  <a:srgbClr val="3C4655"/>
                </a:solidFill>
                <a:latin typeface="Noto Sans SC"/>
                <a:ea typeface="Noto Sans SC"/>
                <a:cs typeface="Noto Sans SC"/>
                <a:sym typeface="Noto Sans SC"/>
              </a:rPr>
              <a:t>  </a:t>
            </a:r>
            <a:r>
              <a:rPr lang="en-US" sz="2000" b="1" i="0" u="none" strike="noStrike" dirty="0" err="1">
                <a:solidFill>
                  <a:srgbClr val="3C4655"/>
                </a:solidFill>
                <a:latin typeface="Noto Sans SC"/>
                <a:ea typeface="Noto Sans SC"/>
                <a:cs typeface="Noto Sans SC"/>
                <a:sym typeface="Noto Sans SC"/>
              </a:rPr>
              <a:t>工具返回异常</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记录错误并尝试替代工具</a:t>
            </a:r>
            <a:endParaRPr lang="en-US" sz="2000" b="0" i="0" u="none" strike="noStrike" dirty="0">
              <a:solidFill>
                <a:srgbClr val="3C4655"/>
              </a:solidFill>
              <a:latin typeface="Noto Sans SC"/>
              <a:ea typeface="Noto Sans SC"/>
              <a:cs typeface="Noto Sans SC"/>
              <a:sym typeface="Noto Sans SC"/>
            </a:endParaRPr>
          </a:p>
          <a:p>
            <a:pPr algn="l">
              <a:lnSpc>
                <a:spcPct val="150000"/>
              </a:lnSpc>
              <a:buClr>
                <a:srgbClr val="3C4655"/>
              </a:buClr>
            </a:pPr>
            <a:r>
              <a:rPr lang="en-US" sz="2000" b="1" dirty="0">
                <a:solidFill>
                  <a:srgbClr val="3C4655"/>
                </a:solidFill>
                <a:latin typeface="Noto Sans SC"/>
                <a:ea typeface="Noto Sans SC"/>
                <a:cs typeface="Noto Sans SC"/>
                <a:sym typeface="Noto Sans SC"/>
              </a:rPr>
              <a:t>  </a:t>
            </a:r>
            <a:r>
              <a:rPr lang="en-US" sz="2000" b="1" i="0" u="none" strike="noStrike" dirty="0">
                <a:solidFill>
                  <a:srgbClr val="3C4655"/>
                </a:solidFill>
                <a:latin typeface="Noto Sans SC"/>
                <a:ea typeface="Noto Sans SC"/>
                <a:cs typeface="Noto Sans SC"/>
                <a:sym typeface="Noto Sans SC"/>
              </a:rPr>
              <a:t>Agent </a:t>
            </a:r>
            <a:r>
              <a:rPr lang="en-US" sz="2000" b="1" i="0" u="none" strike="noStrike" dirty="0" err="1">
                <a:solidFill>
                  <a:srgbClr val="3C4655"/>
                </a:solidFill>
                <a:latin typeface="Noto Sans SC"/>
                <a:ea typeface="Noto Sans SC"/>
                <a:cs typeface="Noto Sans SC"/>
                <a:sym typeface="Noto Sans SC"/>
              </a:rPr>
              <a:t>陷入死循环</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强制终止并提示用户</a:t>
            </a:r>
            <a:endParaRPr lang="en-US" sz="2000" b="0" i="0" u="none" strike="noStrike" dirty="0">
              <a:solidFill>
                <a:srgbClr val="3C4655"/>
              </a:solidFill>
              <a:latin typeface="Noto Sans SC"/>
              <a:ea typeface="Noto Sans SC"/>
              <a:cs typeface="Noto Sans SC"/>
              <a:sym typeface="Noto Sans SC"/>
            </a:endParaRPr>
          </a:p>
        </p:txBody>
      </p:sp>
    </p:spTree>
    <p:extLst>
      <p:ext uri="{BB962C8B-B14F-4D97-AF65-F5344CB8AC3E}">
        <p14:creationId xmlns:p14="http://schemas.microsoft.com/office/powerpoint/2010/main" val="1288592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多轮对话记忆管理</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125" name="AutoShape 5">
            <a:extLst>
              <a:ext uri="{FF2B5EF4-FFF2-40B4-BE49-F238E27FC236}">
                <a16:creationId xmlns:a16="http://schemas.microsoft.com/office/drawing/2014/main" id="{778B0DD1-D737-A152-56F8-2D3224C356B9}"/>
              </a:ext>
            </a:extLst>
          </p:cNvPr>
          <p:cNvSpPr/>
          <p:nvPr/>
        </p:nvSpPr>
        <p:spPr>
          <a:xfrm>
            <a:off x="1079606" y="2612289"/>
            <a:ext cx="5117994" cy="2809919"/>
          </a:xfrm>
          <a:prstGeom prst="roundRect">
            <a:avLst>
              <a:gd name="adj" fmla="val 5333"/>
            </a:avLst>
          </a:prstGeom>
          <a:solidFill>
            <a:srgbClr val="F0F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6" name="AutoShape 6">
            <a:extLst>
              <a:ext uri="{FF2B5EF4-FFF2-40B4-BE49-F238E27FC236}">
                <a16:creationId xmlns:a16="http://schemas.microsoft.com/office/drawing/2014/main" id="{973EB240-D5A7-EDA5-A877-EC777A4AF5BF}"/>
              </a:ext>
            </a:extLst>
          </p:cNvPr>
          <p:cNvSpPr txBox="1"/>
          <p:nvPr/>
        </p:nvSpPr>
        <p:spPr>
          <a:xfrm>
            <a:off x="1333606" y="2802790"/>
            <a:ext cx="2921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Noto Sans SC"/>
                <a:ea typeface="Noto Sans SC"/>
                <a:cs typeface="Noto Sans SC"/>
                <a:sym typeface="Noto Sans SC"/>
              </a:rPr>
              <a:t>会话隔离</a:t>
            </a:r>
            <a:endParaRPr lang="en-US" sz="2400" dirty="0"/>
          </a:p>
        </p:txBody>
      </p:sp>
      <p:sp>
        <p:nvSpPr>
          <p:cNvPr id="127" name="AutoShape 7">
            <a:extLst>
              <a:ext uri="{FF2B5EF4-FFF2-40B4-BE49-F238E27FC236}">
                <a16:creationId xmlns:a16="http://schemas.microsoft.com/office/drawing/2014/main" id="{63B07949-D898-69B3-196A-778173BD7192}"/>
              </a:ext>
            </a:extLst>
          </p:cNvPr>
          <p:cNvSpPr txBox="1"/>
          <p:nvPr/>
        </p:nvSpPr>
        <p:spPr>
          <a:xfrm>
            <a:off x="1343938" y="3744979"/>
            <a:ext cx="4457594" cy="1143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2000" b="0" i="0" u="none" strike="noStrike" dirty="0" err="1">
                <a:solidFill>
                  <a:srgbClr val="3C4655"/>
                </a:solidFill>
                <a:latin typeface="Noto Sans SC"/>
                <a:ea typeface="Noto Sans SC"/>
                <a:cs typeface="Noto Sans SC"/>
                <a:sym typeface="Noto Sans SC"/>
              </a:rPr>
              <a:t>不同用户</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不同会话互不干扰，按</a:t>
            </a:r>
            <a:r>
              <a:rPr lang="en-US" sz="2000" b="0" i="0" u="none" strike="noStrike" dirty="0">
                <a:solidFill>
                  <a:srgbClr val="3C4655"/>
                </a:solidFill>
                <a:latin typeface="Noto Sans SC"/>
                <a:ea typeface="Noto Sans SC"/>
                <a:cs typeface="Noto Sans SC"/>
                <a:sym typeface="Noto Sans SC"/>
              </a:rPr>
              <a:t> </a:t>
            </a:r>
            <a:r>
              <a:rPr lang="en-US" sz="2000" b="0" i="0" u="none" strike="noStrike" dirty="0" err="1">
                <a:solidFill>
                  <a:srgbClr val="3C4655"/>
                </a:solidFill>
                <a:latin typeface="Noto Sans SC"/>
                <a:ea typeface="Noto Sans SC"/>
                <a:cs typeface="Noto Sans SC"/>
                <a:sym typeface="Noto Sans SC"/>
              </a:rPr>
              <a:t>session_id</a:t>
            </a:r>
            <a:r>
              <a:rPr lang="en-US" sz="2000" b="0" i="0" u="none" strike="noStrike" dirty="0">
                <a:solidFill>
                  <a:srgbClr val="3C4655"/>
                </a:solidFill>
                <a:latin typeface="Noto Sans SC"/>
                <a:ea typeface="Noto Sans SC"/>
                <a:cs typeface="Noto Sans SC"/>
                <a:sym typeface="Noto Sans SC"/>
              </a:rPr>
              <a:t> </a:t>
            </a:r>
            <a:r>
              <a:rPr lang="en-US" sz="2000" b="0" i="0" u="none" strike="noStrike" dirty="0" err="1">
                <a:solidFill>
                  <a:srgbClr val="3C4655"/>
                </a:solidFill>
                <a:latin typeface="Noto Sans SC"/>
                <a:ea typeface="Noto Sans SC"/>
                <a:cs typeface="Noto Sans SC"/>
                <a:sym typeface="Noto Sans SC"/>
              </a:rPr>
              <a:t>独立存储对话历史</a:t>
            </a:r>
            <a:r>
              <a:rPr lang="en-US" sz="2000" b="0" i="0" u="none" strike="noStrike" dirty="0">
                <a:solidFill>
                  <a:srgbClr val="3C4655"/>
                </a:solidFill>
                <a:latin typeface="Noto Sans SC"/>
                <a:ea typeface="Noto Sans SC"/>
                <a:cs typeface="Noto Sans SC"/>
                <a:sym typeface="Noto Sans SC"/>
              </a:rPr>
              <a:t>。</a:t>
            </a:r>
            <a:endParaRPr lang="en-US" sz="2000" dirty="0"/>
          </a:p>
          <a:p>
            <a:pPr marL="0" indent="0" algn="l">
              <a:lnSpc>
                <a:spcPct val="133333"/>
              </a:lnSpc>
            </a:pPr>
            <a:r>
              <a:rPr lang="en-US" sz="2000" b="0" i="0" u="none" strike="noStrike" dirty="0">
                <a:solidFill>
                  <a:srgbClr val="3C4655"/>
                </a:solidFill>
                <a:latin typeface="Noto Sans SC"/>
                <a:ea typeface="Noto Sans SC"/>
                <a:cs typeface="Noto Sans SC"/>
                <a:sym typeface="Noto Sans SC"/>
              </a:rPr>
              <a:t>测试验证：s1 </a:t>
            </a:r>
            <a:r>
              <a:rPr lang="en-US" sz="2000" b="0" i="0" u="none" strike="noStrike" dirty="0" err="1">
                <a:solidFill>
                  <a:srgbClr val="3C4655"/>
                </a:solidFill>
                <a:latin typeface="Noto Sans SC"/>
                <a:ea typeface="Noto Sans SC"/>
                <a:cs typeface="Noto Sans SC"/>
                <a:sym typeface="Noto Sans SC"/>
              </a:rPr>
              <a:t>的对话不会出现在</a:t>
            </a:r>
            <a:r>
              <a:rPr lang="en-US" sz="2000" b="0" i="0" u="none" strike="noStrike" dirty="0">
                <a:solidFill>
                  <a:srgbClr val="3C4655"/>
                </a:solidFill>
                <a:latin typeface="Noto Sans SC"/>
                <a:ea typeface="Noto Sans SC"/>
                <a:cs typeface="Noto Sans SC"/>
                <a:sym typeface="Noto Sans SC"/>
              </a:rPr>
              <a:t> s2 </a:t>
            </a:r>
            <a:r>
              <a:rPr lang="en-US" sz="2000" b="0" i="0" u="none" strike="noStrike" dirty="0" err="1">
                <a:solidFill>
                  <a:srgbClr val="3C4655"/>
                </a:solidFill>
                <a:latin typeface="Noto Sans SC"/>
                <a:ea typeface="Noto Sans SC"/>
                <a:cs typeface="Noto Sans SC"/>
                <a:sym typeface="Noto Sans SC"/>
              </a:rPr>
              <a:t>上下文中</a:t>
            </a:r>
            <a:r>
              <a:rPr lang="en-US" sz="2000" b="0" i="0" u="none" strike="noStrike" dirty="0">
                <a:solidFill>
                  <a:srgbClr val="3C4655"/>
                </a:solidFill>
                <a:latin typeface="Noto Sans SC"/>
                <a:ea typeface="Noto Sans SC"/>
                <a:cs typeface="Noto Sans SC"/>
                <a:sym typeface="Noto Sans SC"/>
              </a:rPr>
              <a:t>。</a:t>
            </a:r>
          </a:p>
        </p:txBody>
      </p:sp>
      <p:sp>
        <p:nvSpPr>
          <p:cNvPr id="128" name="AutoShape 8">
            <a:extLst>
              <a:ext uri="{FF2B5EF4-FFF2-40B4-BE49-F238E27FC236}">
                <a16:creationId xmlns:a16="http://schemas.microsoft.com/office/drawing/2014/main" id="{B7832689-6260-8DEA-E6D5-E1A8BBDD16F0}"/>
              </a:ext>
            </a:extLst>
          </p:cNvPr>
          <p:cNvSpPr/>
          <p:nvPr/>
        </p:nvSpPr>
        <p:spPr>
          <a:xfrm>
            <a:off x="6585003" y="2623934"/>
            <a:ext cx="5117994" cy="2685546"/>
          </a:xfrm>
          <a:prstGeom prst="roundRect">
            <a:avLst>
              <a:gd name="adj" fmla="val 5333"/>
            </a:avLst>
          </a:prstGeom>
          <a:solidFill>
            <a:srgbClr val="F0F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9" name="AutoShape 9">
            <a:extLst>
              <a:ext uri="{FF2B5EF4-FFF2-40B4-BE49-F238E27FC236}">
                <a16:creationId xmlns:a16="http://schemas.microsoft.com/office/drawing/2014/main" id="{EE82E074-FAE9-5473-45C8-BB9977D53F56}"/>
              </a:ext>
            </a:extLst>
          </p:cNvPr>
          <p:cNvSpPr txBox="1"/>
          <p:nvPr/>
        </p:nvSpPr>
        <p:spPr>
          <a:xfrm>
            <a:off x="6883400" y="2800895"/>
            <a:ext cx="2921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Noto Sans SC"/>
                <a:ea typeface="Noto Sans SC"/>
                <a:cs typeface="Noto Sans SC"/>
                <a:sym typeface="Noto Sans SC"/>
              </a:rPr>
              <a:t>滑动窗口</a:t>
            </a:r>
            <a:r>
              <a:rPr lang="en-US" sz="2400" b="1" i="0" u="none" strike="noStrike" dirty="0">
                <a:solidFill>
                  <a:srgbClr val="2B4C7E"/>
                </a:solidFill>
                <a:latin typeface="Noto Sans SC"/>
                <a:ea typeface="Noto Sans SC"/>
                <a:cs typeface="Noto Sans SC"/>
                <a:sym typeface="Noto Sans SC"/>
              </a:rPr>
              <a:t> Token </a:t>
            </a:r>
            <a:r>
              <a:rPr lang="en-US" sz="2400" b="1" i="0" u="none" strike="noStrike" dirty="0" err="1">
                <a:solidFill>
                  <a:srgbClr val="2B4C7E"/>
                </a:solidFill>
                <a:latin typeface="Noto Sans SC"/>
                <a:ea typeface="Noto Sans SC"/>
                <a:cs typeface="Noto Sans SC"/>
                <a:sym typeface="Noto Sans SC"/>
              </a:rPr>
              <a:t>管理</a:t>
            </a:r>
            <a:endParaRPr lang="en-US" sz="2400" dirty="0"/>
          </a:p>
        </p:txBody>
      </p:sp>
      <p:sp>
        <p:nvSpPr>
          <p:cNvPr id="130" name="AutoShape 10">
            <a:extLst>
              <a:ext uri="{FF2B5EF4-FFF2-40B4-BE49-F238E27FC236}">
                <a16:creationId xmlns:a16="http://schemas.microsoft.com/office/drawing/2014/main" id="{0C260B73-9CF9-0EAB-E403-1CFFC044DD10}"/>
              </a:ext>
            </a:extLst>
          </p:cNvPr>
          <p:cNvSpPr txBox="1"/>
          <p:nvPr/>
        </p:nvSpPr>
        <p:spPr>
          <a:xfrm>
            <a:off x="6885012" y="3578942"/>
            <a:ext cx="4621187" cy="1143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2000" b="0" i="0" u="none" strike="noStrike" dirty="0" err="1">
                <a:solidFill>
                  <a:srgbClr val="3C4655"/>
                </a:solidFill>
                <a:latin typeface="Noto Sans SC"/>
                <a:ea typeface="Noto Sans SC"/>
                <a:cs typeface="Noto Sans SC"/>
                <a:sym typeface="Noto Sans SC"/>
              </a:rPr>
              <a:t>自动截断超长的对话历史，只保留最近</a:t>
            </a:r>
            <a:r>
              <a:rPr lang="en-US" sz="2000" b="0" i="0" u="none" strike="noStrike" dirty="0">
                <a:solidFill>
                  <a:srgbClr val="3C4655"/>
                </a:solidFill>
                <a:latin typeface="Noto Sans SC"/>
                <a:ea typeface="Noto Sans SC"/>
                <a:cs typeface="Noto Sans SC"/>
                <a:sym typeface="Noto Sans SC"/>
              </a:rPr>
              <a:t> N </a:t>
            </a:r>
            <a:r>
              <a:rPr lang="en-US" sz="2000" b="0" i="0" u="none" strike="noStrike" dirty="0" err="1">
                <a:solidFill>
                  <a:srgbClr val="3C4655"/>
                </a:solidFill>
                <a:latin typeface="Noto Sans SC"/>
                <a:ea typeface="Noto Sans SC"/>
                <a:cs typeface="Noto Sans SC"/>
                <a:sym typeface="Noto Sans SC"/>
              </a:rPr>
              <a:t>轮（window_size</a:t>
            </a:r>
            <a:r>
              <a:rPr lang="en-US" sz="2000" b="0" i="0" u="none" strike="noStrike" dirty="0">
                <a:solidFill>
                  <a:srgbClr val="3C4655"/>
                </a:solidFill>
                <a:latin typeface="Noto Sans SC"/>
                <a:ea typeface="Noto Sans SC"/>
                <a:cs typeface="Noto Sans SC"/>
                <a:sym typeface="Noto Sans SC"/>
              </a:rPr>
              <a:t>=2）。</a:t>
            </a:r>
            <a:endParaRPr lang="en-US" sz="2000" dirty="0"/>
          </a:p>
          <a:p>
            <a:pPr marL="0" indent="0" algn="l">
              <a:lnSpc>
                <a:spcPct val="133333"/>
              </a:lnSpc>
            </a:pPr>
            <a:r>
              <a:rPr lang="en-US" sz="2000" b="0" i="0" u="none" strike="noStrike" dirty="0" err="1">
                <a:solidFill>
                  <a:srgbClr val="3C4655"/>
                </a:solidFill>
                <a:latin typeface="Noto Sans SC"/>
                <a:ea typeface="Noto Sans SC"/>
                <a:cs typeface="Noto Sans SC"/>
                <a:sym typeface="Noto Sans SC"/>
              </a:rPr>
              <a:t>超出窗口的旧消息被移出上下文，控制</a:t>
            </a:r>
            <a:r>
              <a:rPr lang="en-US" sz="2000" b="0" i="0" u="none" strike="noStrike" dirty="0">
                <a:solidFill>
                  <a:srgbClr val="3C4655"/>
                </a:solidFill>
                <a:latin typeface="Noto Sans SC"/>
                <a:ea typeface="Noto Sans SC"/>
                <a:cs typeface="Noto Sans SC"/>
                <a:sym typeface="Noto Sans SC"/>
              </a:rPr>
              <a:t> Token </a:t>
            </a:r>
            <a:r>
              <a:rPr lang="en-US" sz="2000" b="0" i="0" u="none" strike="noStrike" dirty="0" err="1">
                <a:solidFill>
                  <a:srgbClr val="3C4655"/>
                </a:solidFill>
                <a:latin typeface="Noto Sans SC"/>
                <a:ea typeface="Noto Sans SC"/>
                <a:cs typeface="Noto Sans SC"/>
                <a:sym typeface="Noto Sans SC"/>
              </a:rPr>
              <a:t>消耗</a:t>
            </a:r>
            <a:r>
              <a:rPr lang="en-US" sz="2000" b="0" i="0" u="none" strike="noStrike" dirty="0">
                <a:solidFill>
                  <a:srgbClr val="3C4655"/>
                </a:solidFill>
                <a:latin typeface="Noto Sans SC"/>
                <a:ea typeface="Noto Sans SC"/>
                <a:cs typeface="Noto Sans SC"/>
                <a:sym typeface="Noto Sans SC"/>
              </a:rPr>
              <a:t>。</a:t>
            </a:r>
          </a:p>
        </p:txBody>
      </p:sp>
      <p:sp>
        <p:nvSpPr>
          <p:cNvPr id="131" name="AutoShape 11">
            <a:extLst>
              <a:ext uri="{FF2B5EF4-FFF2-40B4-BE49-F238E27FC236}">
                <a16:creationId xmlns:a16="http://schemas.microsoft.com/office/drawing/2014/main" id="{F1B35845-5C29-5B3F-27DE-9F3D5B3200FD}"/>
              </a:ext>
            </a:extLst>
          </p:cNvPr>
          <p:cNvSpPr/>
          <p:nvPr/>
        </p:nvSpPr>
        <p:spPr>
          <a:xfrm>
            <a:off x="12090400" y="2623934"/>
            <a:ext cx="5117994" cy="2685546"/>
          </a:xfrm>
          <a:prstGeom prst="roundRect">
            <a:avLst>
              <a:gd name="adj" fmla="val 5333"/>
            </a:avLst>
          </a:prstGeom>
          <a:solidFill>
            <a:srgbClr val="F0F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2" name="AutoShape 12">
            <a:extLst>
              <a:ext uri="{FF2B5EF4-FFF2-40B4-BE49-F238E27FC236}">
                <a16:creationId xmlns:a16="http://schemas.microsoft.com/office/drawing/2014/main" id="{1C57C3F4-3020-C1A8-576E-37513513DD9F}"/>
              </a:ext>
            </a:extLst>
          </p:cNvPr>
          <p:cNvSpPr txBox="1"/>
          <p:nvPr/>
        </p:nvSpPr>
        <p:spPr>
          <a:xfrm>
            <a:off x="12268200" y="2802790"/>
            <a:ext cx="2921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Noto Sans SC"/>
                <a:ea typeface="Noto Sans SC"/>
                <a:cs typeface="Noto Sans SC"/>
                <a:sym typeface="Noto Sans SC"/>
              </a:rPr>
              <a:t>对话摘要压缩</a:t>
            </a:r>
            <a:endParaRPr lang="en-US" sz="2400" dirty="0"/>
          </a:p>
        </p:txBody>
      </p:sp>
      <p:sp>
        <p:nvSpPr>
          <p:cNvPr id="133" name="AutoShape 13">
            <a:extLst>
              <a:ext uri="{FF2B5EF4-FFF2-40B4-BE49-F238E27FC236}">
                <a16:creationId xmlns:a16="http://schemas.microsoft.com/office/drawing/2014/main" id="{7D3F75F5-F1A0-864B-0366-14F29407912B}"/>
              </a:ext>
            </a:extLst>
          </p:cNvPr>
          <p:cNvSpPr txBox="1"/>
          <p:nvPr/>
        </p:nvSpPr>
        <p:spPr>
          <a:xfrm>
            <a:off x="12273366" y="3395207"/>
            <a:ext cx="4878040" cy="1492772"/>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2000" b="0" i="0" u="none" strike="noStrike" dirty="0" err="1">
                <a:solidFill>
                  <a:srgbClr val="3C4655"/>
                </a:solidFill>
                <a:latin typeface="Noto Sans SC"/>
                <a:ea typeface="Noto Sans SC"/>
                <a:cs typeface="Noto Sans SC"/>
                <a:sym typeface="Noto Sans SC"/>
              </a:rPr>
              <a:t>对长对话进行阶段性总结，压缩后替换原始历史</a:t>
            </a:r>
            <a:r>
              <a:rPr lang="en-US" sz="2000" b="0" i="0" u="none" strike="noStrike" dirty="0">
                <a:solidFill>
                  <a:srgbClr val="3C4655"/>
                </a:solidFill>
                <a:latin typeface="Noto Sans SC"/>
                <a:ea typeface="Noto Sans SC"/>
                <a:cs typeface="Noto Sans SC"/>
                <a:sym typeface="Noto Sans SC"/>
              </a:rPr>
              <a:t>。</a:t>
            </a:r>
            <a:endParaRPr lang="en-US" sz="2000" dirty="0"/>
          </a:p>
          <a:p>
            <a:pPr marL="0" indent="0" algn="l">
              <a:lnSpc>
                <a:spcPct val="133333"/>
              </a:lnSpc>
            </a:pPr>
            <a:r>
              <a:rPr lang="en-US" sz="2000" b="0" i="0" u="none" strike="noStrike" dirty="0" err="1">
                <a:solidFill>
                  <a:srgbClr val="3C4655"/>
                </a:solidFill>
                <a:latin typeface="Noto Sans SC"/>
                <a:ea typeface="Noto Sans SC"/>
                <a:cs typeface="Noto Sans SC"/>
                <a:sym typeface="Noto Sans SC"/>
              </a:rPr>
              <a:t>get_context_prompt</a:t>
            </a:r>
            <a:r>
              <a:rPr lang="en-US" sz="2000" b="0" i="0" u="none" strike="noStrike" dirty="0">
                <a:solidFill>
                  <a:srgbClr val="3C4655"/>
                </a:solidFill>
                <a:latin typeface="Noto Sans SC"/>
                <a:ea typeface="Noto Sans SC"/>
                <a:cs typeface="Noto Sans SC"/>
                <a:sym typeface="Noto Sans SC"/>
              </a:rPr>
              <a:t> </a:t>
            </a:r>
            <a:r>
              <a:rPr lang="en-US" sz="2000" b="0" i="0" u="none" strike="noStrike" dirty="0" err="1">
                <a:solidFill>
                  <a:srgbClr val="3C4655"/>
                </a:solidFill>
                <a:latin typeface="Noto Sans SC"/>
                <a:ea typeface="Noto Sans SC"/>
                <a:cs typeface="Noto Sans SC"/>
                <a:sym typeface="Noto Sans SC"/>
              </a:rPr>
              <a:t>中自动注入"对话历史摘要</a:t>
            </a:r>
            <a:r>
              <a:rPr lang="en-US" sz="2000" b="0" i="0" u="none" strike="noStrike" dirty="0">
                <a:solidFill>
                  <a:srgbClr val="3C4655"/>
                </a:solidFill>
                <a:latin typeface="Noto Sans SC"/>
                <a:ea typeface="Noto Sans SC"/>
                <a:cs typeface="Noto Sans SC"/>
                <a:sym typeface="Noto Sans SC"/>
              </a:rPr>
              <a:t>"。</a:t>
            </a:r>
          </a:p>
        </p:txBody>
      </p:sp>
      <p:cxnSp>
        <p:nvCxnSpPr>
          <p:cNvPr id="134" name="Connector 14">
            <a:extLst>
              <a:ext uri="{FF2B5EF4-FFF2-40B4-BE49-F238E27FC236}">
                <a16:creationId xmlns:a16="http://schemas.microsoft.com/office/drawing/2014/main" id="{CF63EE31-701A-C9AA-1DCC-EDF56D25CE8F}"/>
              </a:ext>
            </a:extLst>
          </p:cNvPr>
          <p:cNvCxnSpPr>
            <a:cxnSpLocks/>
          </p:cNvCxnSpPr>
          <p:nvPr/>
        </p:nvCxnSpPr>
        <p:spPr>
          <a:xfrm>
            <a:off x="1422400" y="6718299"/>
            <a:ext cx="15875000" cy="37755"/>
          </a:xfrm>
          <a:prstGeom prst="straightConnector1">
            <a:avLst/>
          </a:prstGeom>
          <a:solidFill>
            <a:srgbClr val="DEE0E3">
              <a:alpha val="100000"/>
            </a:srgbClr>
          </a:solidFill>
          <a:ln w="12700" cap="flat" cmpd="sng">
            <a:solidFill>
              <a:srgbClr val="E1E6F0">
                <a:alpha val="100000"/>
              </a:srgbClr>
            </a:solidFill>
            <a:prstDash val="solid"/>
            <a:round/>
            <a:headEnd type="none" w="med" len="med"/>
            <a:tailEnd type="none" w="med" len="med"/>
          </a:ln>
        </p:spPr>
      </p:cxnSp>
      <p:sp>
        <p:nvSpPr>
          <p:cNvPr id="135" name="AutoShape 15">
            <a:extLst>
              <a:ext uri="{FF2B5EF4-FFF2-40B4-BE49-F238E27FC236}">
                <a16:creationId xmlns:a16="http://schemas.microsoft.com/office/drawing/2014/main" id="{6942B88B-1F00-34C5-8C90-D7254C094671}"/>
              </a:ext>
            </a:extLst>
          </p:cNvPr>
          <p:cNvSpPr txBox="1"/>
          <p:nvPr/>
        </p:nvSpPr>
        <p:spPr>
          <a:xfrm>
            <a:off x="1422400" y="6908800"/>
            <a:ext cx="254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dirty="0" err="1">
                <a:solidFill>
                  <a:srgbClr val="2B4C7E"/>
                </a:solidFill>
                <a:latin typeface="Noto Sans SC"/>
                <a:ea typeface="Noto Sans SC"/>
                <a:cs typeface="Noto Sans SC"/>
                <a:sym typeface="Noto Sans SC"/>
              </a:rPr>
              <a:t>记忆数据流</a:t>
            </a:r>
            <a:endParaRPr lang="en-US" sz="2800" dirty="0"/>
          </a:p>
        </p:txBody>
      </p:sp>
      <p:sp>
        <p:nvSpPr>
          <p:cNvPr id="136" name="AutoShape 16">
            <a:extLst>
              <a:ext uri="{FF2B5EF4-FFF2-40B4-BE49-F238E27FC236}">
                <a16:creationId xmlns:a16="http://schemas.microsoft.com/office/drawing/2014/main" id="{BF8A5F23-1888-67F8-1AD4-C61E91734A88}"/>
              </a:ext>
            </a:extLst>
          </p:cNvPr>
          <p:cNvSpPr txBox="1"/>
          <p:nvPr/>
        </p:nvSpPr>
        <p:spPr>
          <a:xfrm>
            <a:off x="1422400" y="7956549"/>
            <a:ext cx="2286000" cy="381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400" b="0" i="0" u="none" strike="noStrike" dirty="0" err="1">
                <a:solidFill>
                  <a:srgbClr val="3C4655"/>
                </a:solidFill>
                <a:latin typeface="Noto Sans SC"/>
                <a:ea typeface="Noto Sans SC"/>
                <a:cs typeface="Noto Sans SC"/>
                <a:sym typeface="Noto Sans SC"/>
              </a:rPr>
              <a:t>原始对话消息</a:t>
            </a:r>
            <a:endParaRPr lang="en-US" sz="2400" dirty="0"/>
          </a:p>
        </p:txBody>
      </p:sp>
      <p:cxnSp>
        <p:nvCxnSpPr>
          <p:cNvPr id="137" name="Connector 17">
            <a:extLst>
              <a:ext uri="{FF2B5EF4-FFF2-40B4-BE49-F238E27FC236}">
                <a16:creationId xmlns:a16="http://schemas.microsoft.com/office/drawing/2014/main" id="{6C464190-5088-5080-2C91-D59B2F0217A4}"/>
              </a:ext>
            </a:extLst>
          </p:cNvPr>
          <p:cNvCxnSpPr/>
          <p:nvPr/>
        </p:nvCxnSpPr>
        <p:spPr>
          <a:xfrm rot="21542710">
            <a:off x="3708453" y="8140699"/>
            <a:ext cx="762000" cy="12700"/>
          </a:xfrm>
          <a:prstGeom prst="straightConnector1">
            <a:avLst/>
          </a:prstGeom>
          <a:solidFill>
            <a:srgbClr val="DEE0E3">
              <a:alpha val="100000"/>
            </a:srgbClr>
          </a:solidFill>
          <a:ln w="25400" cap="flat" cmpd="sng">
            <a:solidFill>
              <a:srgbClr val="2B4C7E">
                <a:alpha val="100000"/>
              </a:srgbClr>
            </a:solidFill>
            <a:prstDash val="solid"/>
            <a:round/>
            <a:headEnd type="none" w="lg" len="lg"/>
            <a:tailEnd type="triangle" w="lg" len="lg"/>
          </a:ln>
        </p:spPr>
      </p:cxnSp>
      <p:sp>
        <p:nvSpPr>
          <p:cNvPr id="138" name="AutoShape 18">
            <a:extLst>
              <a:ext uri="{FF2B5EF4-FFF2-40B4-BE49-F238E27FC236}">
                <a16:creationId xmlns:a16="http://schemas.microsoft.com/office/drawing/2014/main" id="{7D70E3CD-5E5A-FA14-FDD6-36BB8A909B27}"/>
              </a:ext>
            </a:extLst>
          </p:cNvPr>
          <p:cNvSpPr txBox="1"/>
          <p:nvPr/>
        </p:nvSpPr>
        <p:spPr>
          <a:xfrm>
            <a:off x="4597400" y="7956549"/>
            <a:ext cx="2286000" cy="381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400" b="0" i="0" u="none" strike="noStrike">
                <a:solidFill>
                  <a:srgbClr val="3C4655"/>
                </a:solidFill>
                <a:latin typeface="Noto Sans SC"/>
                <a:ea typeface="Noto Sans SC"/>
                <a:cs typeface="Noto Sans SC"/>
                <a:sym typeface="Noto Sans SC"/>
              </a:rPr>
              <a:t>滑动窗口截断</a:t>
            </a:r>
            <a:endParaRPr lang="en-US" sz="2400"/>
          </a:p>
        </p:txBody>
      </p:sp>
      <p:cxnSp>
        <p:nvCxnSpPr>
          <p:cNvPr id="139" name="Connector 19">
            <a:extLst>
              <a:ext uri="{FF2B5EF4-FFF2-40B4-BE49-F238E27FC236}">
                <a16:creationId xmlns:a16="http://schemas.microsoft.com/office/drawing/2014/main" id="{74B32158-90AB-A5BC-C396-7D29C8156DF3}"/>
              </a:ext>
            </a:extLst>
          </p:cNvPr>
          <p:cNvCxnSpPr/>
          <p:nvPr/>
        </p:nvCxnSpPr>
        <p:spPr>
          <a:xfrm rot="21542710">
            <a:off x="6883453" y="8140699"/>
            <a:ext cx="762000" cy="12700"/>
          </a:xfrm>
          <a:prstGeom prst="straightConnector1">
            <a:avLst/>
          </a:prstGeom>
          <a:solidFill>
            <a:srgbClr val="DEE0E3">
              <a:alpha val="100000"/>
            </a:srgbClr>
          </a:solidFill>
          <a:ln w="25400" cap="flat" cmpd="sng">
            <a:solidFill>
              <a:srgbClr val="2B4C7E">
                <a:alpha val="100000"/>
              </a:srgbClr>
            </a:solidFill>
            <a:prstDash val="solid"/>
            <a:round/>
            <a:headEnd type="none" w="lg" len="lg"/>
            <a:tailEnd type="triangle" w="lg" len="lg"/>
          </a:ln>
        </p:spPr>
      </p:cxnSp>
      <p:sp>
        <p:nvSpPr>
          <p:cNvPr id="140" name="AutoShape 20">
            <a:extLst>
              <a:ext uri="{FF2B5EF4-FFF2-40B4-BE49-F238E27FC236}">
                <a16:creationId xmlns:a16="http://schemas.microsoft.com/office/drawing/2014/main" id="{8698469C-DDFF-BC20-550A-32BDD4499A54}"/>
              </a:ext>
            </a:extLst>
          </p:cNvPr>
          <p:cNvSpPr txBox="1"/>
          <p:nvPr/>
        </p:nvSpPr>
        <p:spPr>
          <a:xfrm>
            <a:off x="7772400" y="7956549"/>
            <a:ext cx="2286000" cy="381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400" b="0" i="0" u="none" strike="noStrike" dirty="0" err="1">
                <a:solidFill>
                  <a:srgbClr val="3C4655"/>
                </a:solidFill>
                <a:latin typeface="Noto Sans SC"/>
                <a:ea typeface="Noto Sans SC"/>
                <a:cs typeface="Noto Sans SC"/>
                <a:sym typeface="Noto Sans SC"/>
              </a:rPr>
              <a:t>长对话摘要压缩</a:t>
            </a:r>
            <a:endParaRPr lang="en-US" sz="2400" dirty="0"/>
          </a:p>
        </p:txBody>
      </p:sp>
      <p:cxnSp>
        <p:nvCxnSpPr>
          <p:cNvPr id="141" name="Connector 21">
            <a:extLst>
              <a:ext uri="{FF2B5EF4-FFF2-40B4-BE49-F238E27FC236}">
                <a16:creationId xmlns:a16="http://schemas.microsoft.com/office/drawing/2014/main" id="{FCBB53D3-1EB4-45C0-F7B1-B2FECBABD846}"/>
              </a:ext>
            </a:extLst>
          </p:cNvPr>
          <p:cNvCxnSpPr/>
          <p:nvPr/>
        </p:nvCxnSpPr>
        <p:spPr>
          <a:xfrm rot="21542710">
            <a:off x="10153059" y="8191495"/>
            <a:ext cx="762000" cy="12700"/>
          </a:xfrm>
          <a:prstGeom prst="straightConnector1">
            <a:avLst/>
          </a:prstGeom>
          <a:solidFill>
            <a:srgbClr val="DEE0E3">
              <a:alpha val="100000"/>
            </a:srgbClr>
          </a:solidFill>
          <a:ln w="25400" cap="flat" cmpd="sng">
            <a:solidFill>
              <a:srgbClr val="2B4C7E">
                <a:alpha val="100000"/>
              </a:srgbClr>
            </a:solidFill>
            <a:prstDash val="solid"/>
            <a:round/>
            <a:headEnd type="none" w="lg" len="lg"/>
            <a:tailEnd type="triangle" w="lg" len="lg"/>
          </a:ln>
        </p:spPr>
      </p:cxnSp>
      <p:sp>
        <p:nvSpPr>
          <p:cNvPr id="142" name="AutoShape 22">
            <a:extLst>
              <a:ext uri="{FF2B5EF4-FFF2-40B4-BE49-F238E27FC236}">
                <a16:creationId xmlns:a16="http://schemas.microsoft.com/office/drawing/2014/main" id="{88536B91-462B-A0FB-3EFC-C5F1FA7D73AB}"/>
              </a:ext>
            </a:extLst>
          </p:cNvPr>
          <p:cNvSpPr txBox="1"/>
          <p:nvPr/>
        </p:nvSpPr>
        <p:spPr>
          <a:xfrm>
            <a:off x="11090759" y="7969248"/>
            <a:ext cx="1524000" cy="381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400" b="1" i="0" u="none" strike="noStrike" dirty="0" err="1">
                <a:solidFill>
                  <a:srgbClr val="2B4C7E"/>
                </a:solidFill>
                <a:latin typeface="Noto Sans SC"/>
                <a:ea typeface="Noto Sans SC"/>
                <a:cs typeface="Noto Sans SC"/>
                <a:sym typeface="Noto Sans SC"/>
              </a:rPr>
              <a:t>注入</a:t>
            </a:r>
            <a:r>
              <a:rPr lang="en-US" sz="2400" b="1" i="0" u="none" strike="noStrike" dirty="0">
                <a:solidFill>
                  <a:srgbClr val="2B4C7E"/>
                </a:solidFill>
                <a:latin typeface="Noto Sans SC"/>
                <a:ea typeface="Noto Sans SC"/>
                <a:cs typeface="Noto Sans SC"/>
                <a:sym typeface="Noto Sans SC"/>
              </a:rPr>
              <a:t> Prompt</a:t>
            </a:r>
            <a:endParaRPr lang="en-US" sz="2400" dirty="0"/>
          </a:p>
        </p:txBody>
      </p:sp>
      <p:sp>
        <p:nvSpPr>
          <p:cNvPr id="143" name="AutoShape 23">
            <a:extLst>
              <a:ext uri="{FF2B5EF4-FFF2-40B4-BE49-F238E27FC236}">
                <a16:creationId xmlns:a16="http://schemas.microsoft.com/office/drawing/2014/main" id="{6B6429D3-354F-3198-6DFF-F3C4F1056154}"/>
              </a:ext>
            </a:extLst>
          </p:cNvPr>
          <p:cNvSpPr txBox="1"/>
          <p:nvPr/>
        </p:nvSpPr>
        <p:spPr>
          <a:xfrm>
            <a:off x="1422400" y="8860809"/>
            <a:ext cx="15036800" cy="491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dirty="0" err="1">
                <a:solidFill>
                  <a:srgbClr val="788291"/>
                </a:solidFill>
                <a:latin typeface="Noto Sans SC"/>
                <a:ea typeface="Noto Sans SC"/>
                <a:cs typeface="Noto Sans SC"/>
                <a:sym typeface="Noto Sans SC"/>
              </a:rPr>
              <a:t>get_context_prompt</a:t>
            </a:r>
            <a:r>
              <a:rPr lang="en-US" sz="2000" b="0" i="0" u="none" strike="noStrike" dirty="0">
                <a:solidFill>
                  <a:srgbClr val="788291"/>
                </a:solidFill>
                <a:latin typeface="Noto Sans SC"/>
                <a:ea typeface="Noto Sans SC"/>
                <a:cs typeface="Noto Sans SC"/>
                <a:sym typeface="Noto Sans SC"/>
              </a:rPr>
              <a:t>(</a:t>
            </a:r>
            <a:r>
              <a:rPr lang="en-US" sz="2000" b="0" i="0" u="none" strike="noStrike" dirty="0" err="1">
                <a:solidFill>
                  <a:srgbClr val="788291"/>
                </a:solidFill>
                <a:latin typeface="Noto Sans SC"/>
                <a:ea typeface="Noto Sans SC"/>
                <a:cs typeface="Noto Sans SC"/>
                <a:sym typeface="Noto Sans SC"/>
              </a:rPr>
              <a:t>session_id</a:t>
            </a:r>
            <a:r>
              <a:rPr lang="en-US" sz="2000" b="0" i="0" u="none" strike="noStrike" dirty="0">
                <a:solidFill>
                  <a:srgbClr val="788291"/>
                </a:solidFill>
                <a:latin typeface="Noto Sans SC"/>
                <a:ea typeface="Noto Sans SC"/>
                <a:cs typeface="Noto Sans SC"/>
                <a:sym typeface="Noto Sans SC"/>
              </a:rPr>
              <a:t>) </a:t>
            </a:r>
            <a:r>
              <a:rPr lang="en-US" sz="2000" b="0" i="0" u="none" strike="noStrike" dirty="0" err="1">
                <a:solidFill>
                  <a:srgbClr val="788291"/>
                </a:solidFill>
                <a:latin typeface="Noto Sans SC"/>
                <a:ea typeface="Noto Sans SC"/>
                <a:cs typeface="Noto Sans SC"/>
                <a:sym typeface="Noto Sans SC"/>
              </a:rPr>
              <a:t>返回组装好的上下文：摘要</a:t>
            </a:r>
            <a:r>
              <a:rPr lang="en-US" sz="2000" b="0" i="0" u="none" strike="noStrike" dirty="0">
                <a:solidFill>
                  <a:srgbClr val="788291"/>
                </a:solidFill>
                <a:latin typeface="Noto Sans SC"/>
                <a:ea typeface="Noto Sans SC"/>
                <a:cs typeface="Noto Sans SC"/>
                <a:sym typeface="Noto Sans SC"/>
              </a:rPr>
              <a:t> + </a:t>
            </a:r>
            <a:r>
              <a:rPr lang="en-US" sz="2000" b="0" i="0" u="none" strike="noStrike" dirty="0" err="1">
                <a:solidFill>
                  <a:srgbClr val="788291"/>
                </a:solidFill>
                <a:latin typeface="Noto Sans SC"/>
                <a:ea typeface="Noto Sans SC"/>
                <a:cs typeface="Noto Sans SC"/>
                <a:sym typeface="Noto Sans SC"/>
              </a:rPr>
              <a:t>最近窗口内的原始消息，作为</a:t>
            </a:r>
            <a:r>
              <a:rPr lang="en-US" sz="2000" b="0" i="0" u="none" strike="noStrike" dirty="0">
                <a:solidFill>
                  <a:srgbClr val="788291"/>
                </a:solidFill>
                <a:latin typeface="Noto Sans SC"/>
                <a:ea typeface="Noto Sans SC"/>
                <a:cs typeface="Noto Sans SC"/>
                <a:sym typeface="Noto Sans SC"/>
              </a:rPr>
              <a:t> System Prompt </a:t>
            </a:r>
            <a:r>
              <a:rPr lang="en-US" sz="2000" b="0" i="0" u="none" strike="noStrike" dirty="0" err="1">
                <a:solidFill>
                  <a:srgbClr val="788291"/>
                </a:solidFill>
                <a:latin typeface="Noto Sans SC"/>
                <a:ea typeface="Noto Sans SC"/>
                <a:cs typeface="Noto Sans SC"/>
                <a:sym typeface="Noto Sans SC"/>
              </a:rPr>
              <a:t>的一部分传给</a:t>
            </a:r>
            <a:r>
              <a:rPr lang="en-US" sz="2000" b="0" i="0" u="none" strike="noStrike" dirty="0">
                <a:solidFill>
                  <a:srgbClr val="788291"/>
                </a:solidFill>
                <a:latin typeface="Noto Sans SC"/>
                <a:ea typeface="Noto Sans SC"/>
                <a:cs typeface="Noto Sans SC"/>
                <a:sym typeface="Noto Sans SC"/>
              </a:rPr>
              <a:t> LLM。</a:t>
            </a:r>
            <a:endParaRPr lang="en-US" sz="2000" dirty="0"/>
          </a:p>
        </p:txBody>
      </p:sp>
    </p:spTree>
    <p:extLst>
      <p:ext uri="{BB962C8B-B14F-4D97-AF65-F5344CB8AC3E}">
        <p14:creationId xmlns:p14="http://schemas.microsoft.com/office/powerpoint/2010/main" val="4020466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703472" cy="795089"/>
          </a:xfrm>
          <a:prstGeom prst="rect">
            <a:avLst/>
          </a:prstGeom>
        </p:spPr>
        <p:txBody>
          <a:bodyPr wrap="square"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模块三在系统中的位置</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36" name="AutoShape 5">
            <a:extLst>
              <a:ext uri="{FF2B5EF4-FFF2-40B4-BE49-F238E27FC236}">
                <a16:creationId xmlns:a16="http://schemas.microsoft.com/office/drawing/2014/main" id="{CCB194BD-866C-1728-FB77-C4C90EFEE200}"/>
              </a:ext>
            </a:extLst>
          </p:cNvPr>
          <p:cNvSpPr/>
          <p:nvPr/>
        </p:nvSpPr>
        <p:spPr>
          <a:xfrm>
            <a:off x="1524000" y="1892091"/>
            <a:ext cx="3304322" cy="1529015"/>
          </a:xfrm>
          <a:prstGeom prst="roundRect">
            <a:avLst>
              <a:gd name="adj" fmla="val 0"/>
            </a:avLst>
          </a:prstGeom>
          <a:solidFill>
            <a:srgbClr val="78AA78">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7" name="AutoShape 6">
            <a:extLst>
              <a:ext uri="{FF2B5EF4-FFF2-40B4-BE49-F238E27FC236}">
                <a16:creationId xmlns:a16="http://schemas.microsoft.com/office/drawing/2014/main" id="{FAE3893F-D14F-66FA-6AC2-8A2ECC1C5BAA}"/>
              </a:ext>
            </a:extLst>
          </p:cNvPr>
          <p:cNvSpPr txBox="1"/>
          <p:nvPr/>
        </p:nvSpPr>
        <p:spPr>
          <a:xfrm>
            <a:off x="1755004" y="2419330"/>
            <a:ext cx="2668140" cy="503198"/>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800" b="1" i="0" u="none" strike="noStrike" dirty="0" err="1">
                <a:solidFill>
                  <a:srgbClr val="FFFFFF"/>
                </a:solidFill>
                <a:latin typeface="Noto Sans SC"/>
                <a:ea typeface="Noto Sans SC"/>
                <a:cs typeface="Noto Sans SC"/>
                <a:sym typeface="Noto Sans SC"/>
              </a:rPr>
              <a:t>展示层</a:t>
            </a:r>
            <a:endParaRPr lang="en-US" sz="2800" dirty="0"/>
          </a:p>
        </p:txBody>
      </p:sp>
      <p:sp>
        <p:nvSpPr>
          <p:cNvPr id="38" name="AutoShape 7">
            <a:extLst>
              <a:ext uri="{FF2B5EF4-FFF2-40B4-BE49-F238E27FC236}">
                <a16:creationId xmlns:a16="http://schemas.microsoft.com/office/drawing/2014/main" id="{A2D0CD31-C3CD-9825-DC21-1E49A4875743}"/>
              </a:ext>
            </a:extLst>
          </p:cNvPr>
          <p:cNvSpPr/>
          <p:nvPr/>
        </p:nvSpPr>
        <p:spPr>
          <a:xfrm>
            <a:off x="1482610" y="3553772"/>
            <a:ext cx="3304322" cy="1529015"/>
          </a:xfrm>
          <a:prstGeom prst="roundRect">
            <a:avLst>
              <a:gd name="adj" fmla="val 0"/>
            </a:avLst>
          </a:prstGeom>
          <a:solidFill>
            <a:srgbClr val="2B4C7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8">
            <a:extLst>
              <a:ext uri="{FF2B5EF4-FFF2-40B4-BE49-F238E27FC236}">
                <a16:creationId xmlns:a16="http://schemas.microsoft.com/office/drawing/2014/main" id="{9C437D87-22C1-542F-8368-12BD4A54868F}"/>
              </a:ext>
            </a:extLst>
          </p:cNvPr>
          <p:cNvSpPr txBox="1"/>
          <p:nvPr/>
        </p:nvSpPr>
        <p:spPr>
          <a:xfrm>
            <a:off x="1899938" y="4073816"/>
            <a:ext cx="2466122" cy="504992"/>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800" b="1" i="0" u="none" strike="noStrike" dirty="0" err="1">
                <a:solidFill>
                  <a:srgbClr val="FFFFFF"/>
                </a:solidFill>
                <a:latin typeface="Noto Sans SC"/>
                <a:ea typeface="Noto Sans SC"/>
                <a:cs typeface="Noto Sans SC"/>
                <a:sym typeface="Noto Sans SC"/>
              </a:rPr>
              <a:t>调度层</a:t>
            </a:r>
            <a:endParaRPr lang="en-US" sz="2800" dirty="0"/>
          </a:p>
        </p:txBody>
      </p:sp>
      <p:sp>
        <p:nvSpPr>
          <p:cNvPr id="40" name="AutoShape 9">
            <a:extLst>
              <a:ext uri="{FF2B5EF4-FFF2-40B4-BE49-F238E27FC236}">
                <a16:creationId xmlns:a16="http://schemas.microsoft.com/office/drawing/2014/main" id="{D6F13739-BED1-E790-1AAD-0CBA9CC4B5AB}"/>
              </a:ext>
            </a:extLst>
          </p:cNvPr>
          <p:cNvSpPr txBox="1"/>
          <p:nvPr/>
        </p:nvSpPr>
        <p:spPr>
          <a:xfrm>
            <a:off x="1600200" y="4614287"/>
            <a:ext cx="3304322" cy="252486"/>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000" b="0" i="0" u="none" strike="noStrike" dirty="0">
                <a:solidFill>
                  <a:srgbClr val="FFFFFF">
                    <a:alpha val="80000"/>
                  </a:srgbClr>
                </a:solidFill>
                <a:latin typeface="Noto Sans SC"/>
                <a:ea typeface="Noto Sans SC"/>
                <a:cs typeface="Noto Sans SC"/>
                <a:sym typeface="Noto Sans SC"/>
              </a:rPr>
              <a:t>Agent </a:t>
            </a:r>
            <a:r>
              <a:rPr lang="en-US" sz="2000" b="0" i="0" u="none" strike="noStrike" dirty="0" err="1">
                <a:solidFill>
                  <a:srgbClr val="FFFFFF">
                    <a:alpha val="80000"/>
                  </a:srgbClr>
                </a:solidFill>
                <a:latin typeface="Noto Sans SC"/>
                <a:ea typeface="Noto Sans SC"/>
                <a:cs typeface="Noto Sans SC"/>
                <a:sym typeface="Noto Sans SC"/>
              </a:rPr>
              <a:t>决策（模块三</a:t>
            </a:r>
            <a:r>
              <a:rPr lang="en-US" sz="2000" b="0" i="0" u="none" strike="noStrike" dirty="0">
                <a:solidFill>
                  <a:srgbClr val="FFFFFF">
                    <a:alpha val="80000"/>
                  </a:srgbClr>
                </a:solidFill>
                <a:latin typeface="Noto Sans SC"/>
                <a:ea typeface="Noto Sans SC"/>
                <a:cs typeface="Noto Sans SC"/>
                <a:sym typeface="Noto Sans SC"/>
              </a:rPr>
              <a:t>）</a:t>
            </a:r>
            <a:endParaRPr lang="en-US" sz="2000" dirty="0"/>
          </a:p>
        </p:txBody>
      </p:sp>
      <p:sp>
        <p:nvSpPr>
          <p:cNvPr id="41" name="AutoShape 10">
            <a:extLst>
              <a:ext uri="{FF2B5EF4-FFF2-40B4-BE49-F238E27FC236}">
                <a16:creationId xmlns:a16="http://schemas.microsoft.com/office/drawing/2014/main" id="{C76B7CF9-C187-1DC3-76AE-B4446177B06D}"/>
              </a:ext>
            </a:extLst>
          </p:cNvPr>
          <p:cNvSpPr/>
          <p:nvPr/>
        </p:nvSpPr>
        <p:spPr>
          <a:xfrm>
            <a:off x="1470394" y="5243586"/>
            <a:ext cx="3304322" cy="1529015"/>
          </a:xfrm>
          <a:prstGeom prst="roundRect">
            <a:avLst>
              <a:gd name="adj" fmla="val 0"/>
            </a:avLst>
          </a:prstGeom>
          <a:solidFill>
            <a:srgbClr val="78AA7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11">
            <a:extLst>
              <a:ext uri="{FF2B5EF4-FFF2-40B4-BE49-F238E27FC236}">
                <a16:creationId xmlns:a16="http://schemas.microsoft.com/office/drawing/2014/main" id="{BF75E0BF-86E9-EE9E-6081-96207ACDC7FB}"/>
              </a:ext>
            </a:extLst>
          </p:cNvPr>
          <p:cNvSpPr txBox="1"/>
          <p:nvPr/>
        </p:nvSpPr>
        <p:spPr>
          <a:xfrm>
            <a:off x="1420964" y="5669551"/>
            <a:ext cx="3304322" cy="795088"/>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800" b="1" i="0" u="none" strike="noStrike" dirty="0" err="1">
                <a:solidFill>
                  <a:srgbClr val="FFFFFF"/>
                </a:solidFill>
                <a:latin typeface="Noto Sans SC"/>
                <a:ea typeface="Noto Sans SC"/>
                <a:cs typeface="Noto Sans SC"/>
                <a:sym typeface="Noto Sans SC"/>
              </a:rPr>
              <a:t>生成层</a:t>
            </a:r>
            <a:endParaRPr lang="en-US" sz="2800" dirty="0"/>
          </a:p>
        </p:txBody>
      </p:sp>
      <p:sp>
        <p:nvSpPr>
          <p:cNvPr id="43" name="AutoShape 12">
            <a:extLst>
              <a:ext uri="{FF2B5EF4-FFF2-40B4-BE49-F238E27FC236}">
                <a16:creationId xmlns:a16="http://schemas.microsoft.com/office/drawing/2014/main" id="{F2274905-1F91-6EC9-19FD-6A09F76CA7E7}"/>
              </a:ext>
            </a:extLst>
          </p:cNvPr>
          <p:cNvSpPr/>
          <p:nvPr/>
        </p:nvSpPr>
        <p:spPr>
          <a:xfrm>
            <a:off x="1436913" y="6914146"/>
            <a:ext cx="3304322" cy="1529015"/>
          </a:xfrm>
          <a:prstGeom prst="roundRect">
            <a:avLst>
              <a:gd name="adj" fmla="val 0"/>
            </a:avLst>
          </a:prstGeom>
          <a:solidFill>
            <a:srgbClr val="78AA78">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4" name="AutoShape 13">
            <a:extLst>
              <a:ext uri="{FF2B5EF4-FFF2-40B4-BE49-F238E27FC236}">
                <a16:creationId xmlns:a16="http://schemas.microsoft.com/office/drawing/2014/main" id="{295DE75C-230B-0AEC-6613-808F9438D4E3}"/>
              </a:ext>
            </a:extLst>
          </p:cNvPr>
          <p:cNvSpPr txBox="1"/>
          <p:nvPr/>
        </p:nvSpPr>
        <p:spPr>
          <a:xfrm>
            <a:off x="1436913" y="7298557"/>
            <a:ext cx="3304322" cy="795088"/>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800" b="1" i="0" u="none" strike="noStrike" dirty="0" err="1">
                <a:solidFill>
                  <a:srgbClr val="FFFFFF"/>
                </a:solidFill>
                <a:latin typeface="Noto Sans SC"/>
                <a:ea typeface="Noto Sans SC"/>
                <a:cs typeface="Noto Sans SC"/>
                <a:sym typeface="Noto Sans SC"/>
              </a:rPr>
              <a:t>检索层</a:t>
            </a:r>
            <a:endParaRPr lang="en-US" sz="2800" dirty="0"/>
          </a:p>
        </p:txBody>
      </p:sp>
      <p:sp>
        <p:nvSpPr>
          <p:cNvPr id="45" name="AutoShape 14">
            <a:extLst>
              <a:ext uri="{FF2B5EF4-FFF2-40B4-BE49-F238E27FC236}">
                <a16:creationId xmlns:a16="http://schemas.microsoft.com/office/drawing/2014/main" id="{5AE048EE-E5D0-5DC5-5FCB-A0604C70DDC6}"/>
              </a:ext>
            </a:extLst>
          </p:cNvPr>
          <p:cNvSpPr/>
          <p:nvPr/>
        </p:nvSpPr>
        <p:spPr>
          <a:xfrm>
            <a:off x="1480838" y="8584706"/>
            <a:ext cx="3304322" cy="1529015"/>
          </a:xfrm>
          <a:prstGeom prst="roundRect">
            <a:avLst>
              <a:gd name="adj" fmla="val 0"/>
            </a:avLst>
          </a:prstGeom>
          <a:solidFill>
            <a:srgbClr val="78AA78">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6" name="AutoShape 15">
            <a:extLst>
              <a:ext uri="{FF2B5EF4-FFF2-40B4-BE49-F238E27FC236}">
                <a16:creationId xmlns:a16="http://schemas.microsoft.com/office/drawing/2014/main" id="{E3222CB6-5014-ECDC-C55D-0A19115F2ADC}"/>
              </a:ext>
            </a:extLst>
          </p:cNvPr>
          <p:cNvSpPr txBox="1"/>
          <p:nvPr/>
        </p:nvSpPr>
        <p:spPr>
          <a:xfrm>
            <a:off x="1473750" y="8951669"/>
            <a:ext cx="3304322" cy="795088"/>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800" b="1" i="0" u="none" strike="noStrike" dirty="0" err="1">
                <a:solidFill>
                  <a:srgbClr val="FFFFFF"/>
                </a:solidFill>
                <a:latin typeface="Noto Sans SC"/>
                <a:ea typeface="Noto Sans SC"/>
                <a:cs typeface="Noto Sans SC"/>
                <a:sym typeface="Noto Sans SC"/>
              </a:rPr>
              <a:t>数据层</a:t>
            </a:r>
            <a:endParaRPr lang="en-US" sz="2800" dirty="0"/>
          </a:p>
        </p:txBody>
      </p:sp>
      <p:sp>
        <p:nvSpPr>
          <p:cNvPr id="47" name="AutoShape 16">
            <a:extLst>
              <a:ext uri="{FF2B5EF4-FFF2-40B4-BE49-F238E27FC236}">
                <a16:creationId xmlns:a16="http://schemas.microsoft.com/office/drawing/2014/main" id="{1069DDC3-951D-25B9-B141-99116904530E}"/>
              </a:ext>
            </a:extLst>
          </p:cNvPr>
          <p:cNvSpPr txBox="1"/>
          <p:nvPr/>
        </p:nvSpPr>
        <p:spPr>
          <a:xfrm>
            <a:off x="6477000" y="2190898"/>
            <a:ext cx="7620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dirty="0" err="1">
                <a:solidFill>
                  <a:srgbClr val="2B4C7E"/>
                </a:solidFill>
                <a:latin typeface="Noto Sans SC"/>
                <a:ea typeface="Noto Sans SC"/>
                <a:cs typeface="Noto Sans SC"/>
                <a:sym typeface="Noto Sans SC"/>
              </a:rPr>
              <a:t>模块三核心成果</a:t>
            </a:r>
            <a:endParaRPr lang="en-US" sz="2400" dirty="0"/>
          </a:p>
        </p:txBody>
      </p:sp>
      <p:sp>
        <p:nvSpPr>
          <p:cNvPr id="49" name="AutoShape 18">
            <a:extLst>
              <a:ext uri="{FF2B5EF4-FFF2-40B4-BE49-F238E27FC236}">
                <a16:creationId xmlns:a16="http://schemas.microsoft.com/office/drawing/2014/main" id="{8F0EF404-9573-A39A-2DFD-DCEE3A7ADF0A}"/>
              </a:ext>
            </a:extLst>
          </p:cNvPr>
          <p:cNvSpPr txBox="1"/>
          <p:nvPr/>
        </p:nvSpPr>
        <p:spPr>
          <a:xfrm>
            <a:off x="6248400" y="3174703"/>
            <a:ext cx="8661400" cy="4626150"/>
          </a:xfrm>
          <a:prstGeom prst="rect">
            <a:avLst/>
          </a:prstGeom>
          <a:noFill/>
          <a:ln w="12700" cap="flat" cmpd="sng">
            <a:noFill/>
            <a:prstDash val="solid"/>
            <a:round/>
          </a:ln>
        </p:spPr>
        <p:txBody>
          <a:bodyPr vert="horz" wrap="square" lIns="0" tIns="0" rIns="0" bIns="0" rtlCol="0" anchor="ctr" anchorCtr="0"/>
          <a:lstStyle/>
          <a:p>
            <a:pPr marL="165100" indent="-165100" algn="l">
              <a:lnSpc>
                <a:spcPct val="166666"/>
              </a:lnSpc>
              <a:buClr>
                <a:srgbClr val="3C4655"/>
              </a:buClr>
              <a:buChar char="•"/>
              <a:defRPr/>
            </a:pPr>
            <a:r>
              <a:rPr lang="en-US" sz="2000" b="1" i="0" u="none" strike="noStrike" dirty="0" err="1">
                <a:solidFill>
                  <a:srgbClr val="3C4655"/>
                </a:solidFill>
                <a:latin typeface="Noto Sans SC"/>
                <a:ea typeface="Noto Sans SC"/>
                <a:cs typeface="Noto Sans SC"/>
                <a:sym typeface="Noto Sans SC"/>
              </a:rPr>
              <a:t>手写</a:t>
            </a:r>
            <a:r>
              <a:rPr lang="en-US" sz="2000" b="1" i="0" u="none" strike="noStrike" dirty="0">
                <a:solidFill>
                  <a:srgbClr val="3C4655"/>
                </a:solidFill>
                <a:latin typeface="Noto Sans SC"/>
                <a:ea typeface="Noto Sans SC"/>
                <a:cs typeface="Noto Sans SC"/>
                <a:sym typeface="Noto Sans SC"/>
              </a:rPr>
              <a:t> </a:t>
            </a:r>
            <a:r>
              <a:rPr lang="en-US" sz="2000" b="1" i="0" u="none" strike="noStrike" dirty="0" err="1">
                <a:solidFill>
                  <a:srgbClr val="3C4655"/>
                </a:solidFill>
                <a:latin typeface="Noto Sans SC"/>
                <a:ea typeface="Noto Sans SC"/>
                <a:cs typeface="Noto Sans SC"/>
                <a:sym typeface="Noto Sans SC"/>
              </a:rPr>
              <a:t>ReAct</a:t>
            </a:r>
            <a:r>
              <a:rPr lang="en-US" sz="2000" b="1" i="0" u="none" strike="noStrike" dirty="0">
                <a:solidFill>
                  <a:srgbClr val="3C4655"/>
                </a:solidFill>
                <a:latin typeface="Noto Sans SC"/>
                <a:ea typeface="Noto Sans SC"/>
                <a:cs typeface="Noto Sans SC"/>
                <a:sym typeface="Noto Sans SC"/>
              </a:rPr>
              <a:t> </a:t>
            </a:r>
            <a:r>
              <a:rPr lang="en-US" sz="2000" b="1" i="0" u="none" strike="noStrike" dirty="0" err="1">
                <a:solidFill>
                  <a:srgbClr val="3C4655"/>
                </a:solidFill>
                <a:latin typeface="Noto Sans SC"/>
                <a:ea typeface="Noto Sans SC"/>
                <a:cs typeface="Noto Sans SC"/>
                <a:sym typeface="Noto Sans SC"/>
              </a:rPr>
              <a:t>循环</a:t>
            </a:r>
            <a:r>
              <a:rPr lang="en-US" sz="2000" b="0" i="0" u="none" strike="noStrike" dirty="0" err="1">
                <a:solidFill>
                  <a:srgbClr val="3C4655"/>
                </a:solidFill>
                <a:latin typeface="Noto Sans SC"/>
                <a:ea typeface="Noto Sans SC"/>
                <a:cs typeface="Noto Sans SC"/>
                <a:sym typeface="Noto Sans SC"/>
              </a:rPr>
              <a:t>：Thought</a:t>
            </a:r>
            <a:r>
              <a:rPr lang="en-US" sz="2000" b="0" i="0" u="none" strike="noStrike" dirty="0">
                <a:solidFill>
                  <a:srgbClr val="3C4655"/>
                </a:solidFill>
                <a:latin typeface="Noto Sans SC"/>
                <a:ea typeface="Noto Sans SC"/>
                <a:cs typeface="Noto Sans SC"/>
                <a:sym typeface="Noto Sans SC"/>
              </a:rPr>
              <a:t> → Action → </a:t>
            </a:r>
            <a:r>
              <a:rPr lang="en-US" sz="2000" b="0" i="0" u="none" strike="noStrike" dirty="0" err="1">
                <a:solidFill>
                  <a:srgbClr val="3C4655"/>
                </a:solidFill>
                <a:latin typeface="Noto Sans SC"/>
                <a:ea typeface="Noto Sans SC"/>
                <a:cs typeface="Noto Sans SC"/>
                <a:sym typeface="Noto Sans SC"/>
              </a:rPr>
              <a:t>Observation，正则解析</a:t>
            </a:r>
            <a:r>
              <a:rPr lang="en-US" sz="2000" b="0" i="0" u="none" strike="noStrike" dirty="0">
                <a:solidFill>
                  <a:srgbClr val="3C4655"/>
                </a:solidFill>
                <a:latin typeface="Noto Sans SC"/>
                <a:ea typeface="Noto Sans SC"/>
                <a:cs typeface="Noto Sans SC"/>
                <a:sym typeface="Noto Sans SC"/>
              </a:rPr>
              <a:t> LLM </a:t>
            </a:r>
            <a:r>
              <a:rPr lang="en-US" sz="2000" b="0" i="0" u="none" strike="noStrike" dirty="0" err="1">
                <a:solidFill>
                  <a:srgbClr val="3C4655"/>
                </a:solidFill>
                <a:latin typeface="Noto Sans SC"/>
                <a:ea typeface="Noto Sans SC"/>
                <a:cs typeface="Noto Sans SC"/>
                <a:sym typeface="Noto Sans SC"/>
              </a:rPr>
              <a:t>输出</a:t>
            </a:r>
            <a:endParaRPr lang="en-US" sz="2000" dirty="0"/>
          </a:p>
          <a:p>
            <a:pPr marL="165100" indent="-165100" algn="l">
              <a:lnSpc>
                <a:spcPct val="166666"/>
              </a:lnSpc>
              <a:buClr>
                <a:srgbClr val="3C4655"/>
              </a:buClr>
              <a:buChar char="•"/>
            </a:pPr>
            <a:r>
              <a:rPr lang="en-US" sz="2000" b="1" i="0" u="none" strike="noStrike" dirty="0">
                <a:solidFill>
                  <a:srgbClr val="3C4655"/>
                </a:solidFill>
                <a:latin typeface="Noto Sans SC"/>
                <a:ea typeface="Noto Sans SC"/>
                <a:cs typeface="Noto Sans SC"/>
                <a:sym typeface="Noto Sans SC"/>
              </a:rPr>
              <a:t>8 </a:t>
            </a:r>
            <a:r>
              <a:rPr lang="en-US" sz="2000" b="1" i="0" u="none" strike="noStrike" dirty="0" err="1">
                <a:solidFill>
                  <a:srgbClr val="3C4655"/>
                </a:solidFill>
                <a:latin typeface="Noto Sans SC"/>
                <a:ea typeface="Noto Sans SC"/>
                <a:cs typeface="Noto Sans SC"/>
                <a:sym typeface="Noto Sans SC"/>
              </a:rPr>
              <a:t>个注册工具</a:t>
            </a:r>
            <a:r>
              <a:rPr lang="en-US" sz="2000" b="0" i="0" u="none" strike="noStrike" dirty="0" err="1">
                <a:solidFill>
                  <a:srgbClr val="3C4655"/>
                </a:solidFill>
                <a:latin typeface="Noto Sans SC"/>
                <a:ea typeface="Noto Sans SC"/>
                <a:cs typeface="Noto Sans SC"/>
                <a:sym typeface="Noto Sans SC"/>
              </a:rPr>
              <a:t>：知识库检索、论文元信息</a:t>
            </a:r>
            <a:r>
              <a:rPr lang="en-US" sz="2000" b="0" i="0" u="none" strike="noStrike" dirty="0">
                <a:solidFill>
                  <a:srgbClr val="3C4655"/>
                </a:solidFill>
                <a:latin typeface="Noto Sans SC"/>
                <a:ea typeface="Noto Sans SC"/>
                <a:cs typeface="Noto Sans SC"/>
                <a:sym typeface="Noto Sans SC"/>
              </a:rPr>
              <a:t>/</a:t>
            </a:r>
            <a:r>
              <a:rPr lang="en-US" sz="2000" b="0" i="0" u="none" strike="noStrike" dirty="0" err="1">
                <a:solidFill>
                  <a:srgbClr val="3C4655"/>
                </a:solidFill>
                <a:latin typeface="Noto Sans SC"/>
                <a:ea typeface="Noto Sans SC"/>
                <a:cs typeface="Noto Sans SC"/>
                <a:sym typeface="Noto Sans SC"/>
              </a:rPr>
              <a:t>对比、摘要、关键词、计算器等</a:t>
            </a:r>
            <a:endParaRPr lang="en-US" sz="2000" b="0" i="0" u="none" strike="noStrike" dirty="0">
              <a:solidFill>
                <a:srgbClr val="3C4655"/>
              </a:solidFill>
              <a:latin typeface="Noto Sans SC"/>
              <a:ea typeface="Noto Sans SC"/>
              <a:cs typeface="Noto Sans SC"/>
              <a:sym typeface="Noto Sans SC"/>
            </a:endParaRPr>
          </a:p>
          <a:p>
            <a:pPr marL="165100" indent="-165100" algn="l">
              <a:lnSpc>
                <a:spcPct val="166666"/>
              </a:lnSpc>
              <a:buClr>
                <a:srgbClr val="3C4655"/>
              </a:buClr>
              <a:buChar char="•"/>
            </a:pPr>
            <a:r>
              <a:rPr lang="en-US" sz="2000" b="1" i="0" u="none" strike="noStrike" dirty="0" err="1">
                <a:solidFill>
                  <a:srgbClr val="3C4655"/>
                </a:solidFill>
                <a:latin typeface="Noto Sans SC"/>
                <a:ea typeface="Noto Sans SC"/>
                <a:cs typeface="Noto Sans SC"/>
                <a:sym typeface="Noto Sans SC"/>
              </a:rPr>
              <a:t>决策优化</a:t>
            </a:r>
            <a:r>
              <a:rPr lang="en-US" sz="2000" b="0" i="0" u="none" strike="noStrike" dirty="0" err="1">
                <a:solidFill>
                  <a:srgbClr val="3C4655"/>
                </a:solidFill>
                <a:latin typeface="Noto Sans SC"/>
                <a:ea typeface="Noto Sans SC"/>
                <a:cs typeface="Noto Sans SC"/>
                <a:sym typeface="Noto Sans SC"/>
              </a:rPr>
              <a:t>：工具路由、并行调用、超时</a:t>
            </a:r>
            <a:r>
              <a:rPr lang="en-US" sz="2000" b="0" i="0" u="none" strike="noStrike" dirty="0">
                <a:solidFill>
                  <a:srgbClr val="3C4655"/>
                </a:solidFill>
                <a:latin typeface="Noto Sans SC"/>
                <a:ea typeface="Noto Sans SC"/>
                <a:cs typeface="Noto Sans SC"/>
                <a:sym typeface="Noto Sans SC"/>
              </a:rPr>
              <a:t>/</a:t>
            </a:r>
            <a:r>
              <a:rPr lang="en-US" sz="2000" b="0" i="0" u="none" strike="noStrike" dirty="0" err="1">
                <a:solidFill>
                  <a:srgbClr val="3C4655"/>
                </a:solidFill>
                <a:latin typeface="Noto Sans SC"/>
                <a:ea typeface="Noto Sans SC"/>
                <a:cs typeface="Noto Sans SC"/>
                <a:sym typeface="Noto Sans SC"/>
              </a:rPr>
              <a:t>异常</a:t>
            </a:r>
            <a:r>
              <a:rPr lang="en-US" sz="2000" b="0" i="0" u="none" strike="noStrike" dirty="0">
                <a:solidFill>
                  <a:srgbClr val="3C4655"/>
                </a:solidFill>
                <a:latin typeface="Noto Sans SC"/>
                <a:ea typeface="Noto Sans SC"/>
                <a:cs typeface="Noto Sans SC"/>
                <a:sym typeface="Noto Sans SC"/>
              </a:rPr>
              <a:t>/</a:t>
            </a:r>
            <a:r>
              <a:rPr lang="en-US" sz="2000" b="0" i="0" u="none" strike="noStrike" dirty="0" err="1">
                <a:solidFill>
                  <a:srgbClr val="3C4655"/>
                </a:solidFill>
                <a:latin typeface="Noto Sans SC"/>
                <a:ea typeface="Noto Sans SC"/>
                <a:cs typeface="Noto Sans SC"/>
                <a:sym typeface="Noto Sans SC"/>
              </a:rPr>
              <a:t>死循环三级容错</a:t>
            </a:r>
            <a:endParaRPr lang="en-US" sz="2000" b="0" i="0" u="none" strike="noStrike" dirty="0">
              <a:solidFill>
                <a:srgbClr val="3C4655"/>
              </a:solidFill>
              <a:latin typeface="Noto Sans SC"/>
              <a:ea typeface="Noto Sans SC"/>
              <a:cs typeface="Noto Sans SC"/>
              <a:sym typeface="Noto Sans SC"/>
            </a:endParaRPr>
          </a:p>
          <a:p>
            <a:pPr marL="165100" indent="-165100" algn="l">
              <a:lnSpc>
                <a:spcPct val="166666"/>
              </a:lnSpc>
              <a:buClr>
                <a:srgbClr val="3C4655"/>
              </a:buClr>
              <a:buChar char="•"/>
            </a:pPr>
            <a:r>
              <a:rPr lang="en-US" sz="2000" b="1" i="0" u="none" strike="noStrike" dirty="0" err="1">
                <a:solidFill>
                  <a:srgbClr val="3C4655"/>
                </a:solidFill>
                <a:latin typeface="Noto Sans SC"/>
                <a:ea typeface="Noto Sans SC"/>
                <a:cs typeface="Noto Sans SC"/>
                <a:sym typeface="Noto Sans SC"/>
              </a:rPr>
              <a:t>记忆管理</a:t>
            </a:r>
            <a:r>
              <a:rPr lang="en-US" sz="2000" b="0" i="0" u="none" strike="noStrike" dirty="0" err="1">
                <a:solidFill>
                  <a:srgbClr val="3C4655"/>
                </a:solidFill>
                <a:latin typeface="Noto Sans SC"/>
                <a:ea typeface="Noto Sans SC"/>
                <a:cs typeface="Noto Sans SC"/>
                <a:sym typeface="Noto Sans SC"/>
              </a:rPr>
              <a:t>：会话隔离</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滑动窗口</a:t>
            </a:r>
            <a:r>
              <a:rPr lang="en-US" sz="2000" b="0" i="0" u="none" strike="noStrike" dirty="0">
                <a:solidFill>
                  <a:srgbClr val="3C4655"/>
                </a:solidFill>
                <a:latin typeface="Noto Sans SC"/>
                <a:ea typeface="Noto Sans SC"/>
                <a:cs typeface="Noto Sans SC"/>
                <a:sym typeface="Noto Sans SC"/>
              </a:rPr>
              <a:t> + </a:t>
            </a:r>
            <a:r>
              <a:rPr lang="en-US" sz="2000" b="0" i="0" u="none" strike="noStrike" dirty="0" err="1">
                <a:solidFill>
                  <a:srgbClr val="3C4655"/>
                </a:solidFill>
                <a:latin typeface="Noto Sans SC"/>
                <a:ea typeface="Noto Sans SC"/>
                <a:cs typeface="Noto Sans SC"/>
                <a:sym typeface="Noto Sans SC"/>
              </a:rPr>
              <a:t>摘要压缩三层机制</a:t>
            </a:r>
            <a:endParaRPr lang="en-US" sz="2000" b="0" i="0" u="none" strike="noStrike" dirty="0">
              <a:solidFill>
                <a:srgbClr val="3C4655"/>
              </a:solidFill>
              <a:latin typeface="Noto Sans SC"/>
              <a:ea typeface="Noto Sans SC"/>
              <a:cs typeface="Noto Sans SC"/>
              <a:sym typeface="Noto Sans SC"/>
            </a:endParaRPr>
          </a:p>
          <a:p>
            <a:pPr marL="165100" indent="-165100" algn="l">
              <a:lnSpc>
                <a:spcPct val="166666"/>
              </a:lnSpc>
              <a:buClr>
                <a:srgbClr val="3C4655"/>
              </a:buClr>
              <a:buChar char="•"/>
            </a:pPr>
            <a:r>
              <a:rPr lang="en-US" sz="2000" b="1" i="0" u="none" strike="noStrike" dirty="0" err="1">
                <a:solidFill>
                  <a:srgbClr val="3C4655"/>
                </a:solidFill>
                <a:latin typeface="Noto Sans SC"/>
                <a:ea typeface="Noto Sans SC"/>
                <a:cs typeface="Noto Sans SC"/>
                <a:sym typeface="Noto Sans SC"/>
              </a:rPr>
              <a:t>冒烟测试</a:t>
            </a:r>
            <a:r>
              <a:rPr lang="en-US" sz="2000" b="1" i="0" u="none" strike="noStrike" dirty="0">
                <a:solidFill>
                  <a:srgbClr val="3C4655"/>
                </a:solidFill>
                <a:latin typeface="Noto Sans SC"/>
                <a:ea typeface="Noto Sans SC"/>
                <a:cs typeface="Noto Sans SC"/>
                <a:sym typeface="Noto Sans SC"/>
              </a:rPr>
              <a:t> 9/9 </a:t>
            </a:r>
            <a:r>
              <a:rPr lang="en-US" sz="2000" b="1" i="0" u="none" strike="noStrike" dirty="0" err="1">
                <a:solidFill>
                  <a:srgbClr val="3C4655"/>
                </a:solidFill>
                <a:latin typeface="Noto Sans SC"/>
                <a:ea typeface="Noto Sans SC"/>
                <a:cs typeface="Noto Sans SC"/>
                <a:sym typeface="Noto Sans SC"/>
              </a:rPr>
              <a:t>通过</a:t>
            </a:r>
            <a:r>
              <a:rPr lang="en-US" sz="2000" b="0" i="0" u="none" strike="noStrike" dirty="0" err="1">
                <a:solidFill>
                  <a:srgbClr val="3C4655"/>
                </a:solidFill>
                <a:latin typeface="Noto Sans SC"/>
                <a:ea typeface="Noto Sans SC"/>
                <a:cs typeface="Noto Sans SC"/>
                <a:sym typeface="Noto Sans SC"/>
              </a:rPr>
              <a:t>：核心逻辑全部验证，可对接模块二与模块四</a:t>
            </a:r>
            <a:endParaRPr lang="en-US" sz="2000" b="0" i="0" u="none" strike="noStrike" dirty="0">
              <a:solidFill>
                <a:srgbClr val="3C4655"/>
              </a:solidFill>
              <a:latin typeface="Noto Sans SC"/>
              <a:ea typeface="Noto Sans SC"/>
              <a:cs typeface="Noto Sans SC"/>
              <a:sym typeface="Noto Sans SC"/>
            </a:endParaRPr>
          </a:p>
        </p:txBody>
      </p:sp>
    </p:spTree>
    <p:extLst>
      <p:ext uri="{BB962C8B-B14F-4D97-AF65-F5344CB8AC3E}">
        <p14:creationId xmlns:p14="http://schemas.microsoft.com/office/powerpoint/2010/main" val="545094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51784" y="-4585021"/>
            <a:ext cx="14954963" cy="21156019"/>
            <a:chOff x="0" y="0"/>
            <a:chExt cx="19939950" cy="28208025"/>
          </a:xfrm>
        </p:grpSpPr>
        <p:grpSp>
          <p:nvGrpSpPr>
            <p:cNvPr id="3" name="Group 3"/>
            <p:cNvGrpSpPr/>
            <p:nvPr/>
          </p:nvGrpSpPr>
          <p:grpSpPr>
            <a:xfrm>
              <a:off x="2979307" y="0"/>
              <a:ext cx="12531397" cy="11964703"/>
              <a:chOff x="0" y="0"/>
              <a:chExt cx="851297" cy="812800"/>
            </a:xfrm>
          </p:grpSpPr>
          <p:sp>
            <p:nvSpPr>
              <p:cNvPr id="4" name="Freeform 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641873" y="3801375"/>
              <a:ext cx="12531397" cy="11964703"/>
              <a:chOff x="0" y="0"/>
              <a:chExt cx="851297" cy="812800"/>
            </a:xfrm>
          </p:grpSpPr>
          <p:sp>
            <p:nvSpPr>
              <p:cNvPr id="7" name="Freeform 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7408553" y="6714596"/>
              <a:ext cx="12531397" cy="11964703"/>
              <a:chOff x="0" y="0"/>
              <a:chExt cx="851297" cy="812800"/>
            </a:xfrm>
          </p:grpSpPr>
          <p:sp>
            <p:nvSpPr>
              <p:cNvPr id="10" name="Freeform 1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568307" y="15697698"/>
              <a:ext cx="9353396" cy="8930418"/>
              <a:chOff x="0" y="0"/>
              <a:chExt cx="851297" cy="812800"/>
            </a:xfrm>
          </p:grpSpPr>
          <p:sp>
            <p:nvSpPr>
              <p:cNvPr id="13" name="Freeform 1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2700000">
              <a:off x="1734689" y="17150758"/>
              <a:ext cx="9714738" cy="8930418"/>
              <a:chOff x="0" y="0"/>
              <a:chExt cx="884185" cy="812800"/>
            </a:xfrm>
          </p:grpSpPr>
          <p:sp>
            <p:nvSpPr>
              <p:cNvPr id="16" name="Freeform 16"/>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grpSp>
        <p:nvGrpSpPr>
          <p:cNvPr id="18" name="Group 18"/>
          <p:cNvGrpSpPr/>
          <p:nvPr/>
        </p:nvGrpSpPr>
        <p:grpSpPr>
          <a:xfrm>
            <a:off x="-8618746" y="-6283998"/>
            <a:ext cx="14954963" cy="21156019"/>
            <a:chOff x="0" y="0"/>
            <a:chExt cx="19939950" cy="28208025"/>
          </a:xfrm>
        </p:grpSpPr>
        <p:grpSp>
          <p:nvGrpSpPr>
            <p:cNvPr id="19" name="Group 19"/>
            <p:cNvGrpSpPr/>
            <p:nvPr/>
          </p:nvGrpSpPr>
          <p:grpSpPr>
            <a:xfrm rot="-10800000">
              <a:off x="4429246" y="16243322"/>
              <a:ext cx="12531397" cy="11964703"/>
              <a:chOff x="0" y="0"/>
              <a:chExt cx="851297" cy="812800"/>
            </a:xfrm>
          </p:grpSpPr>
          <p:sp>
            <p:nvSpPr>
              <p:cNvPr id="20" name="Freeform 20"/>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10800000">
              <a:off x="1766680" y="12441947"/>
              <a:ext cx="12531397" cy="11964703"/>
              <a:chOff x="0" y="0"/>
              <a:chExt cx="851297" cy="812800"/>
            </a:xfrm>
          </p:grpSpPr>
          <p:sp>
            <p:nvSpPr>
              <p:cNvPr id="23" name="Freeform 23"/>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p:cNvSpPr txBox="1"/>
              <p:nvPr/>
            </p:nvSpPr>
            <p:spPr>
              <a:xfrm>
                <a:off x="63500" y="34925"/>
                <a:ext cx="724297" cy="71437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rot="-10800000">
              <a:off x="0" y="9528727"/>
              <a:ext cx="12531397" cy="11964703"/>
              <a:chOff x="0" y="0"/>
              <a:chExt cx="851297" cy="812800"/>
            </a:xfrm>
          </p:grpSpPr>
          <p:sp>
            <p:nvSpPr>
              <p:cNvPr id="26" name="Freeform 26"/>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6018247" y="3579910"/>
              <a:ext cx="9353396" cy="8930418"/>
              <a:chOff x="0" y="0"/>
              <a:chExt cx="851297" cy="812800"/>
            </a:xfrm>
          </p:grpSpPr>
          <p:sp>
            <p:nvSpPr>
              <p:cNvPr id="29" name="Freeform 29"/>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8100000">
              <a:off x="8490523" y="2126849"/>
              <a:ext cx="9714738" cy="8930418"/>
              <a:chOff x="0" y="0"/>
              <a:chExt cx="884185" cy="812800"/>
            </a:xfrm>
          </p:grpSpPr>
          <p:sp>
            <p:nvSpPr>
              <p:cNvPr id="32" name="Freeform 32"/>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sp>
        <p:nvSpPr>
          <p:cNvPr id="34" name="TextBox 34"/>
          <p:cNvSpPr txBox="1"/>
          <p:nvPr/>
        </p:nvSpPr>
        <p:spPr>
          <a:xfrm>
            <a:off x="7614610" y="2003127"/>
            <a:ext cx="3058781" cy="2354427"/>
          </a:xfrm>
          <a:prstGeom prst="rect">
            <a:avLst/>
          </a:prstGeom>
        </p:spPr>
        <p:txBody>
          <a:bodyPr lIns="0" tIns="0" rIns="0" bIns="0" rtlCol="0" anchor="t">
            <a:spAutoFit/>
          </a:bodyPr>
          <a:lstStyle/>
          <a:p>
            <a:pPr algn="ctr">
              <a:lnSpc>
                <a:spcPts val="18969"/>
              </a:lnSpc>
            </a:pPr>
            <a:r>
              <a:rPr lang="en-US" sz="15808" b="1" dirty="0">
                <a:solidFill>
                  <a:srgbClr val="263D6D"/>
                </a:solidFill>
                <a:latin typeface="Akzidenz-Grotesk Bold"/>
                <a:ea typeface="Akzidenz-Grotesk Bold"/>
                <a:cs typeface="Akzidenz-Grotesk Bold"/>
                <a:sym typeface="Akzidenz-Grotesk Bold"/>
              </a:rPr>
              <a:t>03</a:t>
            </a:r>
          </a:p>
        </p:txBody>
      </p:sp>
      <p:sp>
        <p:nvSpPr>
          <p:cNvPr id="35" name="TextBox 35"/>
          <p:cNvSpPr txBox="1"/>
          <p:nvPr/>
        </p:nvSpPr>
        <p:spPr>
          <a:xfrm>
            <a:off x="2201694" y="4114911"/>
            <a:ext cx="13884613" cy="1277081"/>
          </a:xfrm>
          <a:prstGeom prst="rect">
            <a:avLst/>
          </a:prstGeom>
        </p:spPr>
        <p:txBody>
          <a:bodyPr wrap="square" lIns="0" tIns="0" rIns="0" bIns="0" rtlCol="0" anchor="t">
            <a:spAutoFit/>
          </a:bodyPr>
          <a:lstStyle/>
          <a:p>
            <a:pPr marL="0" lvl="0" indent="0" algn="ctr">
              <a:lnSpc>
                <a:spcPts val="10692"/>
              </a:lnSpc>
              <a:spcBef>
                <a:spcPct val="0"/>
              </a:spcBef>
            </a:pPr>
            <a:r>
              <a:rPr lang="zh-CN" altLang="en-US" sz="8100" b="1">
                <a:solidFill>
                  <a:srgbClr val="1E1E1E"/>
                </a:solidFill>
                <a:latin typeface="思源黑体 4 Bold"/>
                <a:ea typeface="思源黑体 4 Bold"/>
                <a:cs typeface="思源黑体 4 Bold"/>
                <a:sym typeface="思源黑体 4 Bold"/>
              </a:rPr>
              <a:t>模块四 系统集成与前端展示</a:t>
            </a:r>
            <a:endParaRPr lang="en-US" sz="8100" b="1">
              <a:solidFill>
                <a:srgbClr val="1E1E1E"/>
              </a:solidFill>
              <a:latin typeface="思源黑体 4 Bold"/>
              <a:ea typeface="思源黑体 4 Bold"/>
              <a:cs typeface="思源黑体 4 Bold"/>
              <a:sym typeface="思源黑体 4 Bold"/>
            </a:endParaRPr>
          </a:p>
        </p:txBody>
      </p:sp>
      <p:grpSp>
        <p:nvGrpSpPr>
          <p:cNvPr id="36" name="Group 36"/>
          <p:cNvGrpSpPr/>
          <p:nvPr/>
        </p:nvGrpSpPr>
        <p:grpSpPr>
          <a:xfrm>
            <a:off x="6085219" y="5829511"/>
            <a:ext cx="6117561" cy="496991"/>
            <a:chOff x="0" y="0"/>
            <a:chExt cx="8300307" cy="674318"/>
          </a:xfrm>
        </p:grpSpPr>
        <p:sp>
          <p:nvSpPr>
            <p:cNvPr id="37" name="Freeform 37"/>
            <p:cNvSpPr/>
            <p:nvPr/>
          </p:nvSpPr>
          <p:spPr>
            <a:xfrm>
              <a:off x="0" y="0"/>
              <a:ext cx="8300307" cy="674318"/>
            </a:xfrm>
            <a:custGeom>
              <a:avLst/>
              <a:gdLst/>
              <a:ahLst/>
              <a:cxnLst/>
              <a:rect l="l" t="t" r="r" b="b"/>
              <a:pathLst>
                <a:path w="8300307" h="674318">
                  <a:moveTo>
                    <a:pt x="126552" y="0"/>
                  </a:moveTo>
                  <a:lnTo>
                    <a:pt x="8173755" y="0"/>
                  </a:lnTo>
                  <a:cubicBezTo>
                    <a:pt x="8243648" y="0"/>
                    <a:pt x="8300307" y="56659"/>
                    <a:pt x="8300307" y="126552"/>
                  </a:cubicBezTo>
                  <a:lnTo>
                    <a:pt x="8300307" y="547765"/>
                  </a:lnTo>
                  <a:cubicBezTo>
                    <a:pt x="8300307" y="617658"/>
                    <a:pt x="8243648" y="674318"/>
                    <a:pt x="8173755" y="674318"/>
                  </a:cubicBezTo>
                  <a:lnTo>
                    <a:pt x="126552" y="674318"/>
                  </a:lnTo>
                  <a:cubicBezTo>
                    <a:pt x="56659" y="674318"/>
                    <a:pt x="0" y="617658"/>
                    <a:pt x="0" y="547765"/>
                  </a:cubicBezTo>
                  <a:lnTo>
                    <a:pt x="0" y="126552"/>
                  </a:lnTo>
                  <a:cubicBezTo>
                    <a:pt x="0" y="56659"/>
                    <a:pt x="56659" y="0"/>
                    <a:pt x="126552" y="0"/>
                  </a:cubicBezTo>
                  <a:close/>
                </a:path>
              </a:pathLst>
            </a:custGeom>
            <a:solidFill>
              <a:srgbClr val="263D6D"/>
            </a:solidFill>
          </p:spPr>
        </p:sp>
        <p:sp>
          <p:nvSpPr>
            <p:cNvPr id="38" name="TextBox 38"/>
            <p:cNvSpPr txBox="1"/>
            <p:nvPr/>
          </p:nvSpPr>
          <p:spPr>
            <a:xfrm>
              <a:off x="0" y="-47625"/>
              <a:ext cx="8300307" cy="721943"/>
            </a:xfrm>
            <a:prstGeom prst="rect">
              <a:avLst/>
            </a:prstGeom>
          </p:spPr>
          <p:txBody>
            <a:bodyPr lIns="50800" tIns="50800" rIns="50800" bIns="50800" rtlCol="0" anchor="ctr"/>
            <a:lstStyle/>
            <a:p>
              <a:pPr algn="ctr">
                <a:lnSpc>
                  <a:spcPts val="3211"/>
                </a:lnSpc>
              </a:pPr>
              <a:endParaRPr/>
            </a:p>
          </p:txBody>
        </p:sp>
      </p:grpSp>
      <p:sp>
        <p:nvSpPr>
          <p:cNvPr id="40" name="TextBox 40"/>
          <p:cNvSpPr txBox="1"/>
          <p:nvPr/>
        </p:nvSpPr>
        <p:spPr>
          <a:xfrm>
            <a:off x="6334173" y="5856832"/>
            <a:ext cx="5619654" cy="317779"/>
          </a:xfrm>
          <a:prstGeom prst="rect">
            <a:avLst/>
          </a:prstGeom>
        </p:spPr>
        <p:txBody>
          <a:bodyPr lIns="0" tIns="0" rIns="0" bIns="0" rtlCol="0" anchor="t">
            <a:spAutoFit/>
          </a:bodyPr>
          <a:lstStyle/>
          <a:p>
            <a:pPr algn="ctr">
              <a:lnSpc>
                <a:spcPts val="2718"/>
              </a:lnSpc>
            </a:pPr>
            <a:r>
              <a:rPr lang="en-US" sz="1800" b="1">
                <a:solidFill>
                  <a:srgbClr val="FFFFFF"/>
                </a:solidFill>
                <a:latin typeface="Akzidenz-Grotesk Medium"/>
                <a:ea typeface="Akzidenz-Grotesk Medium"/>
                <a:cs typeface="Akzidenz-Grotesk Medium"/>
                <a:sym typeface="Akzidenz-Grotesk Medium"/>
              </a:rPr>
              <a:t>System integration and front-end display</a:t>
            </a:r>
          </a:p>
        </p:txBody>
      </p:sp>
    </p:spTree>
    <p:extLst>
      <p:ext uri="{BB962C8B-B14F-4D97-AF65-F5344CB8AC3E}">
        <p14:creationId xmlns:p14="http://schemas.microsoft.com/office/powerpoint/2010/main" val="2468143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4071-0027-5662-60F4-9A934D077F5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BF84BB4-F6D9-F118-2E61-00BD9687E80B}"/>
              </a:ext>
            </a:extLst>
          </p:cNvPr>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交付清单</a:t>
            </a:r>
          </a:p>
        </p:txBody>
      </p:sp>
      <p:sp>
        <p:nvSpPr>
          <p:cNvPr id="3" name="TextBox 3">
            <a:extLst>
              <a:ext uri="{FF2B5EF4-FFF2-40B4-BE49-F238E27FC236}">
                <a16:creationId xmlns:a16="http://schemas.microsoft.com/office/drawing/2014/main" id="{69D729CA-D912-9FFC-21E0-FF451F8173BE}"/>
              </a:ext>
            </a:extLst>
          </p:cNvPr>
          <p:cNvSpPr txBox="1"/>
          <p:nvPr/>
        </p:nvSpPr>
        <p:spPr>
          <a:xfrm>
            <a:off x="1221328" y="1635590"/>
            <a:ext cx="6095025" cy="287451"/>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Delivery List</a:t>
            </a:r>
          </a:p>
        </p:txBody>
      </p:sp>
      <p:grpSp>
        <p:nvGrpSpPr>
          <p:cNvPr id="4" name="Group 4">
            <a:extLst>
              <a:ext uri="{FF2B5EF4-FFF2-40B4-BE49-F238E27FC236}">
                <a16:creationId xmlns:a16="http://schemas.microsoft.com/office/drawing/2014/main" id="{1C1CAC30-547F-350C-6C7C-02155070A596}"/>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909A32CF-D7FC-4309-BEB8-3E32CD6D639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78DE4E8F-05AB-52E5-867E-249CD5ADB80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E0FA280A-C510-FF58-B03A-20A87CFFD964}"/>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0CF30FB5-1FB3-7651-A882-6A8A4B1FAF84}"/>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F4DFDBA8-DBE9-E300-588E-8E97898EA86B}"/>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99EDD959-CD65-576D-5748-3745545D497D}"/>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A0BEA355-E94B-B0A2-24E0-0DBD0C3BD53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9E2B11C4-CA37-3155-EE84-D0FAF181597D}"/>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012B3C04-080C-A381-999D-7EFE8606285E}"/>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F76B5E75-4D70-4984-73F1-4957F0F9F78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44FD470D-F430-713D-4925-6157EDCB8454}"/>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77178B14-DB0E-0B73-5889-BE4F8A225D41}"/>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39782AAB-E808-3074-CD4F-BEBE1C87B80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F17D0E29-D2A8-7404-2AAF-B705FFF91770}"/>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FF93524C-3BD0-C9B2-6CBE-412E00B4C8C9}"/>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A837DC12-902A-56B5-7801-1B148E0A467C}"/>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F8E18572-E462-531C-52C0-D3361ABB6F30}"/>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a:extLst>
              <a:ext uri="{FF2B5EF4-FFF2-40B4-BE49-F238E27FC236}">
                <a16:creationId xmlns:a16="http://schemas.microsoft.com/office/drawing/2014/main" id="{5ACE8C1F-0243-98EE-3217-E93E3208343E}"/>
              </a:ext>
            </a:extLst>
          </p:cNvPr>
          <p:cNvGrpSpPr/>
          <p:nvPr/>
        </p:nvGrpSpPr>
        <p:grpSpPr>
          <a:xfrm>
            <a:off x="2403501" y="2875150"/>
            <a:ext cx="6249754" cy="792056"/>
            <a:chOff x="0" y="0"/>
            <a:chExt cx="1646026" cy="208607"/>
          </a:xfrm>
        </p:grpSpPr>
        <p:sp>
          <p:nvSpPr>
            <p:cNvPr id="23" name="Freeform 23">
              <a:extLst>
                <a:ext uri="{FF2B5EF4-FFF2-40B4-BE49-F238E27FC236}">
                  <a16:creationId xmlns:a16="http://schemas.microsoft.com/office/drawing/2014/main" id="{40EBAA15-B7A5-EE63-5D41-051D5EB1FB23}"/>
                </a:ext>
              </a:extLst>
            </p:cNvPr>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24" name="TextBox 24">
              <a:extLst>
                <a:ext uri="{FF2B5EF4-FFF2-40B4-BE49-F238E27FC236}">
                  <a16:creationId xmlns:a16="http://schemas.microsoft.com/office/drawing/2014/main" id="{20AADB95-1BEF-3F13-4346-7A5EFF505551}"/>
                </a:ext>
              </a:extLst>
            </p:cNvPr>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25" name="Group 25">
            <a:extLst>
              <a:ext uri="{FF2B5EF4-FFF2-40B4-BE49-F238E27FC236}">
                <a16:creationId xmlns:a16="http://schemas.microsoft.com/office/drawing/2014/main" id="{3736549C-7288-8B7B-0090-77968BC30E01}"/>
              </a:ext>
            </a:extLst>
          </p:cNvPr>
          <p:cNvGrpSpPr/>
          <p:nvPr/>
        </p:nvGrpSpPr>
        <p:grpSpPr>
          <a:xfrm>
            <a:off x="2403501" y="3657681"/>
            <a:ext cx="6249754" cy="2052989"/>
            <a:chOff x="0" y="0"/>
            <a:chExt cx="1646026" cy="540705"/>
          </a:xfrm>
        </p:grpSpPr>
        <p:sp>
          <p:nvSpPr>
            <p:cNvPr id="26" name="Freeform 26">
              <a:extLst>
                <a:ext uri="{FF2B5EF4-FFF2-40B4-BE49-F238E27FC236}">
                  <a16:creationId xmlns:a16="http://schemas.microsoft.com/office/drawing/2014/main" id="{A0403B1B-9AA8-BE1D-0659-506F961C4387}"/>
                </a:ext>
              </a:extLst>
            </p:cNvPr>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27" name="TextBox 27">
              <a:extLst>
                <a:ext uri="{FF2B5EF4-FFF2-40B4-BE49-F238E27FC236}">
                  <a16:creationId xmlns:a16="http://schemas.microsoft.com/office/drawing/2014/main" id="{B52A494F-0A50-CAF8-DC34-77967016926F}"/>
                </a:ext>
              </a:extLst>
            </p:cNvPr>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28" name="TextBox 28">
            <a:extLst>
              <a:ext uri="{FF2B5EF4-FFF2-40B4-BE49-F238E27FC236}">
                <a16:creationId xmlns:a16="http://schemas.microsoft.com/office/drawing/2014/main" id="{6C7E0E85-0FA8-ED9E-9264-F0D8CC6B1E16}"/>
              </a:ext>
            </a:extLst>
          </p:cNvPr>
          <p:cNvSpPr txBox="1"/>
          <p:nvPr/>
        </p:nvSpPr>
        <p:spPr>
          <a:xfrm>
            <a:off x="2829669" y="3816233"/>
            <a:ext cx="5165125" cy="1818511"/>
          </a:xfrm>
          <a:prstGeom prst="rect">
            <a:avLst/>
          </a:prstGeom>
        </p:spPr>
        <p:txBody>
          <a:bodyPr lIns="0" tIns="0" rIns="0" bIns="0" rtlCol="0" anchor="t">
            <a:spAutoFit/>
          </a:bodyPr>
          <a:lstStyle/>
          <a:p>
            <a:pPr algn="just">
              <a:lnSpc>
                <a:spcPts val="2856"/>
              </a:lnSpc>
            </a:pPr>
            <a:r>
              <a:rPr lang="zh-CN" altLang="en-US" sz="1700">
                <a:solidFill>
                  <a:srgbClr val="1E1E1E"/>
                </a:solidFill>
                <a:latin typeface="思源黑体 2"/>
                <a:ea typeface="思源黑体 2"/>
                <a:cs typeface="思源黑体 2"/>
                <a:sym typeface="思源黑体 2"/>
              </a:rPr>
              <a:t>将</a:t>
            </a:r>
            <a:r>
              <a:rPr lang="en-US" altLang="zh-CN" sz="1700">
                <a:solidFill>
                  <a:srgbClr val="1E1E1E"/>
                </a:solidFill>
                <a:latin typeface="思源黑体 2"/>
                <a:ea typeface="思源黑体 2"/>
                <a:cs typeface="思源黑体 2"/>
                <a:sym typeface="思源黑体 2"/>
              </a:rPr>
              <a:t>RAG</a:t>
            </a:r>
            <a:r>
              <a:rPr lang="zh-CN" altLang="en-US" sz="1700">
                <a:solidFill>
                  <a:srgbClr val="1E1E1E"/>
                </a:solidFill>
                <a:latin typeface="思源黑体 2"/>
                <a:ea typeface="思源黑体 2"/>
                <a:cs typeface="思源黑体 2"/>
                <a:sym typeface="思源黑体 2"/>
              </a:rPr>
              <a:t>检索封装为</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的核心</a:t>
            </a:r>
            <a:r>
              <a:rPr lang="en-US" altLang="zh-CN" sz="1700">
                <a:solidFill>
                  <a:srgbClr val="1E1E1E"/>
                </a:solidFill>
                <a:latin typeface="思源黑体 2"/>
                <a:ea typeface="思源黑体 2"/>
                <a:cs typeface="思源黑体 2"/>
                <a:sym typeface="思源黑体 2"/>
              </a:rPr>
              <a:t>Tool</a:t>
            </a:r>
            <a:r>
              <a:rPr lang="zh-CN" altLang="en-US" sz="1700">
                <a:solidFill>
                  <a:srgbClr val="1E1E1E"/>
                </a:solidFill>
                <a:latin typeface="思源黑体 2"/>
                <a:ea typeface="思源黑体 2"/>
                <a:cs typeface="思源黑体 2"/>
                <a:sym typeface="思源黑体 2"/>
              </a:rPr>
              <a:t>，精细化调优</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决策逻辑以判断何时走</a:t>
            </a:r>
            <a:r>
              <a:rPr lang="en-US" altLang="zh-CN" sz="1700">
                <a:solidFill>
                  <a:srgbClr val="1E1E1E"/>
                </a:solidFill>
                <a:latin typeface="思源黑体 2"/>
                <a:ea typeface="思源黑体 2"/>
                <a:cs typeface="思源黑体 2"/>
                <a:sym typeface="思源黑体 2"/>
              </a:rPr>
              <a:t>RAG</a:t>
            </a:r>
            <a:r>
              <a:rPr lang="zh-CN" altLang="en-US" sz="1700">
                <a:solidFill>
                  <a:srgbClr val="1E1E1E"/>
                </a:solidFill>
                <a:latin typeface="思源黑体 2"/>
                <a:ea typeface="思源黑体 2"/>
                <a:cs typeface="思源黑体 2"/>
                <a:sym typeface="思源黑体 2"/>
              </a:rPr>
              <a:t>、何时联网搜索，接入记忆管理模块使</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感知对话上下文，并统一</a:t>
            </a:r>
            <a:r>
              <a:rPr lang="en-US" altLang="zh-CN" sz="1700">
                <a:solidFill>
                  <a:srgbClr val="1E1E1E"/>
                </a:solidFill>
                <a:latin typeface="思源黑体 2"/>
                <a:ea typeface="思源黑体 2"/>
                <a:cs typeface="思源黑体 2"/>
                <a:sym typeface="思源黑体 2"/>
              </a:rPr>
              <a:t>Message/Context</a:t>
            </a:r>
            <a:r>
              <a:rPr lang="zh-CN" altLang="en-US" sz="1700">
                <a:solidFill>
                  <a:srgbClr val="1E1E1E"/>
                </a:solidFill>
                <a:latin typeface="思源黑体 2"/>
                <a:ea typeface="思源黑体 2"/>
                <a:cs typeface="思源黑体 2"/>
                <a:sym typeface="思源黑体 2"/>
              </a:rPr>
              <a:t>等数据结构，确保各模块间数据格式一致、协同顺畅。</a:t>
            </a:r>
            <a:endParaRPr lang="en-US" sz="1700">
              <a:solidFill>
                <a:srgbClr val="1E1E1E"/>
              </a:solidFill>
              <a:latin typeface="思源黑体 2"/>
              <a:ea typeface="思源黑体 2"/>
              <a:cs typeface="思源黑体 2"/>
              <a:sym typeface="思源黑体 2"/>
            </a:endParaRPr>
          </a:p>
        </p:txBody>
      </p:sp>
      <p:sp>
        <p:nvSpPr>
          <p:cNvPr id="29" name="TextBox 29">
            <a:extLst>
              <a:ext uri="{FF2B5EF4-FFF2-40B4-BE49-F238E27FC236}">
                <a16:creationId xmlns:a16="http://schemas.microsoft.com/office/drawing/2014/main" id="{41A122F6-D647-B3FC-04FB-E6C78CC205B1}"/>
              </a:ext>
            </a:extLst>
          </p:cNvPr>
          <p:cNvSpPr txBox="1"/>
          <p:nvPr/>
        </p:nvSpPr>
        <p:spPr>
          <a:xfrm>
            <a:off x="3593103" y="2954187"/>
            <a:ext cx="3870550" cy="508922"/>
          </a:xfrm>
          <a:prstGeom prst="rect">
            <a:avLst/>
          </a:prstGeom>
        </p:spPr>
        <p:txBody>
          <a:bodyPr wrap="square" lIns="0" tIns="0" rIns="0" bIns="0" rtlCol="0" anchor="t">
            <a:spAutoFit/>
          </a:bodyPr>
          <a:lstStyle/>
          <a:p>
            <a:pPr algn="ctr">
              <a:lnSpc>
                <a:spcPts val="4368"/>
              </a:lnSpc>
            </a:pPr>
            <a:r>
              <a:rPr lang="en-US" sz="2800" b="1">
                <a:solidFill>
                  <a:srgbClr val="FFFFFF"/>
                </a:solidFill>
                <a:latin typeface="思源黑体 2 Bold"/>
                <a:ea typeface="思源黑体 2 Bold"/>
                <a:cs typeface="思源黑体 2 Bold"/>
                <a:sym typeface="思源黑体 2 Bold"/>
              </a:rPr>
              <a:t>RAG + Agent</a:t>
            </a:r>
            <a:r>
              <a:rPr lang="zh-CN" altLang="en-US" sz="2800" b="1">
                <a:solidFill>
                  <a:srgbClr val="FFFFFF"/>
                </a:solidFill>
                <a:latin typeface="思源黑体 2 Bold"/>
                <a:ea typeface="思源黑体 2 Bold"/>
                <a:cs typeface="思源黑体 2 Bold"/>
                <a:sym typeface="思源黑体 2 Bold"/>
              </a:rPr>
              <a:t>深度融合</a:t>
            </a:r>
            <a:endParaRPr lang="en-US" sz="2800" b="1">
              <a:solidFill>
                <a:srgbClr val="FFFFFF"/>
              </a:solidFill>
              <a:latin typeface="思源黑体 2 Bold"/>
              <a:ea typeface="思源黑体 2 Bold"/>
              <a:cs typeface="思源黑体 2 Bold"/>
              <a:sym typeface="思源黑体 2 Bold"/>
            </a:endParaRPr>
          </a:p>
        </p:txBody>
      </p:sp>
      <p:grpSp>
        <p:nvGrpSpPr>
          <p:cNvPr id="30" name="Group 30">
            <a:extLst>
              <a:ext uri="{FF2B5EF4-FFF2-40B4-BE49-F238E27FC236}">
                <a16:creationId xmlns:a16="http://schemas.microsoft.com/office/drawing/2014/main" id="{97B41F1F-E959-CDF8-A668-AC58C178BD37}"/>
              </a:ext>
            </a:extLst>
          </p:cNvPr>
          <p:cNvGrpSpPr/>
          <p:nvPr/>
        </p:nvGrpSpPr>
        <p:grpSpPr>
          <a:xfrm>
            <a:off x="5359438" y="3644380"/>
            <a:ext cx="337879" cy="295645"/>
            <a:chOff x="0" y="0"/>
            <a:chExt cx="812800" cy="711200"/>
          </a:xfrm>
        </p:grpSpPr>
        <p:sp>
          <p:nvSpPr>
            <p:cNvPr id="31" name="Freeform 31">
              <a:extLst>
                <a:ext uri="{FF2B5EF4-FFF2-40B4-BE49-F238E27FC236}">
                  <a16:creationId xmlns:a16="http://schemas.microsoft.com/office/drawing/2014/main" id="{07F3D0DA-D952-A7F7-369D-FF60F3D76012}"/>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32" name="TextBox 32">
              <a:extLst>
                <a:ext uri="{FF2B5EF4-FFF2-40B4-BE49-F238E27FC236}">
                  <a16:creationId xmlns:a16="http://schemas.microsoft.com/office/drawing/2014/main" id="{64D38265-1009-0593-7828-DADB27DBF1B5}"/>
                </a:ext>
              </a:extLst>
            </p:cNvPr>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C4958DCA-9342-7CA9-C773-6855B51F6B6D}"/>
              </a:ext>
            </a:extLst>
          </p:cNvPr>
          <p:cNvGrpSpPr/>
          <p:nvPr/>
        </p:nvGrpSpPr>
        <p:grpSpPr>
          <a:xfrm>
            <a:off x="9634745" y="2875150"/>
            <a:ext cx="6249754" cy="792056"/>
            <a:chOff x="0" y="0"/>
            <a:chExt cx="1646026" cy="208607"/>
          </a:xfrm>
        </p:grpSpPr>
        <p:sp>
          <p:nvSpPr>
            <p:cNvPr id="34" name="Freeform 34">
              <a:extLst>
                <a:ext uri="{FF2B5EF4-FFF2-40B4-BE49-F238E27FC236}">
                  <a16:creationId xmlns:a16="http://schemas.microsoft.com/office/drawing/2014/main" id="{CDC12913-DD3D-655D-A8A4-0DFF24B5D911}"/>
                </a:ext>
              </a:extLst>
            </p:cNvPr>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35" name="TextBox 35">
              <a:extLst>
                <a:ext uri="{FF2B5EF4-FFF2-40B4-BE49-F238E27FC236}">
                  <a16:creationId xmlns:a16="http://schemas.microsoft.com/office/drawing/2014/main" id="{FBF9023E-DA36-EFD1-AB4E-886D627EE23D}"/>
                </a:ext>
              </a:extLst>
            </p:cNvPr>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88395FB6-30C3-1D79-C399-C5C42331BB2B}"/>
              </a:ext>
            </a:extLst>
          </p:cNvPr>
          <p:cNvGrpSpPr/>
          <p:nvPr/>
        </p:nvGrpSpPr>
        <p:grpSpPr>
          <a:xfrm>
            <a:off x="9634745" y="3657681"/>
            <a:ext cx="6249754" cy="2052989"/>
            <a:chOff x="0" y="0"/>
            <a:chExt cx="1646026" cy="540705"/>
          </a:xfrm>
        </p:grpSpPr>
        <p:sp>
          <p:nvSpPr>
            <p:cNvPr id="37" name="Freeform 37">
              <a:extLst>
                <a:ext uri="{FF2B5EF4-FFF2-40B4-BE49-F238E27FC236}">
                  <a16:creationId xmlns:a16="http://schemas.microsoft.com/office/drawing/2014/main" id="{F407675A-FF03-1CCB-5243-25DFD79EEDD3}"/>
                </a:ext>
              </a:extLst>
            </p:cNvPr>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38" name="TextBox 38">
              <a:extLst>
                <a:ext uri="{FF2B5EF4-FFF2-40B4-BE49-F238E27FC236}">
                  <a16:creationId xmlns:a16="http://schemas.microsoft.com/office/drawing/2014/main" id="{7CC4DD74-218A-3B7F-2BE6-9D3D021A108A}"/>
                </a:ext>
              </a:extLst>
            </p:cNvPr>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39" name="TextBox 39">
            <a:extLst>
              <a:ext uri="{FF2B5EF4-FFF2-40B4-BE49-F238E27FC236}">
                <a16:creationId xmlns:a16="http://schemas.microsoft.com/office/drawing/2014/main" id="{1C40B598-4AD8-05D0-D907-0004DA837A58}"/>
              </a:ext>
            </a:extLst>
          </p:cNvPr>
          <p:cNvSpPr txBox="1"/>
          <p:nvPr/>
        </p:nvSpPr>
        <p:spPr>
          <a:xfrm>
            <a:off x="9770950" y="3802761"/>
            <a:ext cx="5977340" cy="1818511"/>
          </a:xfrm>
          <a:prstGeom prst="rect">
            <a:avLst/>
          </a:prstGeom>
        </p:spPr>
        <p:txBody>
          <a:bodyPr wrap="square" lIns="0" tIns="0" rIns="0" bIns="0" rtlCol="0" anchor="t">
            <a:spAutoFit/>
          </a:bodyPr>
          <a:lstStyle/>
          <a:p>
            <a:pPr algn="just">
              <a:lnSpc>
                <a:spcPts val="2856"/>
              </a:lnSpc>
            </a:pPr>
            <a:r>
              <a:rPr lang="zh-CN" altLang="en-US" sz="1700">
                <a:solidFill>
                  <a:srgbClr val="1E1E1E"/>
                </a:solidFill>
                <a:latin typeface="思源黑体 2"/>
                <a:ea typeface="思源黑体 2"/>
                <a:cs typeface="思源黑体 2"/>
                <a:sym typeface="思源黑体 2"/>
              </a:rPr>
              <a:t>实现</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每次推理</a:t>
            </a:r>
            <a:r>
              <a:rPr lang="en-US" altLang="zh-CN" sz="1700">
                <a:solidFill>
                  <a:srgbClr val="1E1E1E"/>
                </a:solidFill>
                <a:latin typeface="思源黑体 2"/>
                <a:ea typeface="思源黑体 2"/>
                <a:cs typeface="思源黑体 2"/>
                <a:sym typeface="思源黑体 2"/>
              </a:rPr>
              <a:t>Token</a:t>
            </a:r>
            <a:r>
              <a:rPr lang="zh-CN" altLang="en-US" sz="1700">
                <a:solidFill>
                  <a:srgbClr val="1E1E1E"/>
                </a:solidFill>
                <a:latin typeface="思源黑体 2"/>
                <a:ea typeface="思源黑体 2"/>
                <a:cs typeface="思源黑体 2"/>
                <a:sym typeface="思源黑体 2"/>
              </a:rPr>
              <a:t>消耗（按工具调用分别统计）、</a:t>
            </a:r>
            <a:r>
              <a:rPr lang="en-US" altLang="zh-CN" sz="1700">
                <a:solidFill>
                  <a:srgbClr val="1E1E1E"/>
                </a:solidFill>
                <a:latin typeface="思源黑体 2"/>
                <a:ea typeface="思源黑体 2"/>
                <a:cs typeface="思源黑体 2"/>
                <a:sym typeface="思源黑体 2"/>
              </a:rPr>
              <a:t>RAG</a:t>
            </a:r>
            <a:r>
              <a:rPr lang="zh-CN" altLang="en-US" sz="1700">
                <a:solidFill>
                  <a:srgbClr val="1E1E1E"/>
                </a:solidFill>
                <a:latin typeface="思源黑体 2"/>
                <a:ea typeface="思源黑体 2"/>
                <a:cs typeface="思源黑体 2"/>
                <a:sym typeface="思源黑体 2"/>
              </a:rPr>
              <a:t>检索命中率与响应延迟、</a:t>
            </a:r>
            <a:r>
              <a:rPr lang="en-US" altLang="zh-CN" sz="1700">
                <a:solidFill>
                  <a:srgbClr val="1E1E1E"/>
                </a:solidFill>
                <a:latin typeface="思源黑体 2"/>
                <a:ea typeface="思源黑体 2"/>
                <a:cs typeface="思源黑体 2"/>
                <a:sym typeface="思源黑体 2"/>
              </a:rPr>
              <a:t>Thought→Action→Observation</a:t>
            </a:r>
            <a:r>
              <a:rPr lang="zh-CN" altLang="en-US" sz="1700">
                <a:solidFill>
                  <a:srgbClr val="1E1E1E"/>
                </a:solidFill>
                <a:latin typeface="思源黑体 2"/>
                <a:ea typeface="思源黑体 2"/>
                <a:cs typeface="思源黑体 2"/>
                <a:sym typeface="思源黑体 2"/>
              </a:rPr>
              <a:t>全链路决策路径、工具调用成功率与耗时等指标的实时记录与前端展示，并提供检查</a:t>
            </a:r>
            <a:r>
              <a:rPr lang="en-US" altLang="zh-CN" sz="1700">
                <a:solidFill>
                  <a:srgbClr val="1E1E1E"/>
                </a:solidFill>
                <a:latin typeface="思源黑体 2"/>
                <a:ea typeface="思源黑体 2"/>
                <a:cs typeface="思源黑体 2"/>
                <a:sym typeface="思源黑体 2"/>
              </a:rPr>
              <a:t>LLM</a:t>
            </a:r>
            <a:r>
              <a:rPr lang="zh-CN" altLang="en-US" sz="1700">
                <a:solidFill>
                  <a:srgbClr val="1E1E1E"/>
                </a:solidFill>
                <a:latin typeface="思源黑体 2"/>
                <a:ea typeface="思源黑体 2"/>
                <a:cs typeface="思源黑体 2"/>
                <a:sym typeface="思源黑体 2"/>
              </a:rPr>
              <a:t>服务和向量数据库连接状态的健康检查接口。</a:t>
            </a:r>
            <a:endParaRPr lang="en-US" sz="1700">
              <a:solidFill>
                <a:srgbClr val="1E1E1E"/>
              </a:solidFill>
              <a:latin typeface="思源黑体 2"/>
              <a:ea typeface="思源黑体 2"/>
              <a:cs typeface="思源黑体 2"/>
              <a:sym typeface="思源黑体 2"/>
            </a:endParaRPr>
          </a:p>
        </p:txBody>
      </p:sp>
      <p:sp>
        <p:nvSpPr>
          <p:cNvPr id="40" name="TextBox 40">
            <a:extLst>
              <a:ext uri="{FF2B5EF4-FFF2-40B4-BE49-F238E27FC236}">
                <a16:creationId xmlns:a16="http://schemas.microsoft.com/office/drawing/2014/main" id="{FAADD043-C779-6856-882A-E5B1D5679628}"/>
              </a:ext>
            </a:extLst>
          </p:cNvPr>
          <p:cNvSpPr txBox="1"/>
          <p:nvPr/>
        </p:nvSpPr>
        <p:spPr>
          <a:xfrm>
            <a:off x="11315093" y="2954187"/>
            <a:ext cx="2889059" cy="510158"/>
          </a:xfrm>
          <a:prstGeom prst="rect">
            <a:avLst/>
          </a:prstGeom>
        </p:spPr>
        <p:txBody>
          <a:bodyPr lIns="0" tIns="0" rIns="0" bIns="0" rtlCol="0" anchor="t">
            <a:spAutoFit/>
          </a:bodyPr>
          <a:lstStyle/>
          <a:p>
            <a:pPr algn="ctr">
              <a:lnSpc>
                <a:spcPts val="4368"/>
              </a:lnSpc>
            </a:pPr>
            <a:r>
              <a:rPr lang="zh-CN" altLang="en-US" sz="2800" b="1">
                <a:solidFill>
                  <a:srgbClr val="FFFFFF"/>
                </a:solidFill>
                <a:latin typeface="思源黑体 2 Bold"/>
                <a:ea typeface="思源黑体 2 Bold"/>
                <a:cs typeface="思源黑体 2 Bold"/>
                <a:sym typeface="思源黑体 2 Bold"/>
              </a:rPr>
              <a:t>可观测性与监控</a:t>
            </a:r>
            <a:endParaRPr lang="en-US" sz="2800" b="1">
              <a:solidFill>
                <a:srgbClr val="FFFFFF"/>
              </a:solidFill>
              <a:latin typeface="思源黑体 2 Bold"/>
              <a:ea typeface="思源黑体 2 Bold"/>
              <a:cs typeface="思源黑体 2 Bold"/>
              <a:sym typeface="思源黑体 2 Bold"/>
            </a:endParaRPr>
          </a:p>
        </p:txBody>
      </p:sp>
      <p:grpSp>
        <p:nvGrpSpPr>
          <p:cNvPr id="41" name="Group 41">
            <a:extLst>
              <a:ext uri="{FF2B5EF4-FFF2-40B4-BE49-F238E27FC236}">
                <a16:creationId xmlns:a16="http://schemas.microsoft.com/office/drawing/2014/main" id="{F87DFC53-14EC-C4A3-4334-49C733A68B92}"/>
              </a:ext>
            </a:extLst>
          </p:cNvPr>
          <p:cNvGrpSpPr/>
          <p:nvPr/>
        </p:nvGrpSpPr>
        <p:grpSpPr>
          <a:xfrm>
            <a:off x="12590682" y="3644380"/>
            <a:ext cx="337879" cy="295645"/>
            <a:chOff x="0" y="0"/>
            <a:chExt cx="812800" cy="711200"/>
          </a:xfrm>
        </p:grpSpPr>
        <p:sp>
          <p:nvSpPr>
            <p:cNvPr id="42" name="Freeform 42">
              <a:extLst>
                <a:ext uri="{FF2B5EF4-FFF2-40B4-BE49-F238E27FC236}">
                  <a16:creationId xmlns:a16="http://schemas.microsoft.com/office/drawing/2014/main" id="{45C4C34C-21E2-4399-3150-51DA62416CF2}"/>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43" name="TextBox 43">
              <a:extLst>
                <a:ext uri="{FF2B5EF4-FFF2-40B4-BE49-F238E27FC236}">
                  <a16:creationId xmlns:a16="http://schemas.microsoft.com/office/drawing/2014/main" id="{54D1F5B1-9796-950B-C09B-F78523152385}"/>
                </a:ext>
              </a:extLst>
            </p:cNvPr>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44" name="Group 44">
            <a:extLst>
              <a:ext uri="{FF2B5EF4-FFF2-40B4-BE49-F238E27FC236}">
                <a16:creationId xmlns:a16="http://schemas.microsoft.com/office/drawing/2014/main" id="{5913D511-1B97-B24E-C77A-4CCF8762F783}"/>
              </a:ext>
            </a:extLst>
          </p:cNvPr>
          <p:cNvGrpSpPr/>
          <p:nvPr/>
        </p:nvGrpSpPr>
        <p:grpSpPr>
          <a:xfrm>
            <a:off x="2403501" y="6120245"/>
            <a:ext cx="6249754" cy="792056"/>
            <a:chOff x="0" y="0"/>
            <a:chExt cx="1646026" cy="208607"/>
          </a:xfrm>
        </p:grpSpPr>
        <p:sp>
          <p:nvSpPr>
            <p:cNvPr id="45" name="Freeform 45">
              <a:extLst>
                <a:ext uri="{FF2B5EF4-FFF2-40B4-BE49-F238E27FC236}">
                  <a16:creationId xmlns:a16="http://schemas.microsoft.com/office/drawing/2014/main" id="{8187DA58-BFCE-DB8A-BD40-3ACC1328BFC5}"/>
                </a:ext>
              </a:extLst>
            </p:cNvPr>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46" name="TextBox 46">
              <a:extLst>
                <a:ext uri="{FF2B5EF4-FFF2-40B4-BE49-F238E27FC236}">
                  <a16:creationId xmlns:a16="http://schemas.microsoft.com/office/drawing/2014/main" id="{B54EBB37-504A-B4C4-E3D8-54362FAAEA8E}"/>
                </a:ext>
              </a:extLst>
            </p:cNvPr>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47" name="Group 47">
            <a:extLst>
              <a:ext uri="{FF2B5EF4-FFF2-40B4-BE49-F238E27FC236}">
                <a16:creationId xmlns:a16="http://schemas.microsoft.com/office/drawing/2014/main" id="{7CCD1E48-C6F0-E074-70A4-8D40AEE46784}"/>
              </a:ext>
            </a:extLst>
          </p:cNvPr>
          <p:cNvGrpSpPr/>
          <p:nvPr/>
        </p:nvGrpSpPr>
        <p:grpSpPr>
          <a:xfrm>
            <a:off x="2403501" y="6902776"/>
            <a:ext cx="6249754" cy="2052989"/>
            <a:chOff x="0" y="0"/>
            <a:chExt cx="1646026" cy="540705"/>
          </a:xfrm>
        </p:grpSpPr>
        <p:sp>
          <p:nvSpPr>
            <p:cNvPr id="48" name="Freeform 48">
              <a:extLst>
                <a:ext uri="{FF2B5EF4-FFF2-40B4-BE49-F238E27FC236}">
                  <a16:creationId xmlns:a16="http://schemas.microsoft.com/office/drawing/2014/main" id="{A2ED7865-D848-22F0-A2CB-4A8B516B633B}"/>
                </a:ext>
              </a:extLst>
            </p:cNvPr>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49" name="TextBox 49">
              <a:extLst>
                <a:ext uri="{FF2B5EF4-FFF2-40B4-BE49-F238E27FC236}">
                  <a16:creationId xmlns:a16="http://schemas.microsoft.com/office/drawing/2014/main" id="{2E59C89F-8460-B526-5072-E14F0D7FD50C}"/>
                </a:ext>
              </a:extLst>
            </p:cNvPr>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50" name="TextBox 50">
            <a:extLst>
              <a:ext uri="{FF2B5EF4-FFF2-40B4-BE49-F238E27FC236}">
                <a16:creationId xmlns:a16="http://schemas.microsoft.com/office/drawing/2014/main" id="{A52395D6-7BEF-4AAB-E00B-3BCF5A6AA8A5}"/>
              </a:ext>
            </a:extLst>
          </p:cNvPr>
          <p:cNvSpPr txBox="1"/>
          <p:nvPr/>
        </p:nvSpPr>
        <p:spPr>
          <a:xfrm>
            <a:off x="2674656" y="7037297"/>
            <a:ext cx="5707441" cy="1818511"/>
          </a:xfrm>
          <a:prstGeom prst="rect">
            <a:avLst/>
          </a:prstGeom>
        </p:spPr>
        <p:txBody>
          <a:bodyPr wrap="square" lIns="0" tIns="0" rIns="0" bIns="0" rtlCol="0" anchor="t">
            <a:spAutoFit/>
          </a:bodyPr>
          <a:lstStyle/>
          <a:p>
            <a:pPr algn="just">
              <a:lnSpc>
                <a:spcPts val="2856"/>
              </a:lnSpc>
            </a:pPr>
            <a:r>
              <a:rPr lang="zh-CN" altLang="en-US" sz="1700">
                <a:solidFill>
                  <a:srgbClr val="1E1E1E"/>
                </a:solidFill>
                <a:latin typeface="思源黑体 2"/>
                <a:ea typeface="思源黑体 2"/>
                <a:cs typeface="思源黑体 2"/>
                <a:sym typeface="思源黑体 2"/>
              </a:rPr>
              <a:t>基于</a:t>
            </a:r>
            <a:r>
              <a:rPr lang="en-US" altLang="zh-CN" sz="1700">
                <a:solidFill>
                  <a:srgbClr val="1E1E1E"/>
                </a:solidFill>
                <a:latin typeface="思源黑体 2"/>
                <a:ea typeface="思源黑体 2"/>
                <a:cs typeface="思源黑体 2"/>
                <a:sym typeface="思源黑体 2"/>
              </a:rPr>
              <a:t>Streamlit/Gradio</a:t>
            </a:r>
            <a:r>
              <a:rPr lang="zh-CN" altLang="en-US" sz="1700">
                <a:solidFill>
                  <a:srgbClr val="1E1E1E"/>
                </a:solidFill>
                <a:latin typeface="思源黑体 2"/>
                <a:ea typeface="思源黑体 2"/>
                <a:cs typeface="思源黑体 2"/>
                <a:sym typeface="思源黑体 2"/>
              </a:rPr>
              <a:t>设计左侧文档上传与管理区（批量上传、进度条、文档列表、删除）、中央流式对话区（打字机效果、</a:t>
            </a:r>
            <a:r>
              <a:rPr lang="en-US" altLang="zh-CN" sz="1700">
                <a:solidFill>
                  <a:srgbClr val="1E1E1E"/>
                </a:solidFill>
                <a:latin typeface="思源黑体 2"/>
                <a:ea typeface="思源黑体 2"/>
                <a:cs typeface="思源黑体 2"/>
                <a:sym typeface="思源黑体 2"/>
              </a:rPr>
              <a:t>Markdown</a:t>
            </a:r>
            <a:r>
              <a:rPr lang="zh-CN" altLang="en-US" sz="1700">
                <a:solidFill>
                  <a:srgbClr val="1E1E1E"/>
                </a:solidFill>
                <a:latin typeface="思源黑体 2"/>
                <a:ea typeface="思源黑体 2"/>
                <a:cs typeface="思源黑体 2"/>
                <a:sym typeface="思源黑体 2"/>
              </a:rPr>
              <a:t>渲染、引用标记）、右侧</a:t>
            </a:r>
            <a:r>
              <a:rPr lang="en-US" altLang="zh-CN" sz="1700">
                <a:solidFill>
                  <a:srgbClr val="1E1E1E"/>
                </a:solidFill>
                <a:latin typeface="思源黑体 2"/>
                <a:ea typeface="思源黑体 2"/>
                <a:cs typeface="思源黑体 2"/>
                <a:sym typeface="思源黑体 2"/>
              </a:rPr>
              <a:t>/</a:t>
            </a:r>
            <a:r>
              <a:rPr lang="zh-CN" altLang="en-US" sz="1700">
                <a:solidFill>
                  <a:srgbClr val="1E1E1E"/>
                </a:solidFill>
                <a:latin typeface="思源黑体 2"/>
                <a:ea typeface="思源黑体 2"/>
                <a:cs typeface="思源黑体 2"/>
                <a:sym typeface="思源黑体 2"/>
              </a:rPr>
              <a:t>底部</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推理过程可视化区（</a:t>
            </a:r>
            <a:r>
              <a:rPr lang="en-US" altLang="zh-CN" sz="1700">
                <a:solidFill>
                  <a:srgbClr val="1E1E1E"/>
                </a:solidFill>
                <a:latin typeface="思源黑体 2"/>
                <a:ea typeface="思源黑体 2"/>
                <a:cs typeface="思源黑体 2"/>
                <a:sym typeface="思源黑体 2"/>
              </a:rPr>
              <a:t>Thought/Action/Observation</a:t>
            </a:r>
            <a:r>
              <a:rPr lang="zh-CN" altLang="en-US" sz="1700">
                <a:solidFill>
                  <a:srgbClr val="1E1E1E"/>
                </a:solidFill>
                <a:latin typeface="思源黑体 2"/>
                <a:ea typeface="思源黑体 2"/>
                <a:cs typeface="思源黑体 2"/>
                <a:sym typeface="思源黑体 2"/>
              </a:rPr>
              <a:t>轨迹树），并支持会话新建、切换、删除及知识库文档与向量化状态管理。</a:t>
            </a:r>
            <a:endParaRPr lang="en-US" sz="1700">
              <a:solidFill>
                <a:srgbClr val="1E1E1E"/>
              </a:solidFill>
              <a:latin typeface="思源黑体 2"/>
              <a:ea typeface="思源黑体 2"/>
              <a:cs typeface="思源黑体 2"/>
              <a:sym typeface="思源黑体 2"/>
            </a:endParaRPr>
          </a:p>
        </p:txBody>
      </p:sp>
      <p:sp>
        <p:nvSpPr>
          <p:cNvPr id="51" name="TextBox 51">
            <a:extLst>
              <a:ext uri="{FF2B5EF4-FFF2-40B4-BE49-F238E27FC236}">
                <a16:creationId xmlns:a16="http://schemas.microsoft.com/office/drawing/2014/main" id="{9386BDBF-BB55-2783-3842-F62CED8B76A5}"/>
              </a:ext>
            </a:extLst>
          </p:cNvPr>
          <p:cNvSpPr txBox="1"/>
          <p:nvPr/>
        </p:nvSpPr>
        <p:spPr>
          <a:xfrm>
            <a:off x="4083849" y="6199282"/>
            <a:ext cx="2889059" cy="510158"/>
          </a:xfrm>
          <a:prstGeom prst="rect">
            <a:avLst/>
          </a:prstGeom>
        </p:spPr>
        <p:txBody>
          <a:bodyPr lIns="0" tIns="0" rIns="0" bIns="0" rtlCol="0" anchor="t">
            <a:spAutoFit/>
          </a:bodyPr>
          <a:lstStyle/>
          <a:p>
            <a:pPr algn="ctr">
              <a:lnSpc>
                <a:spcPts val="4368"/>
              </a:lnSpc>
            </a:pPr>
            <a:r>
              <a:rPr lang="zh-CN" altLang="en-US" sz="2800" b="1">
                <a:solidFill>
                  <a:srgbClr val="FFFFFF"/>
                </a:solidFill>
                <a:latin typeface="思源黑体 2 Bold"/>
                <a:ea typeface="思源黑体 2 Bold"/>
                <a:cs typeface="思源黑体 2 Bold"/>
                <a:sym typeface="思源黑体 2 Bold"/>
              </a:rPr>
              <a:t>前端界面开发</a:t>
            </a:r>
            <a:endParaRPr lang="en-US" sz="2800" b="1">
              <a:solidFill>
                <a:srgbClr val="FFFFFF"/>
              </a:solidFill>
              <a:latin typeface="思源黑体 2 Bold"/>
              <a:ea typeface="思源黑体 2 Bold"/>
              <a:cs typeface="思源黑体 2 Bold"/>
              <a:sym typeface="思源黑体 2 Bold"/>
            </a:endParaRPr>
          </a:p>
        </p:txBody>
      </p:sp>
      <p:grpSp>
        <p:nvGrpSpPr>
          <p:cNvPr id="52" name="Group 52">
            <a:extLst>
              <a:ext uri="{FF2B5EF4-FFF2-40B4-BE49-F238E27FC236}">
                <a16:creationId xmlns:a16="http://schemas.microsoft.com/office/drawing/2014/main" id="{710F0A42-FDD7-1831-2D87-E956B598DECD}"/>
              </a:ext>
            </a:extLst>
          </p:cNvPr>
          <p:cNvGrpSpPr/>
          <p:nvPr/>
        </p:nvGrpSpPr>
        <p:grpSpPr>
          <a:xfrm>
            <a:off x="5359438" y="6889475"/>
            <a:ext cx="337879" cy="295645"/>
            <a:chOff x="0" y="0"/>
            <a:chExt cx="812800" cy="711200"/>
          </a:xfrm>
        </p:grpSpPr>
        <p:sp>
          <p:nvSpPr>
            <p:cNvPr id="53" name="Freeform 53">
              <a:extLst>
                <a:ext uri="{FF2B5EF4-FFF2-40B4-BE49-F238E27FC236}">
                  <a16:creationId xmlns:a16="http://schemas.microsoft.com/office/drawing/2014/main" id="{7FA739D1-A7BA-0DE7-0E19-A5897FC44DD7}"/>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54" name="TextBox 54">
              <a:extLst>
                <a:ext uri="{FF2B5EF4-FFF2-40B4-BE49-F238E27FC236}">
                  <a16:creationId xmlns:a16="http://schemas.microsoft.com/office/drawing/2014/main" id="{099072B7-0039-37DB-E634-AA67A7FF319B}"/>
                </a:ext>
              </a:extLst>
            </p:cNvPr>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55" name="Group 55">
            <a:extLst>
              <a:ext uri="{FF2B5EF4-FFF2-40B4-BE49-F238E27FC236}">
                <a16:creationId xmlns:a16="http://schemas.microsoft.com/office/drawing/2014/main" id="{A828AFF4-C244-5AA2-67ED-8875370AC3D9}"/>
              </a:ext>
            </a:extLst>
          </p:cNvPr>
          <p:cNvGrpSpPr/>
          <p:nvPr/>
        </p:nvGrpSpPr>
        <p:grpSpPr>
          <a:xfrm>
            <a:off x="9634745" y="6120245"/>
            <a:ext cx="6249754" cy="792056"/>
            <a:chOff x="0" y="0"/>
            <a:chExt cx="1646026" cy="208607"/>
          </a:xfrm>
        </p:grpSpPr>
        <p:sp>
          <p:nvSpPr>
            <p:cNvPr id="56" name="Freeform 56">
              <a:extLst>
                <a:ext uri="{FF2B5EF4-FFF2-40B4-BE49-F238E27FC236}">
                  <a16:creationId xmlns:a16="http://schemas.microsoft.com/office/drawing/2014/main" id="{584366E2-E8A8-F60F-9348-288468FB3AD6}"/>
                </a:ext>
              </a:extLst>
            </p:cNvPr>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57" name="TextBox 57">
              <a:extLst>
                <a:ext uri="{FF2B5EF4-FFF2-40B4-BE49-F238E27FC236}">
                  <a16:creationId xmlns:a16="http://schemas.microsoft.com/office/drawing/2014/main" id="{ECD69D19-7145-46B9-8191-2CEFEE7DE294}"/>
                </a:ext>
              </a:extLst>
            </p:cNvPr>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58" name="Group 58">
            <a:extLst>
              <a:ext uri="{FF2B5EF4-FFF2-40B4-BE49-F238E27FC236}">
                <a16:creationId xmlns:a16="http://schemas.microsoft.com/office/drawing/2014/main" id="{EDADBE18-6EF4-ACE2-C3E0-552EA18BFA27}"/>
              </a:ext>
            </a:extLst>
          </p:cNvPr>
          <p:cNvGrpSpPr/>
          <p:nvPr/>
        </p:nvGrpSpPr>
        <p:grpSpPr>
          <a:xfrm>
            <a:off x="9634745" y="6902776"/>
            <a:ext cx="6249754" cy="2052989"/>
            <a:chOff x="0" y="0"/>
            <a:chExt cx="1646026" cy="540705"/>
          </a:xfrm>
        </p:grpSpPr>
        <p:sp>
          <p:nvSpPr>
            <p:cNvPr id="59" name="Freeform 59">
              <a:extLst>
                <a:ext uri="{FF2B5EF4-FFF2-40B4-BE49-F238E27FC236}">
                  <a16:creationId xmlns:a16="http://schemas.microsoft.com/office/drawing/2014/main" id="{089C85F1-4F7D-6085-E9EF-6A049C5E32EB}"/>
                </a:ext>
              </a:extLst>
            </p:cNvPr>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60" name="TextBox 60">
              <a:extLst>
                <a:ext uri="{FF2B5EF4-FFF2-40B4-BE49-F238E27FC236}">
                  <a16:creationId xmlns:a16="http://schemas.microsoft.com/office/drawing/2014/main" id="{9EFB904A-D119-B471-1256-1D78FEBB4DCB}"/>
                </a:ext>
              </a:extLst>
            </p:cNvPr>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61" name="TextBox 61">
            <a:extLst>
              <a:ext uri="{FF2B5EF4-FFF2-40B4-BE49-F238E27FC236}">
                <a16:creationId xmlns:a16="http://schemas.microsoft.com/office/drawing/2014/main" id="{2D82C41A-3BF0-1B1D-C250-60602CCB4D67}"/>
              </a:ext>
            </a:extLst>
          </p:cNvPr>
          <p:cNvSpPr txBox="1"/>
          <p:nvPr/>
        </p:nvSpPr>
        <p:spPr>
          <a:xfrm>
            <a:off x="9880793" y="7194359"/>
            <a:ext cx="5757655" cy="1446614"/>
          </a:xfrm>
          <a:prstGeom prst="rect">
            <a:avLst/>
          </a:prstGeom>
        </p:spPr>
        <p:txBody>
          <a:bodyPr wrap="square" lIns="0" tIns="0" rIns="0" bIns="0" rtlCol="0" anchor="t">
            <a:spAutoFit/>
          </a:bodyPr>
          <a:lstStyle/>
          <a:p>
            <a:pPr algn="just">
              <a:lnSpc>
                <a:spcPts val="2856"/>
              </a:lnSpc>
            </a:pPr>
            <a:r>
              <a:rPr lang="zh-CN" altLang="en-US" sz="1700">
                <a:solidFill>
                  <a:srgbClr val="1E1E1E"/>
                </a:solidFill>
                <a:latin typeface="思源黑体 2"/>
                <a:ea typeface="思源黑体 2"/>
                <a:cs typeface="思源黑体 2"/>
                <a:sym typeface="思源黑体 2"/>
              </a:rPr>
              <a:t>完成“上传论文→构建索引→发起对话→</a:t>
            </a:r>
            <a:r>
              <a:rPr lang="en-US" altLang="zh-CN" sz="1700">
                <a:solidFill>
                  <a:srgbClr val="1E1E1E"/>
                </a:solidFill>
                <a:latin typeface="思源黑体 2"/>
                <a:ea typeface="思源黑体 2"/>
                <a:cs typeface="思源黑体 2"/>
                <a:sym typeface="思源黑体 2"/>
              </a:rPr>
              <a:t>Agent</a:t>
            </a:r>
            <a:r>
              <a:rPr lang="zh-CN" altLang="en-US" sz="1700">
                <a:solidFill>
                  <a:srgbClr val="1E1E1E"/>
                </a:solidFill>
                <a:latin typeface="思源黑体 2"/>
                <a:ea typeface="思源黑体 2"/>
                <a:cs typeface="思源黑体 2"/>
                <a:sym typeface="思源黑体 2"/>
              </a:rPr>
              <a:t>决策→返回答案”的完整流程测试，按需覆盖多用户并发场景，并测试空知识库提问、超大文档上传、超长对话等边缘场景，最终产出可交互</a:t>
            </a:r>
            <a:r>
              <a:rPr lang="en-US" altLang="zh-CN" sz="1700">
                <a:solidFill>
                  <a:srgbClr val="1E1E1E"/>
                </a:solidFill>
                <a:latin typeface="思源黑体 2"/>
                <a:ea typeface="思源黑体 2"/>
                <a:cs typeface="思源黑体 2"/>
                <a:sym typeface="思源黑体 2"/>
              </a:rPr>
              <a:t>Web</a:t>
            </a:r>
            <a:r>
              <a:rPr lang="zh-CN" altLang="en-US" sz="1700">
                <a:solidFill>
                  <a:srgbClr val="1E1E1E"/>
                </a:solidFill>
                <a:latin typeface="思源黑体 2"/>
                <a:ea typeface="思源黑体 2"/>
                <a:cs typeface="思源黑体 2"/>
                <a:sym typeface="思源黑体 2"/>
              </a:rPr>
              <a:t>应用界面、系统集成代码和端到端测试记录。</a:t>
            </a:r>
            <a:endParaRPr lang="en-US" sz="1700">
              <a:solidFill>
                <a:srgbClr val="1E1E1E"/>
              </a:solidFill>
              <a:latin typeface="思源黑体 2"/>
              <a:ea typeface="思源黑体 2"/>
              <a:cs typeface="思源黑体 2"/>
              <a:sym typeface="思源黑体 2"/>
            </a:endParaRPr>
          </a:p>
        </p:txBody>
      </p:sp>
      <p:sp>
        <p:nvSpPr>
          <p:cNvPr id="62" name="TextBox 62">
            <a:extLst>
              <a:ext uri="{FF2B5EF4-FFF2-40B4-BE49-F238E27FC236}">
                <a16:creationId xmlns:a16="http://schemas.microsoft.com/office/drawing/2014/main" id="{018A0BB9-47FE-3957-D804-7EB9951B378E}"/>
              </a:ext>
            </a:extLst>
          </p:cNvPr>
          <p:cNvSpPr txBox="1"/>
          <p:nvPr/>
        </p:nvSpPr>
        <p:spPr>
          <a:xfrm>
            <a:off x="11315093" y="6199282"/>
            <a:ext cx="2889059" cy="510158"/>
          </a:xfrm>
          <a:prstGeom prst="rect">
            <a:avLst/>
          </a:prstGeom>
        </p:spPr>
        <p:txBody>
          <a:bodyPr lIns="0" tIns="0" rIns="0" bIns="0" rtlCol="0" anchor="t">
            <a:spAutoFit/>
          </a:bodyPr>
          <a:lstStyle/>
          <a:p>
            <a:pPr algn="ctr">
              <a:lnSpc>
                <a:spcPts val="4368"/>
              </a:lnSpc>
            </a:pPr>
            <a:r>
              <a:rPr lang="zh-CN" altLang="en-US" sz="2800" b="1">
                <a:solidFill>
                  <a:srgbClr val="FFFFFF"/>
                </a:solidFill>
                <a:latin typeface="思源黑体 2 Bold"/>
                <a:ea typeface="思源黑体 2 Bold"/>
                <a:cs typeface="思源黑体 2 Bold"/>
                <a:sym typeface="思源黑体 2 Bold"/>
              </a:rPr>
              <a:t>端到端联调与测试</a:t>
            </a:r>
            <a:endParaRPr lang="en-US" sz="2800" b="1">
              <a:solidFill>
                <a:srgbClr val="FFFFFF"/>
              </a:solidFill>
              <a:latin typeface="思源黑体 2 Bold"/>
              <a:ea typeface="思源黑体 2 Bold"/>
              <a:cs typeface="思源黑体 2 Bold"/>
              <a:sym typeface="思源黑体 2 Bold"/>
            </a:endParaRPr>
          </a:p>
        </p:txBody>
      </p:sp>
      <p:grpSp>
        <p:nvGrpSpPr>
          <p:cNvPr id="63" name="Group 63">
            <a:extLst>
              <a:ext uri="{FF2B5EF4-FFF2-40B4-BE49-F238E27FC236}">
                <a16:creationId xmlns:a16="http://schemas.microsoft.com/office/drawing/2014/main" id="{E789D9B5-BC26-931E-8A8C-44004C809590}"/>
              </a:ext>
            </a:extLst>
          </p:cNvPr>
          <p:cNvGrpSpPr/>
          <p:nvPr/>
        </p:nvGrpSpPr>
        <p:grpSpPr>
          <a:xfrm>
            <a:off x="12590682" y="6889475"/>
            <a:ext cx="337879" cy="295645"/>
            <a:chOff x="0" y="0"/>
            <a:chExt cx="812800" cy="711200"/>
          </a:xfrm>
        </p:grpSpPr>
        <p:sp>
          <p:nvSpPr>
            <p:cNvPr id="64" name="Freeform 64">
              <a:extLst>
                <a:ext uri="{FF2B5EF4-FFF2-40B4-BE49-F238E27FC236}">
                  <a16:creationId xmlns:a16="http://schemas.microsoft.com/office/drawing/2014/main" id="{6212420B-5E47-4E51-D774-C3EEF77128F6}"/>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65" name="TextBox 65">
              <a:extLst>
                <a:ext uri="{FF2B5EF4-FFF2-40B4-BE49-F238E27FC236}">
                  <a16:creationId xmlns:a16="http://schemas.microsoft.com/office/drawing/2014/main" id="{9F47AA48-0018-0110-983A-D7A0E5C7D0FE}"/>
                </a:ext>
              </a:extLst>
            </p:cNvPr>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996704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7" y="791367"/>
            <a:ext cx="7439465" cy="795089"/>
          </a:xfrm>
          <a:prstGeom prst="rect">
            <a:avLst/>
          </a:prstGeom>
        </p:spPr>
        <p:txBody>
          <a:bodyPr wrap="square" lIns="0" tIns="0" rIns="0" bIns="0" rtlCol="0" anchor="t">
            <a:spAutoFit/>
          </a:bodyPr>
          <a:lstStyle/>
          <a:p>
            <a:pPr algn="l">
              <a:lnSpc>
                <a:spcPts val="6239"/>
              </a:lnSpc>
            </a:pPr>
            <a:r>
              <a:rPr lang="en-US" altLang="zh-CN" sz="5199" b="1">
                <a:solidFill>
                  <a:srgbClr val="100F0D"/>
                </a:solidFill>
                <a:latin typeface="思源黑体 2 Heavy"/>
                <a:ea typeface="思源黑体 2 Heavy"/>
                <a:cs typeface="思源黑体 2 Heavy"/>
                <a:sym typeface="思源黑体 2 Heavy"/>
              </a:rPr>
              <a:t>RAG + Agent</a:t>
            </a:r>
            <a:r>
              <a:rPr lang="zh-CN" altLang="en-US" sz="5199" b="1">
                <a:solidFill>
                  <a:srgbClr val="100F0D"/>
                </a:solidFill>
                <a:latin typeface="思源黑体 2 Heavy"/>
                <a:ea typeface="思源黑体 2 Heavy"/>
                <a:cs typeface="思源黑体 2 Heavy"/>
                <a:sym typeface="思源黑体 2 Heavy"/>
              </a:rPr>
              <a:t>深度融合</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p:cNvGrpSpPr/>
          <p:nvPr/>
        </p:nvGrpSpPr>
        <p:grpSpPr>
          <a:xfrm>
            <a:off x="16978402" y="9330128"/>
            <a:ext cx="2319341" cy="2214456"/>
            <a:chOff x="0" y="0"/>
            <a:chExt cx="851297" cy="812800"/>
          </a:xfrm>
        </p:grpSpPr>
        <p:sp>
          <p:nvSpPr>
            <p:cNvPr id="19" name="Freeform 19"/>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2700000">
            <a:off x="16275755" y="9690440"/>
            <a:ext cx="2408942" cy="2214456"/>
            <a:chOff x="0" y="0"/>
            <a:chExt cx="884185" cy="812800"/>
          </a:xfrm>
        </p:grpSpPr>
        <p:sp>
          <p:nvSpPr>
            <p:cNvPr id="22" name="Freeform 22"/>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p:cNvSpPr/>
          <p:nvPr/>
        </p:nvSpPr>
        <p:spPr>
          <a:xfrm flipH="1" flipV="1">
            <a:off x="794524" y="2773840"/>
            <a:ext cx="0" cy="6019801"/>
          </a:xfrm>
          <a:prstGeom prst="line">
            <a:avLst/>
          </a:prstGeom>
          <a:ln w="19050" cap="flat">
            <a:solidFill>
              <a:srgbClr val="263D6D"/>
            </a:solidFill>
            <a:prstDash val="sysDot"/>
            <a:headEnd type="none" w="sm" len="sm"/>
            <a:tailEnd type="none" w="sm" len="sm"/>
          </a:ln>
        </p:spPr>
      </p:sp>
      <p:sp>
        <p:nvSpPr>
          <p:cNvPr id="27" name="TextBox 27"/>
          <p:cNvSpPr txBox="1"/>
          <p:nvPr/>
        </p:nvSpPr>
        <p:spPr>
          <a:xfrm>
            <a:off x="1610751" y="3201643"/>
            <a:ext cx="716973" cy="915699"/>
          </a:xfrm>
          <a:prstGeom prst="rect">
            <a:avLst/>
          </a:prstGeom>
        </p:spPr>
        <p:txBody>
          <a:bodyPr lIns="71897" tIns="71897" rIns="71897" bIns="71897" rtlCol="0" anchor="ctr"/>
          <a:lstStyle/>
          <a:p>
            <a:pPr algn="ctr">
              <a:lnSpc>
                <a:spcPts val="3107"/>
              </a:lnSpc>
            </a:pPr>
            <a:endParaRPr sz="2800"/>
          </a:p>
        </p:txBody>
      </p:sp>
      <p:grpSp>
        <p:nvGrpSpPr>
          <p:cNvPr id="34" name="Group 34"/>
          <p:cNvGrpSpPr/>
          <p:nvPr/>
        </p:nvGrpSpPr>
        <p:grpSpPr>
          <a:xfrm>
            <a:off x="673657" y="4392982"/>
            <a:ext cx="245606" cy="24560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grpSp>
        <p:nvGrpSpPr>
          <p:cNvPr id="37" name="Group 37"/>
          <p:cNvGrpSpPr/>
          <p:nvPr/>
        </p:nvGrpSpPr>
        <p:grpSpPr>
          <a:xfrm>
            <a:off x="673657" y="6579940"/>
            <a:ext cx="245606" cy="24560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41" name="Freeform 41"/>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TextBox 44"/>
          <p:cNvSpPr txBox="1"/>
          <p:nvPr/>
        </p:nvSpPr>
        <p:spPr>
          <a:xfrm>
            <a:off x="1168702" y="3489927"/>
            <a:ext cx="15950596" cy="389145"/>
          </a:xfrm>
          <a:prstGeom prst="rect">
            <a:avLst/>
          </a:prstGeom>
        </p:spPr>
        <p:txBody>
          <a:bodyPr wrap="square" lIns="0" tIns="0" rIns="0" bIns="0" rtlCol="0" anchor="t">
            <a:spAutoFit/>
          </a:bodyPr>
          <a:lstStyle/>
          <a:p>
            <a:pPr algn="just">
              <a:lnSpc>
                <a:spcPts val="2856"/>
              </a:lnSpc>
            </a:pPr>
            <a:r>
              <a:rPr lang="en-US" altLang="zh-CN" sz="3600">
                <a:solidFill>
                  <a:srgbClr val="1E1E1E"/>
                </a:solidFill>
                <a:latin typeface="思源黑体 2"/>
                <a:ea typeface="思源黑体 2"/>
                <a:cs typeface="思源黑体 2"/>
                <a:sym typeface="思源黑体 2"/>
              </a:rPr>
              <a:t>RAG </a:t>
            </a:r>
            <a:r>
              <a:rPr lang="zh-CN" altLang="en-US" sz="3600">
                <a:solidFill>
                  <a:srgbClr val="1E1E1E"/>
                </a:solidFill>
                <a:latin typeface="思源黑体 2"/>
                <a:ea typeface="思源黑体 2"/>
                <a:cs typeface="思源黑体 2"/>
                <a:sym typeface="思源黑体 2"/>
              </a:rPr>
              <a:t>拆为检索</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生成</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问答三个原子接口，注册为 </a:t>
            </a:r>
            <a:r>
              <a:rPr lang="en-US" altLang="zh-CN" sz="3600">
                <a:solidFill>
                  <a:srgbClr val="1E1E1E"/>
                </a:solidFill>
                <a:latin typeface="思源黑体 2"/>
                <a:ea typeface="思源黑体 2"/>
                <a:cs typeface="思源黑体 2"/>
                <a:sym typeface="思源黑体 2"/>
              </a:rPr>
              <a:t>Agent </a:t>
            </a:r>
            <a:r>
              <a:rPr lang="zh-CN" altLang="en-US" sz="3600">
                <a:solidFill>
                  <a:srgbClr val="1E1E1E"/>
                </a:solidFill>
                <a:latin typeface="思源黑体 2"/>
                <a:ea typeface="思源黑体 2"/>
                <a:cs typeface="思源黑体 2"/>
                <a:sym typeface="思源黑体 2"/>
              </a:rPr>
              <a:t>工具，进程内直调</a:t>
            </a:r>
            <a:endParaRPr lang="en-US" sz="3600">
              <a:solidFill>
                <a:srgbClr val="1E1E1E"/>
              </a:solidFill>
              <a:latin typeface="思源黑体 2"/>
              <a:ea typeface="思源黑体 2"/>
              <a:cs typeface="思源黑体 2"/>
              <a:sym typeface="思源黑体 2"/>
            </a:endParaRPr>
          </a:p>
        </p:txBody>
      </p:sp>
      <p:grpSp>
        <p:nvGrpSpPr>
          <p:cNvPr id="71" name="Group 34">
            <a:extLst>
              <a:ext uri="{FF2B5EF4-FFF2-40B4-BE49-F238E27FC236}">
                <a16:creationId xmlns:a16="http://schemas.microsoft.com/office/drawing/2014/main" id="{5DB472E5-0D9A-0CB2-BC08-E42D1B8D41F9}"/>
              </a:ext>
            </a:extLst>
          </p:cNvPr>
          <p:cNvGrpSpPr/>
          <p:nvPr/>
        </p:nvGrpSpPr>
        <p:grpSpPr>
          <a:xfrm>
            <a:off x="673657" y="5486461"/>
            <a:ext cx="245606" cy="245606"/>
            <a:chOff x="0" y="0"/>
            <a:chExt cx="812800" cy="812800"/>
          </a:xfrm>
        </p:grpSpPr>
        <p:sp>
          <p:nvSpPr>
            <p:cNvPr id="72" name="Freeform 35">
              <a:extLst>
                <a:ext uri="{FF2B5EF4-FFF2-40B4-BE49-F238E27FC236}">
                  <a16:creationId xmlns:a16="http://schemas.microsoft.com/office/drawing/2014/main" id="{C99E1783-297B-4CB7-4CD5-C67A8CC727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73" name="TextBox 36">
              <a:extLst>
                <a:ext uri="{FF2B5EF4-FFF2-40B4-BE49-F238E27FC236}">
                  <a16:creationId xmlns:a16="http://schemas.microsoft.com/office/drawing/2014/main" id="{777F7C5C-0024-EE09-79AA-63F88AA70932}"/>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75" name="TextBox 45">
            <a:extLst>
              <a:ext uri="{FF2B5EF4-FFF2-40B4-BE49-F238E27FC236}">
                <a16:creationId xmlns:a16="http://schemas.microsoft.com/office/drawing/2014/main" id="{A5DF4DF7-9DBE-0332-8973-C9FD793877F6}"/>
              </a:ext>
            </a:extLst>
          </p:cNvPr>
          <p:cNvSpPr txBox="1"/>
          <p:nvPr/>
        </p:nvSpPr>
        <p:spPr>
          <a:xfrm>
            <a:off x="1168702" y="2691541"/>
            <a:ext cx="8280098" cy="564257"/>
          </a:xfrm>
          <a:prstGeom prst="rect">
            <a:avLst/>
          </a:prstGeom>
        </p:spPr>
        <p:txBody>
          <a:bodyPr wrap="square" lIns="0" tIns="0" rIns="0" bIns="0" rtlCol="0" anchor="t">
            <a:spAutoFit/>
          </a:bodyPr>
          <a:lstStyle/>
          <a:p>
            <a:pPr algn="l">
              <a:lnSpc>
                <a:spcPts val="4368"/>
              </a:lnSpc>
            </a:pPr>
            <a:r>
              <a:rPr lang="en-US" altLang="zh-CN" sz="4000" b="1">
                <a:solidFill>
                  <a:srgbClr val="1E1E1E"/>
                </a:solidFill>
                <a:latin typeface="思源黑体 2 Bold"/>
                <a:ea typeface="思源黑体 2 Bold"/>
                <a:cs typeface="思源黑体 2 Bold"/>
                <a:sym typeface="思源黑体 2 Bold"/>
              </a:rPr>
              <a:t>RAG </a:t>
            </a:r>
            <a:r>
              <a:rPr lang="zh-CN" altLang="en-US" sz="4000" b="1">
                <a:solidFill>
                  <a:srgbClr val="1E1E1E"/>
                </a:solidFill>
                <a:latin typeface="思源黑体 2 Bold"/>
                <a:ea typeface="思源黑体 2 Bold"/>
                <a:cs typeface="思源黑体 2 Bold"/>
                <a:sym typeface="思源黑体 2 Bold"/>
              </a:rPr>
              <a:t>封装为 </a:t>
            </a:r>
            <a:r>
              <a:rPr lang="en-US" altLang="zh-CN" sz="4000" b="1">
                <a:solidFill>
                  <a:srgbClr val="1E1E1E"/>
                </a:solidFill>
                <a:latin typeface="思源黑体 2 Bold"/>
                <a:ea typeface="思源黑体 2 Bold"/>
                <a:cs typeface="思源黑体 2 Bold"/>
                <a:sym typeface="思源黑体 2 Bold"/>
              </a:rPr>
              <a:t>Agent </a:t>
            </a:r>
            <a:r>
              <a:rPr lang="zh-CN" altLang="en-US" sz="4000" b="1">
                <a:solidFill>
                  <a:srgbClr val="1E1E1E"/>
                </a:solidFill>
                <a:latin typeface="思源黑体 2 Bold"/>
                <a:ea typeface="思源黑体 2 Bold"/>
                <a:cs typeface="思源黑体 2 Bold"/>
                <a:sym typeface="思源黑体 2 Bold"/>
              </a:rPr>
              <a:t>核心 </a:t>
            </a:r>
            <a:r>
              <a:rPr lang="en-US" altLang="zh-CN" sz="4000" b="1">
                <a:solidFill>
                  <a:srgbClr val="1E1E1E"/>
                </a:solidFill>
                <a:latin typeface="思源黑体 2 Bold"/>
                <a:ea typeface="思源黑体 2 Bold"/>
                <a:cs typeface="思源黑体 2 Bold"/>
                <a:sym typeface="思源黑体 2 Bold"/>
              </a:rPr>
              <a:t>Tool</a:t>
            </a:r>
            <a:endParaRPr lang="en-US" sz="4000" b="1">
              <a:solidFill>
                <a:srgbClr val="1E1E1E"/>
              </a:solidFill>
              <a:latin typeface="思源黑体 2 Bold"/>
              <a:ea typeface="思源黑体 2 Bold"/>
              <a:cs typeface="思源黑体 2 Bold"/>
              <a:sym typeface="思源黑体 2 Bold"/>
            </a:endParaRPr>
          </a:p>
        </p:txBody>
      </p:sp>
      <p:sp>
        <p:nvSpPr>
          <p:cNvPr id="89" name="TextBox 44">
            <a:extLst>
              <a:ext uri="{FF2B5EF4-FFF2-40B4-BE49-F238E27FC236}">
                <a16:creationId xmlns:a16="http://schemas.microsoft.com/office/drawing/2014/main" id="{C6C4AC12-892B-F961-8A11-59E3CF7DEF4C}"/>
              </a:ext>
            </a:extLst>
          </p:cNvPr>
          <p:cNvSpPr txBox="1"/>
          <p:nvPr/>
        </p:nvSpPr>
        <p:spPr>
          <a:xfrm>
            <a:off x="1168702" y="7810500"/>
            <a:ext cx="15366698" cy="389145"/>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一套归一化事件契约（</a:t>
            </a:r>
            <a:r>
              <a:rPr lang="en-US" altLang="zh-CN" sz="3600">
                <a:solidFill>
                  <a:srgbClr val="1E1E1E"/>
                </a:solidFill>
                <a:latin typeface="思源黑体 2"/>
                <a:ea typeface="思源黑体 2"/>
                <a:cs typeface="思源黑体 2"/>
                <a:sym typeface="思源黑体 2"/>
              </a:rPr>
              <a:t>9</a:t>
            </a:r>
            <a:r>
              <a:rPr lang="zh-CN" altLang="en-US" sz="3600">
                <a:solidFill>
                  <a:srgbClr val="1E1E1E"/>
                </a:solidFill>
                <a:latin typeface="思源黑体 2"/>
                <a:ea typeface="思源黑体 2"/>
                <a:cs typeface="思源黑体 2"/>
                <a:sym typeface="思源黑体 2"/>
              </a:rPr>
              <a:t>类），全模块同一种数据结构对话</a:t>
            </a:r>
            <a:endParaRPr lang="en-US" sz="3600">
              <a:solidFill>
                <a:srgbClr val="1E1E1E"/>
              </a:solidFill>
              <a:latin typeface="思源黑体 2"/>
              <a:ea typeface="思源黑体 2"/>
              <a:cs typeface="思源黑体 2"/>
              <a:sym typeface="思源黑体 2"/>
            </a:endParaRPr>
          </a:p>
        </p:txBody>
      </p:sp>
      <p:sp>
        <p:nvSpPr>
          <p:cNvPr id="91" name="TextBox 45">
            <a:extLst>
              <a:ext uri="{FF2B5EF4-FFF2-40B4-BE49-F238E27FC236}">
                <a16:creationId xmlns:a16="http://schemas.microsoft.com/office/drawing/2014/main" id="{40DDBF03-4D3D-1A9D-5F27-A543CBD8A370}"/>
              </a:ext>
            </a:extLst>
          </p:cNvPr>
          <p:cNvSpPr txBox="1"/>
          <p:nvPr/>
        </p:nvSpPr>
        <p:spPr>
          <a:xfrm>
            <a:off x="1168702" y="7012114"/>
            <a:ext cx="509798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数据格式统一</a:t>
            </a:r>
            <a:endParaRPr lang="en-US" sz="4000" b="1">
              <a:solidFill>
                <a:srgbClr val="1E1E1E"/>
              </a:solidFill>
              <a:latin typeface="思源黑体 2 Bold"/>
              <a:ea typeface="思源黑体 2 Bold"/>
              <a:cs typeface="思源黑体 2 Bold"/>
              <a:sym typeface="思源黑体 2 Bold"/>
            </a:endParaRPr>
          </a:p>
        </p:txBody>
      </p:sp>
      <p:sp>
        <p:nvSpPr>
          <p:cNvPr id="93" name="TextBox 44">
            <a:extLst>
              <a:ext uri="{FF2B5EF4-FFF2-40B4-BE49-F238E27FC236}">
                <a16:creationId xmlns:a16="http://schemas.microsoft.com/office/drawing/2014/main" id="{2F3A75D8-4497-E23A-2C0B-5F0BEABC45FF}"/>
              </a:ext>
            </a:extLst>
          </p:cNvPr>
          <p:cNvSpPr txBox="1"/>
          <p:nvPr/>
        </p:nvSpPr>
        <p:spPr>
          <a:xfrm>
            <a:off x="1168702" y="6370309"/>
            <a:ext cx="15982704" cy="389145"/>
          </a:xfrm>
          <a:prstGeom prst="rect">
            <a:avLst/>
          </a:prstGeom>
        </p:spPr>
        <p:txBody>
          <a:bodyPr wrap="square" lIns="0" tIns="0" rIns="0" bIns="0" rtlCol="0" anchor="t">
            <a:spAutoFit/>
          </a:bodyPr>
          <a:lstStyle/>
          <a:p>
            <a:pPr algn="just">
              <a:lnSpc>
                <a:spcPts val="2856"/>
              </a:lnSpc>
            </a:pPr>
            <a:r>
              <a:rPr lang="en-US" altLang="zh-CN" sz="3600">
                <a:solidFill>
                  <a:srgbClr val="1E1E1E"/>
                </a:solidFill>
                <a:latin typeface="思源黑体 2"/>
                <a:ea typeface="思源黑体 2"/>
                <a:cs typeface="思源黑体 2"/>
                <a:sym typeface="思源黑体 2"/>
              </a:rPr>
              <a:t>session_id </a:t>
            </a:r>
            <a:r>
              <a:rPr lang="zh-CN" altLang="en-US" sz="3600">
                <a:solidFill>
                  <a:srgbClr val="1E1E1E"/>
                </a:solidFill>
                <a:latin typeface="思源黑体 2"/>
                <a:ea typeface="思源黑体 2"/>
                <a:cs typeface="思源黑体 2"/>
                <a:sym typeface="思源黑体 2"/>
              </a:rPr>
              <a:t>全链路透传，摘要</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最近</a:t>
            </a:r>
            <a:r>
              <a:rPr lang="en-US" altLang="zh-CN" sz="3600">
                <a:solidFill>
                  <a:srgbClr val="1E1E1E"/>
                </a:solidFill>
                <a:latin typeface="思源黑体 2"/>
                <a:ea typeface="思源黑体 2"/>
                <a:cs typeface="思源黑体 2"/>
                <a:sym typeface="思源黑体 2"/>
              </a:rPr>
              <a:t>10</a:t>
            </a:r>
            <a:r>
              <a:rPr lang="zh-CN" altLang="en-US" sz="3600">
                <a:solidFill>
                  <a:srgbClr val="1E1E1E"/>
                </a:solidFill>
                <a:latin typeface="思源黑体 2"/>
                <a:ea typeface="思源黑体 2"/>
                <a:cs typeface="思源黑体 2"/>
                <a:sym typeface="思源黑体 2"/>
              </a:rPr>
              <a:t>轮自动注入推理上下文</a:t>
            </a:r>
            <a:endParaRPr lang="en-US" sz="3600">
              <a:solidFill>
                <a:srgbClr val="1E1E1E"/>
              </a:solidFill>
              <a:latin typeface="思源黑体 2"/>
              <a:ea typeface="思源黑体 2"/>
              <a:cs typeface="思源黑体 2"/>
              <a:sym typeface="思源黑体 2"/>
            </a:endParaRPr>
          </a:p>
        </p:txBody>
      </p:sp>
      <p:sp>
        <p:nvSpPr>
          <p:cNvPr id="95" name="TextBox 45">
            <a:extLst>
              <a:ext uri="{FF2B5EF4-FFF2-40B4-BE49-F238E27FC236}">
                <a16:creationId xmlns:a16="http://schemas.microsoft.com/office/drawing/2014/main" id="{57ADA593-47E5-6B04-8D00-DF152FCEE8BC}"/>
              </a:ext>
            </a:extLst>
          </p:cNvPr>
          <p:cNvSpPr txBox="1"/>
          <p:nvPr/>
        </p:nvSpPr>
        <p:spPr>
          <a:xfrm>
            <a:off x="1168702" y="5571923"/>
            <a:ext cx="509798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记忆接入 </a:t>
            </a:r>
            <a:r>
              <a:rPr lang="en-US" altLang="zh-CN" sz="4000" b="1">
                <a:solidFill>
                  <a:srgbClr val="1E1E1E"/>
                </a:solidFill>
                <a:latin typeface="思源黑体 2 Bold"/>
                <a:ea typeface="思源黑体 2 Bold"/>
                <a:cs typeface="思源黑体 2 Bold"/>
                <a:sym typeface="思源黑体 2 Bold"/>
              </a:rPr>
              <a:t>Agent</a:t>
            </a:r>
            <a:endParaRPr lang="en-US" sz="4000" b="1">
              <a:solidFill>
                <a:srgbClr val="1E1E1E"/>
              </a:solidFill>
              <a:latin typeface="思源黑体 2 Bold"/>
              <a:ea typeface="思源黑体 2 Bold"/>
              <a:cs typeface="思源黑体 2 Bold"/>
              <a:sym typeface="思源黑体 2 Bold"/>
            </a:endParaRPr>
          </a:p>
        </p:txBody>
      </p:sp>
      <p:sp>
        <p:nvSpPr>
          <p:cNvPr id="97" name="TextBox 44">
            <a:extLst>
              <a:ext uri="{FF2B5EF4-FFF2-40B4-BE49-F238E27FC236}">
                <a16:creationId xmlns:a16="http://schemas.microsoft.com/office/drawing/2014/main" id="{90912FB7-2DCD-C9E1-2368-EBC0485276E9}"/>
              </a:ext>
            </a:extLst>
          </p:cNvPr>
          <p:cNvSpPr txBox="1"/>
          <p:nvPr/>
        </p:nvSpPr>
        <p:spPr>
          <a:xfrm>
            <a:off x="1168701" y="4930118"/>
            <a:ext cx="16128695" cy="389145"/>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双层路由：</a:t>
            </a:r>
            <a:r>
              <a:rPr lang="en-US" altLang="zh-CN" sz="3600">
                <a:solidFill>
                  <a:srgbClr val="1E1E1E"/>
                </a:solidFill>
                <a:latin typeface="思源黑体 2"/>
                <a:ea typeface="思源黑体 2"/>
                <a:cs typeface="思源黑体 2"/>
                <a:sym typeface="思源黑体 2"/>
              </a:rPr>
              <a:t>USE_AGENT </a:t>
            </a:r>
            <a:r>
              <a:rPr lang="zh-CN" altLang="en-US" sz="3600">
                <a:solidFill>
                  <a:srgbClr val="1E1E1E"/>
                </a:solidFill>
                <a:latin typeface="思源黑体 2"/>
                <a:ea typeface="思源黑体 2"/>
                <a:cs typeface="思源黑体 2"/>
                <a:sym typeface="思源黑体 2"/>
              </a:rPr>
              <a:t>开关选通道，</a:t>
            </a:r>
            <a:r>
              <a:rPr lang="en-US" altLang="zh-CN" sz="3600">
                <a:solidFill>
                  <a:srgbClr val="1E1E1E"/>
                </a:solidFill>
                <a:latin typeface="思源黑体 2"/>
                <a:ea typeface="思源黑体 2"/>
                <a:cs typeface="思源黑体 2"/>
                <a:sym typeface="思源黑体 2"/>
              </a:rPr>
              <a:t>ReAct </a:t>
            </a:r>
            <a:r>
              <a:rPr lang="zh-CN" altLang="en-US" sz="3600">
                <a:solidFill>
                  <a:srgbClr val="1E1E1E"/>
                </a:solidFill>
                <a:latin typeface="思源黑体 2"/>
                <a:ea typeface="思源黑体 2"/>
                <a:cs typeface="思源黑体 2"/>
                <a:sym typeface="思源黑体 2"/>
              </a:rPr>
              <a:t>决策选工具</a:t>
            </a:r>
            <a:endParaRPr lang="en-US" sz="3600">
              <a:solidFill>
                <a:srgbClr val="1E1E1E"/>
              </a:solidFill>
              <a:latin typeface="思源黑体 2"/>
              <a:ea typeface="思源黑体 2"/>
              <a:cs typeface="思源黑体 2"/>
              <a:sym typeface="思源黑体 2"/>
            </a:endParaRPr>
          </a:p>
        </p:txBody>
      </p:sp>
      <p:sp>
        <p:nvSpPr>
          <p:cNvPr id="99" name="TextBox 45">
            <a:extLst>
              <a:ext uri="{FF2B5EF4-FFF2-40B4-BE49-F238E27FC236}">
                <a16:creationId xmlns:a16="http://schemas.microsoft.com/office/drawing/2014/main" id="{75A01E6F-7652-16DF-9F1D-DCD32E87A778}"/>
              </a:ext>
            </a:extLst>
          </p:cNvPr>
          <p:cNvSpPr txBox="1"/>
          <p:nvPr/>
        </p:nvSpPr>
        <p:spPr>
          <a:xfrm>
            <a:off x="1168702" y="4131732"/>
            <a:ext cx="767049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何时走 </a:t>
            </a:r>
            <a:r>
              <a:rPr lang="en-US" altLang="zh-CN" sz="4000" b="1">
                <a:solidFill>
                  <a:srgbClr val="1E1E1E"/>
                </a:solidFill>
                <a:latin typeface="思源黑体 2 Bold"/>
                <a:ea typeface="思源黑体 2 Bold"/>
                <a:cs typeface="思源黑体 2 Bold"/>
                <a:sym typeface="思源黑体 2 Bold"/>
              </a:rPr>
              <a:t>RAG / </a:t>
            </a:r>
            <a:r>
              <a:rPr lang="zh-CN" altLang="en-US" sz="4000" b="1">
                <a:solidFill>
                  <a:srgbClr val="1E1E1E"/>
                </a:solidFill>
                <a:latin typeface="思源黑体 2 Bold"/>
                <a:ea typeface="思源黑体 2 Bold"/>
                <a:cs typeface="思源黑体 2 Bold"/>
                <a:sym typeface="思源黑体 2 Bold"/>
              </a:rPr>
              <a:t>何时联网</a:t>
            </a:r>
            <a:endParaRPr lang="en-US" sz="4000" b="1">
              <a:solidFill>
                <a:srgbClr val="1E1E1E"/>
              </a:solidFill>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4080963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1DA95-8619-EDFE-23A9-CDFCEF31B7C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2AA33A9-4EF6-5DEE-60BC-C206F8118F67}"/>
              </a:ext>
            </a:extLst>
          </p:cNvPr>
          <p:cNvSpPr txBox="1"/>
          <p:nvPr/>
        </p:nvSpPr>
        <p:spPr>
          <a:xfrm>
            <a:off x="1221327" y="791367"/>
            <a:ext cx="7439465" cy="795089"/>
          </a:xfrm>
          <a:prstGeom prst="rect">
            <a:avLst/>
          </a:prstGeom>
        </p:spPr>
        <p:txBody>
          <a:bodyPr wrap="square"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可观测性与监控</a:t>
            </a:r>
          </a:p>
        </p:txBody>
      </p:sp>
      <p:grpSp>
        <p:nvGrpSpPr>
          <p:cNvPr id="4" name="Group 4">
            <a:extLst>
              <a:ext uri="{FF2B5EF4-FFF2-40B4-BE49-F238E27FC236}">
                <a16:creationId xmlns:a16="http://schemas.microsoft.com/office/drawing/2014/main" id="{927C1143-AC68-D668-7D57-7656E23495CE}"/>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9AD7B251-2788-E97F-4E81-9C6BEA975AF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8E17183A-3BE8-21DC-E19E-6B17B14AB36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2EA93EAF-D679-9342-D9C9-9D4670032DE0}"/>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BB2FBB9E-1141-A411-69D6-B658769BA61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C1E11213-B3E2-657D-67F1-5FBA6F608F16}"/>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8D9DE2FC-65FD-C758-7131-C0452CCB33EC}"/>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8640262F-5C4E-6169-7D34-5A4CFAD68ECE}"/>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9A5DB11C-09D8-17EF-8BD3-715C578F266C}"/>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C195C73E-EA63-B4CE-C492-3B777031F815}"/>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9BC67E78-F777-CFB7-9C9F-9745CDBE8EB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9C61AF0F-4FCE-0D1E-B859-CF8F90CE39E0}"/>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A4349BF0-2EAD-5EFE-A3B9-7AA82A861851}"/>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3A961DA2-66BF-41CC-2235-94DB3CAA315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2B2E4C6C-01FD-DCCE-91AB-04246CFA0C9F}"/>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95072209-7544-AD86-C6C6-2432056E235C}"/>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D79240FC-F591-AFC9-1734-B74C73A7A9BB}"/>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DA6F7638-F6CF-678A-D582-79D7D949A094}"/>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a:extLst>
              <a:ext uri="{FF2B5EF4-FFF2-40B4-BE49-F238E27FC236}">
                <a16:creationId xmlns:a16="http://schemas.microsoft.com/office/drawing/2014/main" id="{3968BAF8-4775-A972-4046-984D4DD43E9C}"/>
              </a:ext>
            </a:extLst>
          </p:cNvPr>
          <p:cNvSpPr/>
          <p:nvPr/>
        </p:nvSpPr>
        <p:spPr>
          <a:xfrm flipH="1" flipV="1">
            <a:off x="794524" y="2773840"/>
            <a:ext cx="0" cy="6019801"/>
          </a:xfrm>
          <a:prstGeom prst="line">
            <a:avLst/>
          </a:prstGeom>
          <a:ln w="19050" cap="flat">
            <a:solidFill>
              <a:srgbClr val="263D6D"/>
            </a:solidFill>
            <a:prstDash val="sysDot"/>
            <a:headEnd type="none" w="sm" len="sm"/>
            <a:tailEnd type="none" w="sm" len="sm"/>
          </a:ln>
        </p:spPr>
      </p:sp>
      <p:sp>
        <p:nvSpPr>
          <p:cNvPr id="27" name="TextBox 27">
            <a:extLst>
              <a:ext uri="{FF2B5EF4-FFF2-40B4-BE49-F238E27FC236}">
                <a16:creationId xmlns:a16="http://schemas.microsoft.com/office/drawing/2014/main" id="{FA7FDD66-A740-A917-B780-614786110F9F}"/>
              </a:ext>
            </a:extLst>
          </p:cNvPr>
          <p:cNvSpPr txBox="1"/>
          <p:nvPr/>
        </p:nvSpPr>
        <p:spPr>
          <a:xfrm>
            <a:off x="1610751" y="3201643"/>
            <a:ext cx="716973" cy="915699"/>
          </a:xfrm>
          <a:prstGeom prst="rect">
            <a:avLst/>
          </a:prstGeom>
        </p:spPr>
        <p:txBody>
          <a:bodyPr lIns="71897" tIns="71897" rIns="71897" bIns="71897" rtlCol="0" anchor="ctr"/>
          <a:lstStyle/>
          <a:p>
            <a:pPr algn="ctr">
              <a:lnSpc>
                <a:spcPts val="3107"/>
              </a:lnSpc>
            </a:pPr>
            <a:endParaRPr sz="2800"/>
          </a:p>
        </p:txBody>
      </p:sp>
      <p:grpSp>
        <p:nvGrpSpPr>
          <p:cNvPr id="34" name="Group 34">
            <a:extLst>
              <a:ext uri="{FF2B5EF4-FFF2-40B4-BE49-F238E27FC236}">
                <a16:creationId xmlns:a16="http://schemas.microsoft.com/office/drawing/2014/main" id="{29BD28B2-E281-1EAE-8CC7-4E17FCA957CE}"/>
              </a:ext>
            </a:extLst>
          </p:cNvPr>
          <p:cNvGrpSpPr/>
          <p:nvPr/>
        </p:nvGrpSpPr>
        <p:grpSpPr>
          <a:xfrm>
            <a:off x="673657" y="4392982"/>
            <a:ext cx="245606" cy="245606"/>
            <a:chOff x="0" y="0"/>
            <a:chExt cx="812800" cy="812800"/>
          </a:xfrm>
        </p:grpSpPr>
        <p:sp>
          <p:nvSpPr>
            <p:cNvPr id="35" name="Freeform 35">
              <a:extLst>
                <a:ext uri="{FF2B5EF4-FFF2-40B4-BE49-F238E27FC236}">
                  <a16:creationId xmlns:a16="http://schemas.microsoft.com/office/drawing/2014/main" id="{49EA83D5-F832-45DF-B16F-88ECB93508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a:extLst>
                <a:ext uri="{FF2B5EF4-FFF2-40B4-BE49-F238E27FC236}">
                  <a16:creationId xmlns:a16="http://schemas.microsoft.com/office/drawing/2014/main" id="{164EBA10-AF01-2AB9-B142-7A39C260A7E6}"/>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grpSp>
        <p:nvGrpSpPr>
          <p:cNvPr id="37" name="Group 37">
            <a:extLst>
              <a:ext uri="{FF2B5EF4-FFF2-40B4-BE49-F238E27FC236}">
                <a16:creationId xmlns:a16="http://schemas.microsoft.com/office/drawing/2014/main" id="{E88269E6-5BCF-F057-C920-7D77C32BBC0F}"/>
              </a:ext>
            </a:extLst>
          </p:cNvPr>
          <p:cNvGrpSpPr/>
          <p:nvPr/>
        </p:nvGrpSpPr>
        <p:grpSpPr>
          <a:xfrm>
            <a:off x="673657" y="6579940"/>
            <a:ext cx="245606" cy="245606"/>
            <a:chOff x="0" y="0"/>
            <a:chExt cx="812800" cy="812800"/>
          </a:xfrm>
        </p:grpSpPr>
        <p:sp>
          <p:nvSpPr>
            <p:cNvPr id="38" name="Freeform 38">
              <a:extLst>
                <a:ext uri="{FF2B5EF4-FFF2-40B4-BE49-F238E27FC236}">
                  <a16:creationId xmlns:a16="http://schemas.microsoft.com/office/drawing/2014/main" id="{771A4061-2B72-37A6-ADA8-0BF125948B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a:extLst>
                <a:ext uri="{FF2B5EF4-FFF2-40B4-BE49-F238E27FC236}">
                  <a16:creationId xmlns:a16="http://schemas.microsoft.com/office/drawing/2014/main" id="{FA8C591B-9816-38D9-9E40-F009B68B9919}"/>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41" name="Freeform 41">
            <a:extLst>
              <a:ext uri="{FF2B5EF4-FFF2-40B4-BE49-F238E27FC236}">
                <a16:creationId xmlns:a16="http://schemas.microsoft.com/office/drawing/2014/main" id="{2A330349-2515-0460-32F6-C3187260B4FC}"/>
              </a:ext>
            </a:extLst>
          </p:cNvPr>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a:extLst>
              <a:ext uri="{FF2B5EF4-FFF2-40B4-BE49-F238E27FC236}">
                <a16:creationId xmlns:a16="http://schemas.microsoft.com/office/drawing/2014/main" id="{C13EDAE9-E8CF-6CDF-F526-E6C205EA6C00}"/>
              </a:ext>
            </a:extLst>
          </p:cNvPr>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TextBox 44">
            <a:extLst>
              <a:ext uri="{FF2B5EF4-FFF2-40B4-BE49-F238E27FC236}">
                <a16:creationId xmlns:a16="http://schemas.microsoft.com/office/drawing/2014/main" id="{6366A0BD-B50F-B6AD-40F9-2706DE97BAD8}"/>
              </a:ext>
            </a:extLst>
          </p:cNvPr>
          <p:cNvSpPr txBox="1"/>
          <p:nvPr/>
        </p:nvSpPr>
        <p:spPr>
          <a:xfrm>
            <a:off x="1065681" y="2951423"/>
            <a:ext cx="15950596"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本轮</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累计实时展示</a:t>
            </a:r>
            <a:endParaRPr lang="en-US" sz="2800">
              <a:solidFill>
                <a:srgbClr val="1E1E1E"/>
              </a:solidFill>
              <a:latin typeface="思源黑体 2"/>
              <a:ea typeface="思源黑体 2"/>
              <a:cs typeface="思源黑体 2"/>
              <a:sym typeface="思源黑体 2"/>
            </a:endParaRPr>
          </a:p>
        </p:txBody>
      </p:sp>
      <p:grpSp>
        <p:nvGrpSpPr>
          <p:cNvPr id="71" name="Group 34">
            <a:extLst>
              <a:ext uri="{FF2B5EF4-FFF2-40B4-BE49-F238E27FC236}">
                <a16:creationId xmlns:a16="http://schemas.microsoft.com/office/drawing/2014/main" id="{9BDB1B47-5859-8F9B-EB5F-31AA11AD8069}"/>
              </a:ext>
            </a:extLst>
          </p:cNvPr>
          <p:cNvGrpSpPr/>
          <p:nvPr/>
        </p:nvGrpSpPr>
        <p:grpSpPr>
          <a:xfrm>
            <a:off x="673657" y="5486461"/>
            <a:ext cx="245606" cy="245606"/>
            <a:chOff x="0" y="0"/>
            <a:chExt cx="812800" cy="812800"/>
          </a:xfrm>
        </p:grpSpPr>
        <p:sp>
          <p:nvSpPr>
            <p:cNvPr id="72" name="Freeform 35">
              <a:extLst>
                <a:ext uri="{FF2B5EF4-FFF2-40B4-BE49-F238E27FC236}">
                  <a16:creationId xmlns:a16="http://schemas.microsoft.com/office/drawing/2014/main" id="{314DDB3F-82DF-FD87-A599-479983EFDE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73" name="TextBox 36">
              <a:extLst>
                <a:ext uri="{FF2B5EF4-FFF2-40B4-BE49-F238E27FC236}">
                  <a16:creationId xmlns:a16="http://schemas.microsoft.com/office/drawing/2014/main" id="{6AEDBBEC-4427-2423-73C4-F4F4E41642BC}"/>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75" name="TextBox 45">
            <a:extLst>
              <a:ext uri="{FF2B5EF4-FFF2-40B4-BE49-F238E27FC236}">
                <a16:creationId xmlns:a16="http://schemas.microsoft.com/office/drawing/2014/main" id="{89D260AB-28FA-3DFA-AF2C-FBFAB41A8261}"/>
              </a:ext>
            </a:extLst>
          </p:cNvPr>
          <p:cNvSpPr txBox="1"/>
          <p:nvPr/>
        </p:nvSpPr>
        <p:spPr>
          <a:xfrm>
            <a:off x="1065681" y="2144801"/>
            <a:ext cx="8280098" cy="521105"/>
          </a:xfrm>
          <a:prstGeom prst="rect">
            <a:avLst/>
          </a:prstGeom>
        </p:spPr>
        <p:txBody>
          <a:bodyPr wrap="square" lIns="0" tIns="0" rIns="0" bIns="0" rtlCol="0" anchor="t">
            <a:spAutoFit/>
          </a:bodyPr>
          <a:lstStyle/>
          <a:p>
            <a:pPr algn="l">
              <a:lnSpc>
                <a:spcPts val="4368"/>
              </a:lnSpc>
            </a:pPr>
            <a:r>
              <a:rPr lang="en-US" altLang="zh-CN" sz="3200" b="1">
                <a:solidFill>
                  <a:srgbClr val="1E1E1E"/>
                </a:solidFill>
                <a:latin typeface="思源黑体 2 Bold"/>
                <a:ea typeface="思源黑体 2 Bold"/>
                <a:cs typeface="思源黑体 2 Bold"/>
                <a:sym typeface="思源黑体 2 Bold"/>
              </a:rPr>
              <a:t>Token </a:t>
            </a:r>
            <a:r>
              <a:rPr lang="zh-CN" altLang="en-US" sz="3200" b="1">
                <a:solidFill>
                  <a:srgbClr val="1E1E1E"/>
                </a:solidFill>
                <a:latin typeface="思源黑体 2 Bold"/>
                <a:ea typeface="思源黑体 2 Bold"/>
                <a:cs typeface="思源黑体 2 Bold"/>
                <a:sym typeface="思源黑体 2 Bold"/>
              </a:rPr>
              <a:t>消耗（按工具分别统计）</a:t>
            </a:r>
            <a:endParaRPr lang="en-US" sz="3200" b="1">
              <a:solidFill>
                <a:srgbClr val="1E1E1E"/>
              </a:solidFill>
              <a:latin typeface="思源黑体 2 Bold"/>
              <a:ea typeface="思源黑体 2 Bold"/>
              <a:cs typeface="思源黑体 2 Bold"/>
              <a:sym typeface="思源黑体 2 Bold"/>
            </a:endParaRPr>
          </a:p>
        </p:txBody>
      </p:sp>
      <p:sp>
        <p:nvSpPr>
          <p:cNvPr id="89" name="TextBox 44">
            <a:extLst>
              <a:ext uri="{FF2B5EF4-FFF2-40B4-BE49-F238E27FC236}">
                <a16:creationId xmlns:a16="http://schemas.microsoft.com/office/drawing/2014/main" id="{779689F0-25E2-6F47-BE97-47B8F53694EC}"/>
              </a:ext>
            </a:extLst>
          </p:cNvPr>
          <p:cNvSpPr txBox="1"/>
          <p:nvPr/>
        </p:nvSpPr>
        <p:spPr>
          <a:xfrm>
            <a:off x="1065681" y="7265819"/>
            <a:ext cx="15366698"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成功率实时统计（实测 </a:t>
            </a:r>
            <a:r>
              <a:rPr lang="en-US" altLang="zh-CN" sz="2800">
                <a:solidFill>
                  <a:srgbClr val="1E1E1E"/>
                </a:solidFill>
                <a:latin typeface="思源黑体 2"/>
                <a:ea typeface="思源黑体 2"/>
                <a:cs typeface="思源黑体 2"/>
                <a:sym typeface="思源黑体 2"/>
              </a:rPr>
              <a:t>100%</a:t>
            </a:r>
            <a:r>
              <a:rPr lang="zh-CN" altLang="en-US" sz="2800">
                <a:solidFill>
                  <a:srgbClr val="1E1E1E"/>
                </a:solidFill>
                <a:latin typeface="思源黑体 2"/>
                <a:ea typeface="思源黑体 2"/>
                <a:cs typeface="思源黑体 2"/>
                <a:sym typeface="思源黑体 2"/>
              </a:rPr>
              <a:t>），调用总数</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平均响应可查</a:t>
            </a:r>
            <a:endParaRPr lang="en-US" sz="2800">
              <a:solidFill>
                <a:srgbClr val="1E1E1E"/>
              </a:solidFill>
              <a:latin typeface="思源黑体 2"/>
              <a:ea typeface="思源黑体 2"/>
              <a:cs typeface="思源黑体 2"/>
              <a:sym typeface="思源黑体 2"/>
            </a:endParaRPr>
          </a:p>
        </p:txBody>
      </p:sp>
      <p:sp>
        <p:nvSpPr>
          <p:cNvPr id="91" name="TextBox 45">
            <a:extLst>
              <a:ext uri="{FF2B5EF4-FFF2-40B4-BE49-F238E27FC236}">
                <a16:creationId xmlns:a16="http://schemas.microsoft.com/office/drawing/2014/main" id="{118F9EE3-8BF2-39D5-CB28-B92DAF069093}"/>
              </a:ext>
            </a:extLst>
          </p:cNvPr>
          <p:cNvSpPr txBox="1"/>
          <p:nvPr/>
        </p:nvSpPr>
        <p:spPr>
          <a:xfrm>
            <a:off x="1065681" y="6459197"/>
            <a:ext cx="509798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工具调用成功率与耗时</a:t>
            </a:r>
            <a:endParaRPr lang="en-US" sz="3200" b="1">
              <a:solidFill>
                <a:srgbClr val="1E1E1E"/>
              </a:solidFill>
              <a:latin typeface="思源黑体 2 Bold"/>
              <a:ea typeface="思源黑体 2 Bold"/>
              <a:cs typeface="思源黑体 2 Bold"/>
              <a:sym typeface="思源黑体 2 Bold"/>
            </a:endParaRPr>
          </a:p>
        </p:txBody>
      </p:sp>
      <p:sp>
        <p:nvSpPr>
          <p:cNvPr id="93" name="TextBox 44">
            <a:extLst>
              <a:ext uri="{FF2B5EF4-FFF2-40B4-BE49-F238E27FC236}">
                <a16:creationId xmlns:a16="http://schemas.microsoft.com/office/drawing/2014/main" id="{54C8F477-5211-B0BB-1180-FC32A8C0139E}"/>
              </a:ext>
            </a:extLst>
          </p:cNvPr>
          <p:cNvSpPr txBox="1"/>
          <p:nvPr/>
        </p:nvSpPr>
        <p:spPr>
          <a:xfrm>
            <a:off x="1065681" y="5827687"/>
            <a:ext cx="15982704"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推理轨迹树逐轮展示，工具入参可展开</a:t>
            </a:r>
            <a:endParaRPr lang="en-US" sz="2800">
              <a:solidFill>
                <a:srgbClr val="1E1E1E"/>
              </a:solidFill>
              <a:latin typeface="思源黑体 2"/>
              <a:ea typeface="思源黑体 2"/>
              <a:cs typeface="思源黑体 2"/>
              <a:sym typeface="思源黑体 2"/>
            </a:endParaRPr>
          </a:p>
        </p:txBody>
      </p:sp>
      <p:sp>
        <p:nvSpPr>
          <p:cNvPr id="95" name="TextBox 45">
            <a:extLst>
              <a:ext uri="{FF2B5EF4-FFF2-40B4-BE49-F238E27FC236}">
                <a16:creationId xmlns:a16="http://schemas.microsoft.com/office/drawing/2014/main" id="{3C7868AC-E465-6787-E165-9944C83FEAFD}"/>
              </a:ext>
            </a:extLst>
          </p:cNvPr>
          <p:cNvSpPr txBox="1"/>
          <p:nvPr/>
        </p:nvSpPr>
        <p:spPr>
          <a:xfrm>
            <a:off x="1065681" y="5021065"/>
            <a:ext cx="5097988" cy="521105"/>
          </a:xfrm>
          <a:prstGeom prst="rect">
            <a:avLst/>
          </a:prstGeom>
        </p:spPr>
        <p:txBody>
          <a:bodyPr wrap="square" lIns="0" tIns="0" rIns="0" bIns="0" rtlCol="0" anchor="t">
            <a:spAutoFit/>
          </a:bodyPr>
          <a:lstStyle/>
          <a:p>
            <a:pPr algn="l">
              <a:lnSpc>
                <a:spcPts val="4368"/>
              </a:lnSpc>
            </a:pPr>
            <a:r>
              <a:rPr lang="en-US" altLang="zh-CN" sz="3200" b="1">
                <a:solidFill>
                  <a:srgbClr val="1E1E1E"/>
                </a:solidFill>
                <a:latin typeface="思源黑体 2 Bold"/>
                <a:ea typeface="思源黑体 2 Bold"/>
                <a:cs typeface="思源黑体 2 Bold"/>
                <a:sym typeface="思源黑体 2 Bold"/>
              </a:rPr>
              <a:t>T→A→O </a:t>
            </a:r>
            <a:r>
              <a:rPr lang="zh-CN" altLang="en-US" sz="3200" b="1">
                <a:solidFill>
                  <a:srgbClr val="1E1E1E"/>
                </a:solidFill>
                <a:latin typeface="思源黑体 2 Bold"/>
                <a:ea typeface="思源黑体 2 Bold"/>
                <a:cs typeface="思源黑体 2 Bold"/>
                <a:sym typeface="思源黑体 2 Bold"/>
              </a:rPr>
              <a:t>全链路轨迹</a:t>
            </a:r>
            <a:endParaRPr lang="en-US" sz="3200" b="1">
              <a:solidFill>
                <a:srgbClr val="1E1E1E"/>
              </a:solidFill>
              <a:latin typeface="思源黑体 2 Bold"/>
              <a:ea typeface="思源黑体 2 Bold"/>
              <a:cs typeface="思源黑体 2 Bold"/>
              <a:sym typeface="思源黑体 2 Bold"/>
            </a:endParaRPr>
          </a:p>
        </p:txBody>
      </p:sp>
      <p:sp>
        <p:nvSpPr>
          <p:cNvPr id="97" name="TextBox 44">
            <a:extLst>
              <a:ext uri="{FF2B5EF4-FFF2-40B4-BE49-F238E27FC236}">
                <a16:creationId xmlns:a16="http://schemas.microsoft.com/office/drawing/2014/main" id="{5CAD12AE-E4BD-35C6-CD25-41605C0A9EAC}"/>
              </a:ext>
            </a:extLst>
          </p:cNvPr>
          <p:cNvSpPr txBox="1"/>
          <p:nvPr/>
        </p:nvSpPr>
        <p:spPr>
          <a:xfrm>
            <a:off x="1065680" y="4389555"/>
            <a:ext cx="16128695"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命中率</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本轮耗时</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平均响应</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相关度 全量上屏</a:t>
            </a:r>
            <a:endParaRPr lang="en-US" sz="2800">
              <a:solidFill>
                <a:srgbClr val="1E1E1E"/>
              </a:solidFill>
              <a:latin typeface="思源黑体 2"/>
              <a:ea typeface="思源黑体 2"/>
              <a:cs typeface="思源黑体 2"/>
              <a:sym typeface="思源黑体 2"/>
            </a:endParaRPr>
          </a:p>
        </p:txBody>
      </p:sp>
      <p:sp>
        <p:nvSpPr>
          <p:cNvPr id="99" name="TextBox 45">
            <a:extLst>
              <a:ext uri="{FF2B5EF4-FFF2-40B4-BE49-F238E27FC236}">
                <a16:creationId xmlns:a16="http://schemas.microsoft.com/office/drawing/2014/main" id="{14E0AC79-F8F3-22EB-781B-25BE79181AA4}"/>
              </a:ext>
            </a:extLst>
          </p:cNvPr>
          <p:cNvSpPr txBox="1"/>
          <p:nvPr/>
        </p:nvSpPr>
        <p:spPr>
          <a:xfrm>
            <a:off x="1065681" y="3582933"/>
            <a:ext cx="767049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检索命中率与响应延迟</a:t>
            </a:r>
            <a:endParaRPr lang="en-US" sz="3200" b="1">
              <a:solidFill>
                <a:srgbClr val="1E1E1E"/>
              </a:solidFill>
              <a:latin typeface="思源黑体 2 Bold"/>
              <a:ea typeface="思源黑体 2 Bold"/>
              <a:cs typeface="思源黑体 2 Bold"/>
              <a:sym typeface="思源黑体 2 Bold"/>
            </a:endParaRPr>
          </a:p>
        </p:txBody>
      </p:sp>
      <p:sp>
        <p:nvSpPr>
          <p:cNvPr id="16" name="TextBox 44">
            <a:extLst>
              <a:ext uri="{FF2B5EF4-FFF2-40B4-BE49-F238E27FC236}">
                <a16:creationId xmlns:a16="http://schemas.microsoft.com/office/drawing/2014/main" id="{35A8585E-6E08-ED02-5C71-310A6C1947F1}"/>
              </a:ext>
            </a:extLst>
          </p:cNvPr>
          <p:cNvSpPr txBox="1"/>
          <p:nvPr/>
        </p:nvSpPr>
        <p:spPr>
          <a:xfrm>
            <a:off x="1052830" y="8703951"/>
            <a:ext cx="15366698" cy="371897"/>
          </a:xfrm>
          <a:prstGeom prst="rect">
            <a:avLst/>
          </a:prstGeom>
        </p:spPr>
        <p:txBody>
          <a:bodyPr wrap="square" lIns="0" tIns="0" rIns="0" bIns="0" rtlCol="0" anchor="t">
            <a:spAutoFit/>
          </a:bodyPr>
          <a:lstStyle/>
          <a:p>
            <a:pPr algn="just">
              <a:lnSpc>
                <a:spcPts val="2856"/>
              </a:lnSpc>
            </a:pPr>
            <a:r>
              <a:rPr lang="en-US" altLang="zh-CN" sz="2800">
                <a:solidFill>
                  <a:srgbClr val="1E1E1E"/>
                </a:solidFill>
                <a:latin typeface="思源黑体 2"/>
                <a:ea typeface="思源黑体 2"/>
                <a:cs typeface="思源黑体 2"/>
                <a:sym typeface="思源黑体 2"/>
              </a:rPr>
              <a:t>/health </a:t>
            </a:r>
            <a:r>
              <a:rPr lang="zh-CN" altLang="en-US" sz="2800">
                <a:solidFill>
                  <a:srgbClr val="1E1E1E"/>
                </a:solidFill>
                <a:latin typeface="思源黑体 2"/>
                <a:ea typeface="思源黑体 2"/>
                <a:cs typeface="思源黑体 2"/>
                <a:sym typeface="思源黑体 2"/>
              </a:rPr>
              <a:t>每次渲染探活，宕机即时红条告警</a:t>
            </a:r>
            <a:endParaRPr lang="en-US" sz="2800">
              <a:solidFill>
                <a:srgbClr val="1E1E1E"/>
              </a:solidFill>
              <a:latin typeface="思源黑体 2"/>
              <a:ea typeface="思源黑体 2"/>
              <a:cs typeface="思源黑体 2"/>
              <a:sym typeface="思源黑体 2"/>
            </a:endParaRPr>
          </a:p>
        </p:txBody>
      </p:sp>
      <p:sp>
        <p:nvSpPr>
          <p:cNvPr id="25" name="TextBox 45">
            <a:extLst>
              <a:ext uri="{FF2B5EF4-FFF2-40B4-BE49-F238E27FC236}">
                <a16:creationId xmlns:a16="http://schemas.microsoft.com/office/drawing/2014/main" id="{3C6425CD-D2ED-5D37-4BE6-C3C53FD015D2}"/>
              </a:ext>
            </a:extLst>
          </p:cNvPr>
          <p:cNvSpPr txBox="1"/>
          <p:nvPr/>
        </p:nvSpPr>
        <p:spPr>
          <a:xfrm>
            <a:off x="1052830" y="7897329"/>
            <a:ext cx="509798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健康检查接口</a:t>
            </a:r>
            <a:endParaRPr lang="en-US" sz="3200" b="1">
              <a:solidFill>
                <a:srgbClr val="1E1E1E"/>
              </a:solidFill>
              <a:latin typeface="思源黑体 2 Bold"/>
              <a:ea typeface="思源黑体 2 Bold"/>
              <a:cs typeface="思源黑体 2 Bold"/>
              <a:sym typeface="思源黑体 2 Bold"/>
            </a:endParaRPr>
          </a:p>
        </p:txBody>
      </p:sp>
      <p:pic>
        <p:nvPicPr>
          <p:cNvPr id="28" name="图片 27">
            <a:extLst>
              <a:ext uri="{FF2B5EF4-FFF2-40B4-BE49-F238E27FC236}">
                <a16:creationId xmlns:a16="http://schemas.microsoft.com/office/drawing/2014/main" id="{92BEC892-35DC-E5DC-FFF6-4FF9F71896FD}"/>
              </a:ext>
            </a:extLst>
          </p:cNvPr>
          <p:cNvPicPr>
            <a:picLocks noChangeAspect="1"/>
          </p:cNvPicPr>
          <p:nvPr/>
        </p:nvPicPr>
        <p:blipFill>
          <a:blip r:embed="rId4"/>
          <a:stretch>
            <a:fillRect/>
          </a:stretch>
        </p:blipFill>
        <p:spPr>
          <a:xfrm>
            <a:off x="8208505" y="633974"/>
            <a:ext cx="3810196" cy="6464632"/>
          </a:xfrm>
          <a:prstGeom prst="rect">
            <a:avLst/>
          </a:prstGeom>
        </p:spPr>
      </p:pic>
      <p:pic>
        <p:nvPicPr>
          <p:cNvPr id="30" name="图片 29">
            <a:extLst>
              <a:ext uri="{FF2B5EF4-FFF2-40B4-BE49-F238E27FC236}">
                <a16:creationId xmlns:a16="http://schemas.microsoft.com/office/drawing/2014/main" id="{7E101C83-9CF1-6DD4-347B-DF868E796A3F}"/>
              </a:ext>
            </a:extLst>
          </p:cNvPr>
          <p:cNvPicPr>
            <a:picLocks noChangeAspect="1"/>
          </p:cNvPicPr>
          <p:nvPr/>
        </p:nvPicPr>
        <p:blipFill>
          <a:blip r:embed="rId5"/>
          <a:stretch>
            <a:fillRect/>
          </a:stretch>
        </p:blipFill>
        <p:spPr>
          <a:xfrm>
            <a:off x="12018550" y="1504444"/>
            <a:ext cx="3587934" cy="6648792"/>
          </a:xfrm>
          <a:prstGeom prst="rect">
            <a:avLst/>
          </a:prstGeom>
        </p:spPr>
      </p:pic>
      <p:pic>
        <p:nvPicPr>
          <p:cNvPr id="32" name="图片 31">
            <a:extLst>
              <a:ext uri="{FF2B5EF4-FFF2-40B4-BE49-F238E27FC236}">
                <a16:creationId xmlns:a16="http://schemas.microsoft.com/office/drawing/2014/main" id="{EA77ACB6-4EA2-35DB-7767-068EB98B5CA1}"/>
              </a:ext>
            </a:extLst>
          </p:cNvPr>
          <p:cNvPicPr>
            <a:picLocks noChangeAspect="1"/>
          </p:cNvPicPr>
          <p:nvPr/>
        </p:nvPicPr>
        <p:blipFill>
          <a:blip r:embed="rId6"/>
          <a:stretch>
            <a:fillRect/>
          </a:stretch>
        </p:blipFill>
        <p:spPr>
          <a:xfrm>
            <a:off x="15558184" y="5623457"/>
            <a:ext cx="2729816" cy="3717939"/>
          </a:xfrm>
          <a:prstGeom prst="rect">
            <a:avLst/>
          </a:prstGeom>
        </p:spPr>
      </p:pic>
    </p:spTree>
    <p:extLst>
      <p:ext uri="{BB962C8B-B14F-4D97-AF65-F5344CB8AC3E}">
        <p14:creationId xmlns:p14="http://schemas.microsoft.com/office/powerpoint/2010/main" val="1104290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608FC-359C-4CA3-ABEA-48DFA5AD221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6B6B6D1-3923-CDF4-2DF6-B237E65E4CC0}"/>
              </a:ext>
            </a:extLst>
          </p:cNvPr>
          <p:cNvSpPr txBox="1"/>
          <p:nvPr/>
        </p:nvSpPr>
        <p:spPr>
          <a:xfrm>
            <a:off x="1221327" y="791367"/>
            <a:ext cx="7439465" cy="795089"/>
          </a:xfrm>
          <a:prstGeom prst="rect">
            <a:avLst/>
          </a:prstGeom>
        </p:spPr>
        <p:txBody>
          <a:bodyPr wrap="square"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前端界面开发</a:t>
            </a:r>
          </a:p>
        </p:txBody>
      </p:sp>
      <p:grpSp>
        <p:nvGrpSpPr>
          <p:cNvPr id="4" name="Group 4">
            <a:extLst>
              <a:ext uri="{FF2B5EF4-FFF2-40B4-BE49-F238E27FC236}">
                <a16:creationId xmlns:a16="http://schemas.microsoft.com/office/drawing/2014/main" id="{4BF9EC0E-A899-1B01-05CD-41BAB2127FFA}"/>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DC73B29A-E90A-CAF5-7F9B-C1DA73D739E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64685709-EE51-4F30-517E-ED1C6203A653}"/>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F363AC3B-191F-575E-7906-CDE46069CBEF}"/>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0EC342F3-25CB-BA70-4812-67DE52E71EE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6B83D947-3B01-8771-0D36-E78826FC7DBA}"/>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ED100F14-150E-D076-8BF1-EDFF7378206E}"/>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CE92A992-1014-A986-BFB5-439F164FAFE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E37A8C12-8208-E857-C934-A0C8440BE9A9}"/>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909594B6-F505-3B25-5E7D-4ED3F46DCB07}"/>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155E70D7-1A04-2E96-3913-6F2B2CD3476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BB7B52C5-CF9E-B283-5605-551F56216AC5}"/>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E73FCDE0-D074-36A5-294E-60390DB8E4C6}"/>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54E374DD-DB02-D6B7-F99D-19D6BD96E39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AD4FD6D6-0992-79BA-BF72-0AA4A2E05019}"/>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621DB1A7-523D-0B18-1885-34CC00D7441F}"/>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E122EB92-3579-510A-3A64-A3C528604451}"/>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97428D15-5BB4-FC76-C872-002068C042E8}"/>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a:extLst>
              <a:ext uri="{FF2B5EF4-FFF2-40B4-BE49-F238E27FC236}">
                <a16:creationId xmlns:a16="http://schemas.microsoft.com/office/drawing/2014/main" id="{085152BF-1E2F-D753-CA94-F4CCEB04CB25}"/>
              </a:ext>
            </a:extLst>
          </p:cNvPr>
          <p:cNvSpPr/>
          <p:nvPr/>
        </p:nvSpPr>
        <p:spPr>
          <a:xfrm flipH="1" flipV="1">
            <a:off x="794524" y="2773840"/>
            <a:ext cx="0" cy="6019801"/>
          </a:xfrm>
          <a:prstGeom prst="line">
            <a:avLst/>
          </a:prstGeom>
          <a:ln w="19050" cap="flat">
            <a:solidFill>
              <a:srgbClr val="263D6D"/>
            </a:solidFill>
            <a:prstDash val="sysDot"/>
            <a:headEnd type="none" w="sm" len="sm"/>
            <a:tailEnd type="none" w="sm" len="sm"/>
          </a:ln>
        </p:spPr>
      </p:sp>
      <p:sp>
        <p:nvSpPr>
          <p:cNvPr id="27" name="TextBox 27">
            <a:extLst>
              <a:ext uri="{FF2B5EF4-FFF2-40B4-BE49-F238E27FC236}">
                <a16:creationId xmlns:a16="http://schemas.microsoft.com/office/drawing/2014/main" id="{A2BFDAB1-9096-18B1-A183-DF0D6A8D6E21}"/>
              </a:ext>
            </a:extLst>
          </p:cNvPr>
          <p:cNvSpPr txBox="1"/>
          <p:nvPr/>
        </p:nvSpPr>
        <p:spPr>
          <a:xfrm>
            <a:off x="1610751" y="3201643"/>
            <a:ext cx="716973" cy="915699"/>
          </a:xfrm>
          <a:prstGeom prst="rect">
            <a:avLst/>
          </a:prstGeom>
        </p:spPr>
        <p:txBody>
          <a:bodyPr lIns="71897" tIns="71897" rIns="71897" bIns="71897" rtlCol="0" anchor="ctr"/>
          <a:lstStyle/>
          <a:p>
            <a:pPr algn="ctr">
              <a:lnSpc>
                <a:spcPts val="3107"/>
              </a:lnSpc>
            </a:pPr>
            <a:endParaRPr sz="2800"/>
          </a:p>
        </p:txBody>
      </p:sp>
      <p:grpSp>
        <p:nvGrpSpPr>
          <p:cNvPr id="34" name="Group 34">
            <a:extLst>
              <a:ext uri="{FF2B5EF4-FFF2-40B4-BE49-F238E27FC236}">
                <a16:creationId xmlns:a16="http://schemas.microsoft.com/office/drawing/2014/main" id="{98B32B65-F6BC-77C9-4B73-2C17D0C2528A}"/>
              </a:ext>
            </a:extLst>
          </p:cNvPr>
          <p:cNvGrpSpPr/>
          <p:nvPr/>
        </p:nvGrpSpPr>
        <p:grpSpPr>
          <a:xfrm>
            <a:off x="673657" y="4392982"/>
            <a:ext cx="245606" cy="245606"/>
            <a:chOff x="0" y="0"/>
            <a:chExt cx="812800" cy="812800"/>
          </a:xfrm>
        </p:grpSpPr>
        <p:sp>
          <p:nvSpPr>
            <p:cNvPr id="35" name="Freeform 35">
              <a:extLst>
                <a:ext uri="{FF2B5EF4-FFF2-40B4-BE49-F238E27FC236}">
                  <a16:creationId xmlns:a16="http://schemas.microsoft.com/office/drawing/2014/main" id="{7CBF545A-6A80-4740-C15A-7B5EC558D7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a:extLst>
                <a:ext uri="{FF2B5EF4-FFF2-40B4-BE49-F238E27FC236}">
                  <a16:creationId xmlns:a16="http://schemas.microsoft.com/office/drawing/2014/main" id="{137AA62D-1971-80CF-A5F0-39EBD60DE2B7}"/>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grpSp>
        <p:nvGrpSpPr>
          <p:cNvPr id="37" name="Group 37">
            <a:extLst>
              <a:ext uri="{FF2B5EF4-FFF2-40B4-BE49-F238E27FC236}">
                <a16:creationId xmlns:a16="http://schemas.microsoft.com/office/drawing/2014/main" id="{0E498F28-6FDB-7B62-0101-826861C1B6EC}"/>
              </a:ext>
            </a:extLst>
          </p:cNvPr>
          <p:cNvGrpSpPr/>
          <p:nvPr/>
        </p:nvGrpSpPr>
        <p:grpSpPr>
          <a:xfrm>
            <a:off x="673657" y="6579940"/>
            <a:ext cx="245606" cy="245606"/>
            <a:chOff x="0" y="0"/>
            <a:chExt cx="812800" cy="812800"/>
          </a:xfrm>
        </p:grpSpPr>
        <p:sp>
          <p:nvSpPr>
            <p:cNvPr id="38" name="Freeform 38">
              <a:extLst>
                <a:ext uri="{FF2B5EF4-FFF2-40B4-BE49-F238E27FC236}">
                  <a16:creationId xmlns:a16="http://schemas.microsoft.com/office/drawing/2014/main" id="{6BA8E79F-A582-2F85-69F5-95A268BE7E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a:extLst>
                <a:ext uri="{FF2B5EF4-FFF2-40B4-BE49-F238E27FC236}">
                  <a16:creationId xmlns:a16="http://schemas.microsoft.com/office/drawing/2014/main" id="{CFE7628A-C2F1-7B02-4A54-CD7A7BEA06BF}"/>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41" name="Freeform 41">
            <a:extLst>
              <a:ext uri="{FF2B5EF4-FFF2-40B4-BE49-F238E27FC236}">
                <a16:creationId xmlns:a16="http://schemas.microsoft.com/office/drawing/2014/main" id="{5B5398DD-A599-B5E5-FA2F-071C81DE5E74}"/>
              </a:ext>
            </a:extLst>
          </p:cNvPr>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a:extLst>
              <a:ext uri="{FF2B5EF4-FFF2-40B4-BE49-F238E27FC236}">
                <a16:creationId xmlns:a16="http://schemas.microsoft.com/office/drawing/2014/main" id="{0E8FF392-4911-79C0-3133-6F4860C0BCE8}"/>
              </a:ext>
            </a:extLst>
          </p:cNvPr>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TextBox 44">
            <a:extLst>
              <a:ext uri="{FF2B5EF4-FFF2-40B4-BE49-F238E27FC236}">
                <a16:creationId xmlns:a16="http://schemas.microsoft.com/office/drawing/2014/main" id="{C7764DA8-038C-86EA-5397-401DB5651817}"/>
              </a:ext>
            </a:extLst>
          </p:cNvPr>
          <p:cNvSpPr txBox="1"/>
          <p:nvPr/>
        </p:nvSpPr>
        <p:spPr>
          <a:xfrm>
            <a:off x="1065681" y="2951423"/>
            <a:ext cx="15950596" cy="389145"/>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多选批量上传，解析→分块→向量化逐项进度，状态徽标</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删除</a:t>
            </a:r>
            <a:endParaRPr lang="en-US" sz="3600">
              <a:solidFill>
                <a:srgbClr val="1E1E1E"/>
              </a:solidFill>
              <a:latin typeface="思源黑体 2"/>
              <a:ea typeface="思源黑体 2"/>
              <a:cs typeface="思源黑体 2"/>
              <a:sym typeface="思源黑体 2"/>
            </a:endParaRPr>
          </a:p>
        </p:txBody>
      </p:sp>
      <p:grpSp>
        <p:nvGrpSpPr>
          <p:cNvPr id="71" name="Group 34">
            <a:extLst>
              <a:ext uri="{FF2B5EF4-FFF2-40B4-BE49-F238E27FC236}">
                <a16:creationId xmlns:a16="http://schemas.microsoft.com/office/drawing/2014/main" id="{03448721-3837-8CA4-8F3E-91477946930D}"/>
              </a:ext>
            </a:extLst>
          </p:cNvPr>
          <p:cNvGrpSpPr/>
          <p:nvPr/>
        </p:nvGrpSpPr>
        <p:grpSpPr>
          <a:xfrm>
            <a:off x="673657" y="5486461"/>
            <a:ext cx="245606" cy="245606"/>
            <a:chOff x="0" y="0"/>
            <a:chExt cx="812800" cy="812800"/>
          </a:xfrm>
        </p:grpSpPr>
        <p:sp>
          <p:nvSpPr>
            <p:cNvPr id="72" name="Freeform 35">
              <a:extLst>
                <a:ext uri="{FF2B5EF4-FFF2-40B4-BE49-F238E27FC236}">
                  <a16:creationId xmlns:a16="http://schemas.microsoft.com/office/drawing/2014/main" id="{6238CB51-116D-450B-43F9-AD7C4E1DD6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73" name="TextBox 36">
              <a:extLst>
                <a:ext uri="{FF2B5EF4-FFF2-40B4-BE49-F238E27FC236}">
                  <a16:creationId xmlns:a16="http://schemas.microsoft.com/office/drawing/2014/main" id="{F8AD4C14-6387-8139-01FF-B06904820284}"/>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75" name="TextBox 45">
            <a:extLst>
              <a:ext uri="{FF2B5EF4-FFF2-40B4-BE49-F238E27FC236}">
                <a16:creationId xmlns:a16="http://schemas.microsoft.com/office/drawing/2014/main" id="{699C6A88-1C25-E9DC-EA0C-371645AFCACA}"/>
              </a:ext>
            </a:extLst>
          </p:cNvPr>
          <p:cNvSpPr txBox="1"/>
          <p:nvPr/>
        </p:nvSpPr>
        <p:spPr>
          <a:xfrm>
            <a:off x="1065681" y="2144801"/>
            <a:ext cx="828009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左侧：批量上传</a:t>
            </a:r>
            <a:r>
              <a:rPr lang="en-US" altLang="zh-CN" sz="4000" b="1">
                <a:solidFill>
                  <a:srgbClr val="1E1E1E"/>
                </a:solidFill>
                <a:latin typeface="思源黑体 2 Bold"/>
                <a:ea typeface="思源黑体 2 Bold"/>
                <a:cs typeface="思源黑体 2 Bold"/>
                <a:sym typeface="思源黑体 2 Bold"/>
              </a:rPr>
              <a:t>/</a:t>
            </a:r>
            <a:r>
              <a:rPr lang="zh-CN" altLang="en-US" sz="4000" b="1">
                <a:solidFill>
                  <a:srgbClr val="1E1E1E"/>
                </a:solidFill>
                <a:latin typeface="思源黑体 2 Bold"/>
                <a:ea typeface="思源黑体 2 Bold"/>
                <a:cs typeface="思源黑体 2 Bold"/>
                <a:sym typeface="思源黑体 2 Bold"/>
              </a:rPr>
              <a:t>进度</a:t>
            </a:r>
            <a:r>
              <a:rPr lang="en-US" altLang="zh-CN" sz="4000" b="1">
                <a:solidFill>
                  <a:srgbClr val="1E1E1E"/>
                </a:solidFill>
                <a:latin typeface="思源黑体 2 Bold"/>
                <a:ea typeface="思源黑体 2 Bold"/>
                <a:cs typeface="思源黑体 2 Bold"/>
                <a:sym typeface="思源黑体 2 Bold"/>
              </a:rPr>
              <a:t>/</a:t>
            </a:r>
            <a:r>
              <a:rPr lang="zh-CN" altLang="en-US" sz="4000" b="1">
                <a:solidFill>
                  <a:srgbClr val="1E1E1E"/>
                </a:solidFill>
                <a:latin typeface="思源黑体 2 Bold"/>
                <a:ea typeface="思源黑体 2 Bold"/>
                <a:cs typeface="思源黑体 2 Bold"/>
                <a:sym typeface="思源黑体 2 Bold"/>
              </a:rPr>
              <a:t>列表</a:t>
            </a:r>
            <a:r>
              <a:rPr lang="en-US" altLang="zh-CN" sz="4000" b="1">
                <a:solidFill>
                  <a:srgbClr val="1E1E1E"/>
                </a:solidFill>
                <a:latin typeface="思源黑体 2 Bold"/>
                <a:ea typeface="思源黑体 2 Bold"/>
                <a:cs typeface="思源黑体 2 Bold"/>
                <a:sym typeface="思源黑体 2 Bold"/>
              </a:rPr>
              <a:t>/</a:t>
            </a:r>
            <a:r>
              <a:rPr lang="zh-CN" altLang="en-US" sz="4000" b="1">
                <a:solidFill>
                  <a:srgbClr val="1E1E1E"/>
                </a:solidFill>
                <a:latin typeface="思源黑体 2 Bold"/>
                <a:ea typeface="思源黑体 2 Bold"/>
                <a:cs typeface="思源黑体 2 Bold"/>
                <a:sym typeface="思源黑体 2 Bold"/>
              </a:rPr>
              <a:t>删除</a:t>
            </a:r>
            <a:endParaRPr lang="en-US" sz="4000" b="1">
              <a:solidFill>
                <a:srgbClr val="1E1E1E"/>
              </a:solidFill>
              <a:latin typeface="思源黑体 2 Bold"/>
              <a:ea typeface="思源黑体 2 Bold"/>
              <a:cs typeface="思源黑体 2 Bold"/>
              <a:sym typeface="思源黑体 2 Bold"/>
            </a:endParaRPr>
          </a:p>
        </p:txBody>
      </p:sp>
      <p:sp>
        <p:nvSpPr>
          <p:cNvPr id="89" name="TextBox 44">
            <a:extLst>
              <a:ext uri="{FF2B5EF4-FFF2-40B4-BE49-F238E27FC236}">
                <a16:creationId xmlns:a16="http://schemas.microsoft.com/office/drawing/2014/main" id="{16BCDE45-7CCD-6A86-488E-B1BEDDD69D0A}"/>
              </a:ext>
            </a:extLst>
          </p:cNvPr>
          <p:cNvSpPr txBox="1"/>
          <p:nvPr/>
        </p:nvSpPr>
        <p:spPr>
          <a:xfrm>
            <a:off x="1065681" y="7265819"/>
            <a:ext cx="15366698" cy="389145"/>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会话新建</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切换</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删除，</a:t>
            </a:r>
            <a:r>
              <a:rPr lang="en-US" altLang="zh-CN" sz="3600">
                <a:solidFill>
                  <a:srgbClr val="1E1E1E"/>
                </a:solidFill>
                <a:latin typeface="思源黑体 2"/>
                <a:ea typeface="思源黑体 2"/>
                <a:cs typeface="思源黑体 2"/>
                <a:sym typeface="思源黑体 2"/>
              </a:rPr>
              <a:t>JSON </a:t>
            </a:r>
            <a:r>
              <a:rPr lang="zh-CN" altLang="en-US" sz="3600">
                <a:solidFill>
                  <a:srgbClr val="1E1E1E"/>
                </a:solidFill>
                <a:latin typeface="思源黑体 2"/>
                <a:ea typeface="思源黑体 2"/>
                <a:cs typeface="思源黑体 2"/>
                <a:sym typeface="思源黑体 2"/>
              </a:rPr>
              <a:t>本地持久化，刷新不丢失</a:t>
            </a:r>
            <a:endParaRPr lang="en-US" sz="3600">
              <a:solidFill>
                <a:srgbClr val="1E1E1E"/>
              </a:solidFill>
              <a:latin typeface="思源黑体 2"/>
              <a:ea typeface="思源黑体 2"/>
              <a:cs typeface="思源黑体 2"/>
              <a:sym typeface="思源黑体 2"/>
            </a:endParaRPr>
          </a:p>
        </p:txBody>
      </p:sp>
      <p:sp>
        <p:nvSpPr>
          <p:cNvPr id="91" name="TextBox 45">
            <a:extLst>
              <a:ext uri="{FF2B5EF4-FFF2-40B4-BE49-F238E27FC236}">
                <a16:creationId xmlns:a16="http://schemas.microsoft.com/office/drawing/2014/main" id="{DE5A886F-7F15-58F8-3020-C7EB4EE2D87D}"/>
              </a:ext>
            </a:extLst>
          </p:cNvPr>
          <p:cNvSpPr txBox="1"/>
          <p:nvPr/>
        </p:nvSpPr>
        <p:spPr>
          <a:xfrm>
            <a:off x="1065681" y="6459197"/>
            <a:ext cx="509798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对话历史管理</a:t>
            </a:r>
            <a:endParaRPr lang="en-US" sz="4000" b="1">
              <a:solidFill>
                <a:srgbClr val="1E1E1E"/>
              </a:solidFill>
              <a:latin typeface="思源黑体 2 Bold"/>
              <a:ea typeface="思源黑体 2 Bold"/>
              <a:cs typeface="思源黑体 2 Bold"/>
              <a:sym typeface="思源黑体 2 Bold"/>
            </a:endParaRPr>
          </a:p>
        </p:txBody>
      </p:sp>
      <p:sp>
        <p:nvSpPr>
          <p:cNvPr id="93" name="TextBox 44">
            <a:extLst>
              <a:ext uri="{FF2B5EF4-FFF2-40B4-BE49-F238E27FC236}">
                <a16:creationId xmlns:a16="http://schemas.microsoft.com/office/drawing/2014/main" id="{86E4A9CA-A631-2720-E097-B8398D3F5667}"/>
              </a:ext>
            </a:extLst>
          </p:cNvPr>
          <p:cNvSpPr txBox="1"/>
          <p:nvPr/>
        </p:nvSpPr>
        <p:spPr>
          <a:xfrm>
            <a:off x="1065681" y="5827687"/>
            <a:ext cx="15982704" cy="389145"/>
          </a:xfrm>
          <a:prstGeom prst="rect">
            <a:avLst/>
          </a:prstGeom>
        </p:spPr>
        <p:txBody>
          <a:bodyPr wrap="square" lIns="0" tIns="0" rIns="0" bIns="0" rtlCol="0" anchor="t">
            <a:spAutoFit/>
          </a:bodyPr>
          <a:lstStyle/>
          <a:p>
            <a:pPr algn="just">
              <a:lnSpc>
                <a:spcPts val="2856"/>
              </a:lnSpc>
            </a:pPr>
            <a:r>
              <a:rPr lang="en-US" altLang="zh-CN" sz="3600">
                <a:solidFill>
                  <a:srgbClr val="1E1E1E"/>
                </a:solidFill>
                <a:latin typeface="思源黑体 2"/>
                <a:ea typeface="思源黑体 2"/>
                <a:cs typeface="思源黑体 2"/>
                <a:sym typeface="思源黑体 2"/>
              </a:rPr>
              <a:t>Thought→Action→Observation </a:t>
            </a:r>
            <a:r>
              <a:rPr lang="zh-CN" altLang="en-US" sz="3600">
                <a:solidFill>
                  <a:srgbClr val="1E1E1E"/>
                </a:solidFill>
                <a:latin typeface="思源黑体 2"/>
                <a:ea typeface="思源黑体 2"/>
                <a:cs typeface="思源黑体 2"/>
                <a:sym typeface="思源黑体 2"/>
              </a:rPr>
              <a:t>轨迹树，工具入参可展开</a:t>
            </a:r>
            <a:endParaRPr lang="en-US" sz="3600">
              <a:solidFill>
                <a:srgbClr val="1E1E1E"/>
              </a:solidFill>
              <a:latin typeface="思源黑体 2"/>
              <a:ea typeface="思源黑体 2"/>
              <a:cs typeface="思源黑体 2"/>
              <a:sym typeface="思源黑体 2"/>
            </a:endParaRPr>
          </a:p>
        </p:txBody>
      </p:sp>
      <p:sp>
        <p:nvSpPr>
          <p:cNvPr id="95" name="TextBox 45">
            <a:extLst>
              <a:ext uri="{FF2B5EF4-FFF2-40B4-BE49-F238E27FC236}">
                <a16:creationId xmlns:a16="http://schemas.microsoft.com/office/drawing/2014/main" id="{7BFEE929-EFB9-1FD8-DCC8-1651036B50A5}"/>
              </a:ext>
            </a:extLst>
          </p:cNvPr>
          <p:cNvSpPr txBox="1"/>
          <p:nvPr/>
        </p:nvSpPr>
        <p:spPr>
          <a:xfrm>
            <a:off x="1065681" y="5021065"/>
            <a:ext cx="5097988"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右侧：轨迹树</a:t>
            </a:r>
            <a:endParaRPr lang="en-US" sz="4000" b="1">
              <a:solidFill>
                <a:srgbClr val="1E1E1E"/>
              </a:solidFill>
              <a:latin typeface="思源黑体 2 Bold"/>
              <a:ea typeface="思源黑体 2 Bold"/>
              <a:cs typeface="思源黑体 2 Bold"/>
              <a:sym typeface="思源黑体 2 Bold"/>
            </a:endParaRPr>
          </a:p>
        </p:txBody>
      </p:sp>
      <p:sp>
        <p:nvSpPr>
          <p:cNvPr id="97" name="TextBox 44">
            <a:extLst>
              <a:ext uri="{FF2B5EF4-FFF2-40B4-BE49-F238E27FC236}">
                <a16:creationId xmlns:a16="http://schemas.microsoft.com/office/drawing/2014/main" id="{A47509AA-177B-6343-C0E3-F19C903D6380}"/>
              </a:ext>
            </a:extLst>
          </p:cNvPr>
          <p:cNvSpPr txBox="1"/>
          <p:nvPr/>
        </p:nvSpPr>
        <p:spPr>
          <a:xfrm>
            <a:off x="1065680" y="4389555"/>
            <a:ext cx="16128695" cy="387991"/>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手写 </a:t>
            </a:r>
            <a:r>
              <a:rPr lang="en-US" altLang="zh-CN" sz="3600">
                <a:solidFill>
                  <a:srgbClr val="1E1E1E"/>
                </a:solidFill>
                <a:latin typeface="思源黑体 2"/>
                <a:ea typeface="思源黑体 2"/>
                <a:cs typeface="思源黑体 2"/>
                <a:sym typeface="思源黑体 2"/>
              </a:rPr>
              <a:t>SSE </a:t>
            </a:r>
            <a:r>
              <a:rPr lang="zh-CN" altLang="en-US" sz="3600">
                <a:solidFill>
                  <a:srgbClr val="1E1E1E"/>
                </a:solidFill>
                <a:latin typeface="思源黑体 2"/>
                <a:ea typeface="思源黑体 2"/>
                <a:cs typeface="思源黑体 2"/>
                <a:sym typeface="思源黑体 2"/>
              </a:rPr>
              <a:t>流式解析，节流打字机输出；引用标记实时转 📎 徽章</a:t>
            </a:r>
            <a:endParaRPr lang="en-US" sz="3600">
              <a:solidFill>
                <a:srgbClr val="1E1E1E"/>
              </a:solidFill>
              <a:latin typeface="思源黑体 2"/>
              <a:ea typeface="思源黑体 2"/>
              <a:cs typeface="思源黑体 2"/>
              <a:sym typeface="思源黑体 2"/>
            </a:endParaRPr>
          </a:p>
        </p:txBody>
      </p:sp>
      <p:sp>
        <p:nvSpPr>
          <p:cNvPr id="99" name="TextBox 45">
            <a:extLst>
              <a:ext uri="{FF2B5EF4-FFF2-40B4-BE49-F238E27FC236}">
                <a16:creationId xmlns:a16="http://schemas.microsoft.com/office/drawing/2014/main" id="{3CC7DE32-FB73-C1B1-7585-E4FFC0F42C3F}"/>
              </a:ext>
            </a:extLst>
          </p:cNvPr>
          <p:cNvSpPr txBox="1"/>
          <p:nvPr/>
        </p:nvSpPr>
        <p:spPr>
          <a:xfrm>
            <a:off x="1065680" y="3582933"/>
            <a:ext cx="11278719"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中央：流式打字机</a:t>
            </a:r>
            <a:r>
              <a:rPr lang="en-US" altLang="zh-CN" sz="4000" b="1">
                <a:solidFill>
                  <a:srgbClr val="1E1E1E"/>
                </a:solidFill>
                <a:latin typeface="思源黑体 2 Bold"/>
                <a:ea typeface="思源黑体 2 Bold"/>
                <a:cs typeface="思源黑体 2 Bold"/>
                <a:sym typeface="思源黑体 2 Bold"/>
              </a:rPr>
              <a:t>/Markdown/</a:t>
            </a:r>
            <a:r>
              <a:rPr lang="zh-CN" altLang="en-US" sz="4000" b="1">
                <a:solidFill>
                  <a:srgbClr val="1E1E1E"/>
                </a:solidFill>
                <a:latin typeface="思源黑体 2 Bold"/>
                <a:ea typeface="思源黑体 2 Bold"/>
                <a:cs typeface="思源黑体 2 Bold"/>
                <a:sym typeface="思源黑体 2 Bold"/>
              </a:rPr>
              <a:t>引用标记</a:t>
            </a:r>
            <a:endParaRPr lang="en-US" sz="4000" b="1">
              <a:solidFill>
                <a:srgbClr val="1E1E1E"/>
              </a:solidFill>
              <a:latin typeface="思源黑体 2 Bold"/>
              <a:ea typeface="思源黑体 2 Bold"/>
              <a:cs typeface="思源黑体 2 Bold"/>
              <a:sym typeface="思源黑体 2 Bold"/>
            </a:endParaRPr>
          </a:p>
        </p:txBody>
      </p:sp>
      <p:sp>
        <p:nvSpPr>
          <p:cNvPr id="16" name="TextBox 44">
            <a:extLst>
              <a:ext uri="{FF2B5EF4-FFF2-40B4-BE49-F238E27FC236}">
                <a16:creationId xmlns:a16="http://schemas.microsoft.com/office/drawing/2014/main" id="{4FEDA01C-78C8-196D-7574-3EF81B12ED12}"/>
              </a:ext>
            </a:extLst>
          </p:cNvPr>
          <p:cNvSpPr txBox="1"/>
          <p:nvPr/>
        </p:nvSpPr>
        <p:spPr>
          <a:xfrm>
            <a:off x="1052830" y="8703951"/>
            <a:ext cx="15366698" cy="389145"/>
          </a:xfrm>
          <a:prstGeom prst="rect">
            <a:avLst/>
          </a:prstGeom>
        </p:spPr>
        <p:txBody>
          <a:bodyPr wrap="square" lIns="0" tIns="0" rIns="0" bIns="0" rtlCol="0" anchor="t">
            <a:spAutoFit/>
          </a:bodyPr>
          <a:lstStyle/>
          <a:p>
            <a:pPr algn="just">
              <a:lnSpc>
                <a:spcPts val="2856"/>
              </a:lnSpc>
            </a:pPr>
            <a:r>
              <a:rPr lang="zh-CN" altLang="en-US" sz="3600">
                <a:solidFill>
                  <a:srgbClr val="1E1E1E"/>
                </a:solidFill>
                <a:latin typeface="思源黑体 2"/>
                <a:ea typeface="思源黑体 2"/>
                <a:cs typeface="思源黑体 2"/>
                <a:sym typeface="思源黑体 2"/>
              </a:rPr>
              <a:t>文档列表</a:t>
            </a:r>
            <a:r>
              <a:rPr lang="en-US" altLang="zh-CN" sz="3600">
                <a:solidFill>
                  <a:srgbClr val="1E1E1E"/>
                </a:solidFill>
                <a:latin typeface="思源黑体 2"/>
                <a:ea typeface="思源黑体 2"/>
                <a:cs typeface="思源黑体 2"/>
                <a:sym typeface="思源黑体 2"/>
              </a:rPr>
              <a:t>+</a:t>
            </a:r>
            <a:r>
              <a:rPr lang="zh-CN" altLang="en-US" sz="3600">
                <a:solidFill>
                  <a:srgbClr val="1E1E1E"/>
                </a:solidFill>
                <a:latin typeface="思源黑体 2"/>
                <a:ea typeface="思源黑体 2"/>
                <a:cs typeface="思源黑体 2"/>
                <a:sym typeface="思源黑体 2"/>
              </a:rPr>
              <a:t>向量化状态实时可查，与索引数据联动</a:t>
            </a:r>
            <a:endParaRPr lang="en-US" sz="3600">
              <a:solidFill>
                <a:srgbClr val="1E1E1E"/>
              </a:solidFill>
              <a:latin typeface="思源黑体 2"/>
              <a:ea typeface="思源黑体 2"/>
              <a:cs typeface="思源黑体 2"/>
              <a:sym typeface="思源黑体 2"/>
            </a:endParaRPr>
          </a:p>
        </p:txBody>
      </p:sp>
      <p:sp>
        <p:nvSpPr>
          <p:cNvPr id="25" name="TextBox 45">
            <a:extLst>
              <a:ext uri="{FF2B5EF4-FFF2-40B4-BE49-F238E27FC236}">
                <a16:creationId xmlns:a16="http://schemas.microsoft.com/office/drawing/2014/main" id="{E7393224-D638-4F31-13EE-478642FA2B4C}"/>
              </a:ext>
            </a:extLst>
          </p:cNvPr>
          <p:cNvSpPr txBox="1"/>
          <p:nvPr/>
        </p:nvSpPr>
        <p:spPr>
          <a:xfrm>
            <a:off x="1052829" y="7897329"/>
            <a:ext cx="9691365" cy="564257"/>
          </a:xfrm>
          <a:prstGeom prst="rect">
            <a:avLst/>
          </a:prstGeom>
        </p:spPr>
        <p:txBody>
          <a:bodyPr wrap="square" lIns="0" tIns="0" rIns="0" bIns="0" rtlCol="0" anchor="t">
            <a:spAutoFit/>
          </a:bodyPr>
          <a:lstStyle/>
          <a:p>
            <a:pPr algn="l">
              <a:lnSpc>
                <a:spcPts val="4368"/>
              </a:lnSpc>
            </a:pPr>
            <a:r>
              <a:rPr lang="zh-CN" altLang="en-US" sz="4000" b="1">
                <a:solidFill>
                  <a:srgbClr val="1E1E1E"/>
                </a:solidFill>
                <a:latin typeface="思源黑体 2 Bold"/>
                <a:ea typeface="思源黑体 2 Bold"/>
                <a:cs typeface="思源黑体 2 Bold"/>
                <a:sym typeface="思源黑体 2 Bold"/>
              </a:rPr>
              <a:t>知识库面板（列表</a:t>
            </a:r>
            <a:r>
              <a:rPr lang="en-US" altLang="zh-CN" sz="4000" b="1">
                <a:solidFill>
                  <a:srgbClr val="1E1E1E"/>
                </a:solidFill>
                <a:latin typeface="思源黑体 2 Bold"/>
                <a:ea typeface="思源黑体 2 Bold"/>
                <a:cs typeface="思源黑体 2 Bold"/>
                <a:sym typeface="思源黑体 2 Bold"/>
              </a:rPr>
              <a:t>+</a:t>
            </a:r>
            <a:r>
              <a:rPr lang="zh-CN" altLang="en-US" sz="4000" b="1">
                <a:solidFill>
                  <a:srgbClr val="1E1E1E"/>
                </a:solidFill>
                <a:latin typeface="思源黑体 2 Bold"/>
                <a:ea typeface="思源黑体 2 Bold"/>
                <a:cs typeface="思源黑体 2 Bold"/>
                <a:sym typeface="思源黑体 2 Bold"/>
              </a:rPr>
              <a:t>向量化状态）</a:t>
            </a:r>
            <a:endParaRPr lang="en-US" sz="4000" b="1">
              <a:solidFill>
                <a:srgbClr val="1E1E1E"/>
              </a:solidFill>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4231398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6405-F3B3-B2DB-3A3D-BCB83D0EDAD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DD7360-F413-B8C5-7364-85295A526F7A}"/>
              </a:ext>
            </a:extLst>
          </p:cNvPr>
          <p:cNvSpPr txBox="1"/>
          <p:nvPr/>
        </p:nvSpPr>
        <p:spPr>
          <a:xfrm>
            <a:off x="1221327" y="791367"/>
            <a:ext cx="7439465" cy="795089"/>
          </a:xfrm>
          <a:prstGeom prst="rect">
            <a:avLst/>
          </a:prstGeom>
        </p:spPr>
        <p:txBody>
          <a:bodyPr wrap="square"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前端界面开发</a:t>
            </a:r>
          </a:p>
        </p:txBody>
      </p:sp>
      <p:grpSp>
        <p:nvGrpSpPr>
          <p:cNvPr id="4" name="Group 4">
            <a:extLst>
              <a:ext uri="{FF2B5EF4-FFF2-40B4-BE49-F238E27FC236}">
                <a16:creationId xmlns:a16="http://schemas.microsoft.com/office/drawing/2014/main" id="{546780E3-DBE7-F2C7-D5CE-E35CFA1F14AA}"/>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E0B9281B-E0F5-D82C-066A-4682F34DF16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D0BE96BF-AD81-9CAA-1F8A-300A0993677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476A32C5-D3A9-F72A-B0CD-8F1271099325}"/>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AC3AEFD8-7E9A-D649-BE64-03ADD526C114}"/>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B0DF16A3-2F3A-A5DE-6C44-6060535E38D2}"/>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4F60BB1E-115D-9FD3-2195-245AC1370E88}"/>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593CD51C-8D2E-9AA5-C556-3486451D60B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C8F13DA2-2765-BE1B-06A0-0109309665E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7465C0C8-C9E7-919F-FE7C-3351B63ECBF4}"/>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AB7668EE-15D7-D8E4-8D4C-C487A3F804D7}"/>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F8F4D791-4D10-1DF1-7094-9402ED11134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C7CD4EE7-3D0D-EE4E-329A-55234208733E}"/>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B237505C-B955-02F6-3E16-F05E4C5C3CD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86C6B935-C8E3-10E1-121C-5312443DAF24}"/>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D9B0806C-0450-82BC-1E1B-2AA7DE6DBA42}"/>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AD16B1CF-45D0-9FC1-82D6-319A935EE6BD}"/>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38C370D1-FAFE-DA22-CC7D-A753C83EB4CE}"/>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a:extLst>
              <a:ext uri="{FF2B5EF4-FFF2-40B4-BE49-F238E27FC236}">
                <a16:creationId xmlns:a16="http://schemas.microsoft.com/office/drawing/2014/main" id="{75191AC1-D916-E517-E757-8D8002FE91F8}"/>
              </a:ext>
            </a:extLst>
          </p:cNvPr>
          <p:cNvSpPr/>
          <p:nvPr/>
        </p:nvSpPr>
        <p:spPr>
          <a:xfrm flipH="1" flipV="1">
            <a:off x="794524" y="2773840"/>
            <a:ext cx="0" cy="6019801"/>
          </a:xfrm>
          <a:prstGeom prst="line">
            <a:avLst/>
          </a:prstGeom>
          <a:ln w="19050" cap="flat">
            <a:solidFill>
              <a:srgbClr val="263D6D"/>
            </a:solidFill>
            <a:prstDash val="sysDot"/>
            <a:headEnd type="none" w="sm" len="sm"/>
            <a:tailEnd type="none" w="sm" len="sm"/>
          </a:ln>
        </p:spPr>
      </p:sp>
      <p:sp>
        <p:nvSpPr>
          <p:cNvPr id="27" name="TextBox 27">
            <a:extLst>
              <a:ext uri="{FF2B5EF4-FFF2-40B4-BE49-F238E27FC236}">
                <a16:creationId xmlns:a16="http://schemas.microsoft.com/office/drawing/2014/main" id="{7BE3F1C3-695D-F233-F51A-6B8B5291519E}"/>
              </a:ext>
            </a:extLst>
          </p:cNvPr>
          <p:cNvSpPr txBox="1"/>
          <p:nvPr/>
        </p:nvSpPr>
        <p:spPr>
          <a:xfrm>
            <a:off x="1610751" y="3201643"/>
            <a:ext cx="716973" cy="915699"/>
          </a:xfrm>
          <a:prstGeom prst="rect">
            <a:avLst/>
          </a:prstGeom>
        </p:spPr>
        <p:txBody>
          <a:bodyPr lIns="71897" tIns="71897" rIns="71897" bIns="71897" rtlCol="0" anchor="ctr"/>
          <a:lstStyle/>
          <a:p>
            <a:pPr algn="ctr">
              <a:lnSpc>
                <a:spcPts val="3107"/>
              </a:lnSpc>
            </a:pPr>
            <a:endParaRPr sz="2800"/>
          </a:p>
        </p:txBody>
      </p:sp>
      <p:grpSp>
        <p:nvGrpSpPr>
          <p:cNvPr id="34" name="Group 34">
            <a:extLst>
              <a:ext uri="{FF2B5EF4-FFF2-40B4-BE49-F238E27FC236}">
                <a16:creationId xmlns:a16="http://schemas.microsoft.com/office/drawing/2014/main" id="{0C79C1F9-7D25-99BB-A926-CBF4FB6541EC}"/>
              </a:ext>
            </a:extLst>
          </p:cNvPr>
          <p:cNvGrpSpPr/>
          <p:nvPr/>
        </p:nvGrpSpPr>
        <p:grpSpPr>
          <a:xfrm>
            <a:off x="673657" y="4392982"/>
            <a:ext cx="245606" cy="245606"/>
            <a:chOff x="0" y="0"/>
            <a:chExt cx="812800" cy="812800"/>
          </a:xfrm>
        </p:grpSpPr>
        <p:sp>
          <p:nvSpPr>
            <p:cNvPr id="35" name="Freeform 35">
              <a:extLst>
                <a:ext uri="{FF2B5EF4-FFF2-40B4-BE49-F238E27FC236}">
                  <a16:creationId xmlns:a16="http://schemas.microsoft.com/office/drawing/2014/main" id="{D32EEA0C-A880-33D8-BBB2-2DA8889102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a:extLst>
                <a:ext uri="{FF2B5EF4-FFF2-40B4-BE49-F238E27FC236}">
                  <a16:creationId xmlns:a16="http://schemas.microsoft.com/office/drawing/2014/main" id="{E90B1C26-86C2-541F-9CD1-CD14CC0F474C}"/>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grpSp>
        <p:nvGrpSpPr>
          <p:cNvPr id="37" name="Group 37">
            <a:extLst>
              <a:ext uri="{FF2B5EF4-FFF2-40B4-BE49-F238E27FC236}">
                <a16:creationId xmlns:a16="http://schemas.microsoft.com/office/drawing/2014/main" id="{41230C7A-5706-8EFC-3353-5407C7F12A7F}"/>
              </a:ext>
            </a:extLst>
          </p:cNvPr>
          <p:cNvGrpSpPr/>
          <p:nvPr/>
        </p:nvGrpSpPr>
        <p:grpSpPr>
          <a:xfrm>
            <a:off x="673657" y="6579940"/>
            <a:ext cx="245606" cy="245606"/>
            <a:chOff x="0" y="0"/>
            <a:chExt cx="812800" cy="812800"/>
          </a:xfrm>
        </p:grpSpPr>
        <p:sp>
          <p:nvSpPr>
            <p:cNvPr id="38" name="Freeform 38">
              <a:extLst>
                <a:ext uri="{FF2B5EF4-FFF2-40B4-BE49-F238E27FC236}">
                  <a16:creationId xmlns:a16="http://schemas.microsoft.com/office/drawing/2014/main" id="{E39878C1-5B2B-AD6B-23DB-99B5C0E285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a:extLst>
                <a:ext uri="{FF2B5EF4-FFF2-40B4-BE49-F238E27FC236}">
                  <a16:creationId xmlns:a16="http://schemas.microsoft.com/office/drawing/2014/main" id="{E1A4928D-6EC8-1E09-0BAE-6DA044E9CB3E}"/>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41" name="Freeform 41">
            <a:extLst>
              <a:ext uri="{FF2B5EF4-FFF2-40B4-BE49-F238E27FC236}">
                <a16:creationId xmlns:a16="http://schemas.microsoft.com/office/drawing/2014/main" id="{6902C3BE-BBF2-0C84-04F1-E4C8186DFF0B}"/>
              </a:ext>
            </a:extLst>
          </p:cNvPr>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a:extLst>
              <a:ext uri="{FF2B5EF4-FFF2-40B4-BE49-F238E27FC236}">
                <a16:creationId xmlns:a16="http://schemas.microsoft.com/office/drawing/2014/main" id="{A1DC3684-0E57-F2A1-7BBF-421C6EDAE374}"/>
              </a:ext>
            </a:extLst>
          </p:cNvPr>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TextBox 44">
            <a:extLst>
              <a:ext uri="{FF2B5EF4-FFF2-40B4-BE49-F238E27FC236}">
                <a16:creationId xmlns:a16="http://schemas.microsoft.com/office/drawing/2014/main" id="{CED195AF-8192-AE5A-B9D4-FDE422ACF116}"/>
              </a:ext>
            </a:extLst>
          </p:cNvPr>
          <p:cNvSpPr txBox="1"/>
          <p:nvPr/>
        </p:nvSpPr>
        <p:spPr>
          <a:xfrm>
            <a:off x="1065681" y="2951423"/>
            <a:ext cx="15950596"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多选批量上传，解析→分块→向量化逐项进度，状态徽标</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删除</a:t>
            </a:r>
            <a:endParaRPr lang="en-US" sz="2800">
              <a:solidFill>
                <a:srgbClr val="1E1E1E"/>
              </a:solidFill>
              <a:latin typeface="思源黑体 2"/>
              <a:ea typeface="思源黑体 2"/>
              <a:cs typeface="思源黑体 2"/>
              <a:sym typeface="思源黑体 2"/>
            </a:endParaRPr>
          </a:p>
        </p:txBody>
      </p:sp>
      <p:grpSp>
        <p:nvGrpSpPr>
          <p:cNvPr id="71" name="Group 34">
            <a:extLst>
              <a:ext uri="{FF2B5EF4-FFF2-40B4-BE49-F238E27FC236}">
                <a16:creationId xmlns:a16="http://schemas.microsoft.com/office/drawing/2014/main" id="{828979DC-1E7F-3283-3E70-9852B1758FCE}"/>
              </a:ext>
            </a:extLst>
          </p:cNvPr>
          <p:cNvGrpSpPr/>
          <p:nvPr/>
        </p:nvGrpSpPr>
        <p:grpSpPr>
          <a:xfrm>
            <a:off x="673657" y="5486461"/>
            <a:ext cx="245606" cy="245606"/>
            <a:chOff x="0" y="0"/>
            <a:chExt cx="812800" cy="812800"/>
          </a:xfrm>
        </p:grpSpPr>
        <p:sp>
          <p:nvSpPr>
            <p:cNvPr id="72" name="Freeform 35">
              <a:extLst>
                <a:ext uri="{FF2B5EF4-FFF2-40B4-BE49-F238E27FC236}">
                  <a16:creationId xmlns:a16="http://schemas.microsoft.com/office/drawing/2014/main" id="{3B36595E-D810-B130-3C0E-3A1E2A83B7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73" name="TextBox 36">
              <a:extLst>
                <a:ext uri="{FF2B5EF4-FFF2-40B4-BE49-F238E27FC236}">
                  <a16:creationId xmlns:a16="http://schemas.microsoft.com/office/drawing/2014/main" id="{8B96A95F-7144-F3ED-CE23-52954C699530}"/>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75" name="TextBox 45">
            <a:extLst>
              <a:ext uri="{FF2B5EF4-FFF2-40B4-BE49-F238E27FC236}">
                <a16:creationId xmlns:a16="http://schemas.microsoft.com/office/drawing/2014/main" id="{6E70DC28-1768-4213-B20C-D594B797CE8E}"/>
              </a:ext>
            </a:extLst>
          </p:cNvPr>
          <p:cNvSpPr txBox="1"/>
          <p:nvPr/>
        </p:nvSpPr>
        <p:spPr>
          <a:xfrm>
            <a:off x="1065681" y="2144801"/>
            <a:ext cx="828009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左侧：批量上传</a:t>
            </a:r>
            <a:r>
              <a:rPr lang="en-US" altLang="zh-CN" sz="3200" b="1">
                <a:solidFill>
                  <a:srgbClr val="1E1E1E"/>
                </a:solidFill>
                <a:latin typeface="思源黑体 2 Bold"/>
                <a:ea typeface="思源黑体 2 Bold"/>
                <a:cs typeface="思源黑体 2 Bold"/>
                <a:sym typeface="思源黑体 2 Bold"/>
              </a:rPr>
              <a:t>/</a:t>
            </a:r>
            <a:r>
              <a:rPr lang="zh-CN" altLang="en-US" sz="3200" b="1">
                <a:solidFill>
                  <a:srgbClr val="1E1E1E"/>
                </a:solidFill>
                <a:latin typeface="思源黑体 2 Bold"/>
                <a:ea typeface="思源黑体 2 Bold"/>
                <a:cs typeface="思源黑体 2 Bold"/>
                <a:sym typeface="思源黑体 2 Bold"/>
              </a:rPr>
              <a:t>进度</a:t>
            </a:r>
            <a:r>
              <a:rPr lang="en-US" altLang="zh-CN" sz="3200" b="1">
                <a:solidFill>
                  <a:srgbClr val="1E1E1E"/>
                </a:solidFill>
                <a:latin typeface="思源黑体 2 Bold"/>
                <a:ea typeface="思源黑体 2 Bold"/>
                <a:cs typeface="思源黑体 2 Bold"/>
                <a:sym typeface="思源黑体 2 Bold"/>
              </a:rPr>
              <a:t>/</a:t>
            </a:r>
            <a:r>
              <a:rPr lang="zh-CN" altLang="en-US" sz="3200" b="1">
                <a:solidFill>
                  <a:srgbClr val="1E1E1E"/>
                </a:solidFill>
                <a:latin typeface="思源黑体 2 Bold"/>
                <a:ea typeface="思源黑体 2 Bold"/>
                <a:cs typeface="思源黑体 2 Bold"/>
                <a:sym typeface="思源黑体 2 Bold"/>
              </a:rPr>
              <a:t>列表</a:t>
            </a:r>
            <a:r>
              <a:rPr lang="en-US" altLang="zh-CN" sz="3200" b="1">
                <a:solidFill>
                  <a:srgbClr val="1E1E1E"/>
                </a:solidFill>
                <a:latin typeface="思源黑体 2 Bold"/>
                <a:ea typeface="思源黑体 2 Bold"/>
                <a:cs typeface="思源黑体 2 Bold"/>
                <a:sym typeface="思源黑体 2 Bold"/>
              </a:rPr>
              <a:t>/</a:t>
            </a:r>
            <a:r>
              <a:rPr lang="zh-CN" altLang="en-US" sz="3200" b="1">
                <a:solidFill>
                  <a:srgbClr val="1E1E1E"/>
                </a:solidFill>
                <a:latin typeface="思源黑体 2 Bold"/>
                <a:ea typeface="思源黑体 2 Bold"/>
                <a:cs typeface="思源黑体 2 Bold"/>
                <a:sym typeface="思源黑体 2 Bold"/>
              </a:rPr>
              <a:t>删除</a:t>
            </a:r>
            <a:endParaRPr lang="en-US" sz="3200" b="1">
              <a:solidFill>
                <a:srgbClr val="1E1E1E"/>
              </a:solidFill>
              <a:latin typeface="思源黑体 2 Bold"/>
              <a:ea typeface="思源黑体 2 Bold"/>
              <a:cs typeface="思源黑体 2 Bold"/>
              <a:sym typeface="思源黑体 2 Bold"/>
            </a:endParaRPr>
          </a:p>
        </p:txBody>
      </p:sp>
      <p:sp>
        <p:nvSpPr>
          <p:cNvPr id="89" name="TextBox 44">
            <a:extLst>
              <a:ext uri="{FF2B5EF4-FFF2-40B4-BE49-F238E27FC236}">
                <a16:creationId xmlns:a16="http://schemas.microsoft.com/office/drawing/2014/main" id="{08C37614-D7E9-D176-C3A0-BBBE6F65991A}"/>
              </a:ext>
            </a:extLst>
          </p:cNvPr>
          <p:cNvSpPr txBox="1"/>
          <p:nvPr/>
        </p:nvSpPr>
        <p:spPr>
          <a:xfrm>
            <a:off x="1065681" y="7265819"/>
            <a:ext cx="15366698"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会话新建</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切换</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删除，</a:t>
            </a:r>
            <a:r>
              <a:rPr lang="en-US" altLang="zh-CN" sz="2800">
                <a:solidFill>
                  <a:srgbClr val="1E1E1E"/>
                </a:solidFill>
                <a:latin typeface="思源黑体 2"/>
                <a:ea typeface="思源黑体 2"/>
                <a:cs typeface="思源黑体 2"/>
                <a:sym typeface="思源黑体 2"/>
              </a:rPr>
              <a:t>JSON </a:t>
            </a:r>
            <a:r>
              <a:rPr lang="zh-CN" altLang="en-US" sz="2800">
                <a:solidFill>
                  <a:srgbClr val="1E1E1E"/>
                </a:solidFill>
                <a:latin typeface="思源黑体 2"/>
                <a:ea typeface="思源黑体 2"/>
                <a:cs typeface="思源黑体 2"/>
                <a:sym typeface="思源黑体 2"/>
              </a:rPr>
              <a:t>本地持久化，刷新不丢失</a:t>
            </a:r>
            <a:endParaRPr lang="en-US" sz="2800">
              <a:solidFill>
                <a:srgbClr val="1E1E1E"/>
              </a:solidFill>
              <a:latin typeface="思源黑体 2"/>
              <a:ea typeface="思源黑体 2"/>
              <a:cs typeface="思源黑体 2"/>
              <a:sym typeface="思源黑体 2"/>
            </a:endParaRPr>
          </a:p>
        </p:txBody>
      </p:sp>
      <p:sp>
        <p:nvSpPr>
          <p:cNvPr id="91" name="TextBox 45">
            <a:extLst>
              <a:ext uri="{FF2B5EF4-FFF2-40B4-BE49-F238E27FC236}">
                <a16:creationId xmlns:a16="http://schemas.microsoft.com/office/drawing/2014/main" id="{1D5535F1-07A5-143F-6DCE-7433040C9B94}"/>
              </a:ext>
            </a:extLst>
          </p:cNvPr>
          <p:cNvSpPr txBox="1"/>
          <p:nvPr/>
        </p:nvSpPr>
        <p:spPr>
          <a:xfrm>
            <a:off x="1065681" y="6459197"/>
            <a:ext cx="509798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对话历史管理</a:t>
            </a:r>
            <a:endParaRPr lang="en-US" sz="3200" b="1">
              <a:solidFill>
                <a:srgbClr val="1E1E1E"/>
              </a:solidFill>
              <a:latin typeface="思源黑体 2 Bold"/>
              <a:ea typeface="思源黑体 2 Bold"/>
              <a:cs typeface="思源黑体 2 Bold"/>
              <a:sym typeface="思源黑体 2 Bold"/>
            </a:endParaRPr>
          </a:p>
        </p:txBody>
      </p:sp>
      <p:sp>
        <p:nvSpPr>
          <p:cNvPr id="93" name="TextBox 44">
            <a:extLst>
              <a:ext uri="{FF2B5EF4-FFF2-40B4-BE49-F238E27FC236}">
                <a16:creationId xmlns:a16="http://schemas.microsoft.com/office/drawing/2014/main" id="{CE733146-75E1-F71E-AB80-27DEA1128D7B}"/>
              </a:ext>
            </a:extLst>
          </p:cNvPr>
          <p:cNvSpPr txBox="1"/>
          <p:nvPr/>
        </p:nvSpPr>
        <p:spPr>
          <a:xfrm>
            <a:off x="1065681" y="5827687"/>
            <a:ext cx="15982704" cy="371897"/>
          </a:xfrm>
          <a:prstGeom prst="rect">
            <a:avLst/>
          </a:prstGeom>
        </p:spPr>
        <p:txBody>
          <a:bodyPr wrap="square" lIns="0" tIns="0" rIns="0" bIns="0" rtlCol="0" anchor="t">
            <a:spAutoFit/>
          </a:bodyPr>
          <a:lstStyle/>
          <a:p>
            <a:pPr algn="just">
              <a:lnSpc>
                <a:spcPts val="2856"/>
              </a:lnSpc>
            </a:pPr>
            <a:r>
              <a:rPr lang="en-US" altLang="zh-CN" sz="2800">
                <a:solidFill>
                  <a:srgbClr val="1E1E1E"/>
                </a:solidFill>
                <a:latin typeface="思源黑体 2"/>
                <a:ea typeface="思源黑体 2"/>
                <a:cs typeface="思源黑体 2"/>
                <a:sym typeface="思源黑体 2"/>
              </a:rPr>
              <a:t>Thought→Action→Observation </a:t>
            </a:r>
            <a:r>
              <a:rPr lang="zh-CN" altLang="en-US" sz="2800">
                <a:solidFill>
                  <a:srgbClr val="1E1E1E"/>
                </a:solidFill>
                <a:latin typeface="思源黑体 2"/>
                <a:ea typeface="思源黑体 2"/>
                <a:cs typeface="思源黑体 2"/>
                <a:sym typeface="思源黑体 2"/>
              </a:rPr>
              <a:t>轨迹树，工具入参可展开</a:t>
            </a:r>
            <a:endParaRPr lang="en-US" sz="2800">
              <a:solidFill>
                <a:srgbClr val="1E1E1E"/>
              </a:solidFill>
              <a:latin typeface="思源黑体 2"/>
              <a:ea typeface="思源黑体 2"/>
              <a:cs typeface="思源黑体 2"/>
              <a:sym typeface="思源黑体 2"/>
            </a:endParaRPr>
          </a:p>
        </p:txBody>
      </p:sp>
      <p:sp>
        <p:nvSpPr>
          <p:cNvPr id="95" name="TextBox 45">
            <a:extLst>
              <a:ext uri="{FF2B5EF4-FFF2-40B4-BE49-F238E27FC236}">
                <a16:creationId xmlns:a16="http://schemas.microsoft.com/office/drawing/2014/main" id="{22BE4AF5-831F-3B27-1696-B5E51BAF2466}"/>
              </a:ext>
            </a:extLst>
          </p:cNvPr>
          <p:cNvSpPr txBox="1"/>
          <p:nvPr/>
        </p:nvSpPr>
        <p:spPr>
          <a:xfrm>
            <a:off x="1065681" y="5021065"/>
            <a:ext cx="509798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右侧：轨迹树</a:t>
            </a:r>
            <a:endParaRPr lang="en-US" sz="3200" b="1">
              <a:solidFill>
                <a:srgbClr val="1E1E1E"/>
              </a:solidFill>
              <a:latin typeface="思源黑体 2 Bold"/>
              <a:ea typeface="思源黑体 2 Bold"/>
              <a:cs typeface="思源黑体 2 Bold"/>
              <a:sym typeface="思源黑体 2 Bold"/>
            </a:endParaRPr>
          </a:p>
        </p:txBody>
      </p:sp>
      <p:sp>
        <p:nvSpPr>
          <p:cNvPr id="97" name="TextBox 44">
            <a:extLst>
              <a:ext uri="{FF2B5EF4-FFF2-40B4-BE49-F238E27FC236}">
                <a16:creationId xmlns:a16="http://schemas.microsoft.com/office/drawing/2014/main" id="{626EF1AA-703E-F608-86F4-348CE1F4DC84}"/>
              </a:ext>
            </a:extLst>
          </p:cNvPr>
          <p:cNvSpPr txBox="1"/>
          <p:nvPr/>
        </p:nvSpPr>
        <p:spPr>
          <a:xfrm>
            <a:off x="1065680" y="4389555"/>
            <a:ext cx="16128695"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手写 </a:t>
            </a:r>
            <a:r>
              <a:rPr lang="en-US" altLang="zh-CN" sz="2800">
                <a:solidFill>
                  <a:srgbClr val="1E1E1E"/>
                </a:solidFill>
                <a:latin typeface="思源黑体 2"/>
                <a:ea typeface="思源黑体 2"/>
                <a:cs typeface="思源黑体 2"/>
                <a:sym typeface="思源黑体 2"/>
              </a:rPr>
              <a:t>SSE </a:t>
            </a:r>
            <a:r>
              <a:rPr lang="zh-CN" altLang="en-US" sz="2800">
                <a:solidFill>
                  <a:srgbClr val="1E1E1E"/>
                </a:solidFill>
                <a:latin typeface="思源黑体 2"/>
                <a:ea typeface="思源黑体 2"/>
                <a:cs typeface="思源黑体 2"/>
                <a:sym typeface="思源黑体 2"/>
              </a:rPr>
              <a:t>流式解析，节流打字机输出；引用标记实时转 📎 徽章</a:t>
            </a:r>
            <a:endParaRPr lang="en-US" sz="2800">
              <a:solidFill>
                <a:srgbClr val="1E1E1E"/>
              </a:solidFill>
              <a:latin typeface="思源黑体 2"/>
              <a:ea typeface="思源黑体 2"/>
              <a:cs typeface="思源黑体 2"/>
              <a:sym typeface="思源黑体 2"/>
            </a:endParaRPr>
          </a:p>
        </p:txBody>
      </p:sp>
      <p:sp>
        <p:nvSpPr>
          <p:cNvPr id="99" name="TextBox 45">
            <a:extLst>
              <a:ext uri="{FF2B5EF4-FFF2-40B4-BE49-F238E27FC236}">
                <a16:creationId xmlns:a16="http://schemas.microsoft.com/office/drawing/2014/main" id="{F04E093D-6645-1454-4E1A-4D0145209C0C}"/>
              </a:ext>
            </a:extLst>
          </p:cNvPr>
          <p:cNvSpPr txBox="1"/>
          <p:nvPr/>
        </p:nvSpPr>
        <p:spPr>
          <a:xfrm>
            <a:off x="1065681" y="3582933"/>
            <a:ext cx="7670498"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中央：流式打字机</a:t>
            </a:r>
            <a:r>
              <a:rPr lang="en-US" altLang="zh-CN" sz="3200" b="1">
                <a:solidFill>
                  <a:srgbClr val="1E1E1E"/>
                </a:solidFill>
                <a:latin typeface="思源黑体 2 Bold"/>
                <a:ea typeface="思源黑体 2 Bold"/>
                <a:cs typeface="思源黑体 2 Bold"/>
                <a:sym typeface="思源黑体 2 Bold"/>
              </a:rPr>
              <a:t>/Markdown/</a:t>
            </a:r>
            <a:r>
              <a:rPr lang="zh-CN" altLang="en-US" sz="3200" b="1">
                <a:solidFill>
                  <a:srgbClr val="1E1E1E"/>
                </a:solidFill>
                <a:latin typeface="思源黑体 2 Bold"/>
                <a:ea typeface="思源黑体 2 Bold"/>
                <a:cs typeface="思源黑体 2 Bold"/>
                <a:sym typeface="思源黑体 2 Bold"/>
              </a:rPr>
              <a:t>引用标记</a:t>
            </a:r>
            <a:endParaRPr lang="en-US" sz="3200" b="1">
              <a:solidFill>
                <a:srgbClr val="1E1E1E"/>
              </a:solidFill>
              <a:latin typeface="思源黑体 2 Bold"/>
              <a:ea typeface="思源黑体 2 Bold"/>
              <a:cs typeface="思源黑体 2 Bold"/>
              <a:sym typeface="思源黑体 2 Bold"/>
            </a:endParaRPr>
          </a:p>
        </p:txBody>
      </p:sp>
      <p:sp>
        <p:nvSpPr>
          <p:cNvPr id="16" name="TextBox 44">
            <a:extLst>
              <a:ext uri="{FF2B5EF4-FFF2-40B4-BE49-F238E27FC236}">
                <a16:creationId xmlns:a16="http://schemas.microsoft.com/office/drawing/2014/main" id="{83A955C0-B90B-8807-86BE-A55649CB8DD1}"/>
              </a:ext>
            </a:extLst>
          </p:cNvPr>
          <p:cNvSpPr txBox="1"/>
          <p:nvPr/>
        </p:nvSpPr>
        <p:spPr>
          <a:xfrm>
            <a:off x="1052830" y="8703951"/>
            <a:ext cx="15366698" cy="371897"/>
          </a:xfrm>
          <a:prstGeom prst="rect">
            <a:avLst/>
          </a:prstGeom>
        </p:spPr>
        <p:txBody>
          <a:bodyPr wrap="square" lIns="0" tIns="0" rIns="0" bIns="0" rtlCol="0" anchor="t">
            <a:spAutoFit/>
          </a:bodyPr>
          <a:lstStyle/>
          <a:p>
            <a:pPr algn="just">
              <a:lnSpc>
                <a:spcPts val="2856"/>
              </a:lnSpc>
            </a:pPr>
            <a:r>
              <a:rPr lang="zh-CN" altLang="en-US" sz="2800">
                <a:solidFill>
                  <a:srgbClr val="1E1E1E"/>
                </a:solidFill>
                <a:latin typeface="思源黑体 2"/>
                <a:ea typeface="思源黑体 2"/>
                <a:cs typeface="思源黑体 2"/>
                <a:sym typeface="思源黑体 2"/>
              </a:rPr>
              <a:t>文档列表</a:t>
            </a:r>
            <a:r>
              <a:rPr lang="en-US" altLang="zh-CN" sz="2800">
                <a:solidFill>
                  <a:srgbClr val="1E1E1E"/>
                </a:solidFill>
                <a:latin typeface="思源黑体 2"/>
                <a:ea typeface="思源黑体 2"/>
                <a:cs typeface="思源黑体 2"/>
                <a:sym typeface="思源黑体 2"/>
              </a:rPr>
              <a:t>+</a:t>
            </a:r>
            <a:r>
              <a:rPr lang="zh-CN" altLang="en-US" sz="2800">
                <a:solidFill>
                  <a:srgbClr val="1E1E1E"/>
                </a:solidFill>
                <a:latin typeface="思源黑体 2"/>
                <a:ea typeface="思源黑体 2"/>
                <a:cs typeface="思源黑体 2"/>
                <a:sym typeface="思源黑体 2"/>
              </a:rPr>
              <a:t>向量化状态实时可查，与索引数据联动</a:t>
            </a:r>
            <a:endParaRPr lang="en-US" sz="2800">
              <a:solidFill>
                <a:srgbClr val="1E1E1E"/>
              </a:solidFill>
              <a:latin typeface="思源黑体 2"/>
              <a:ea typeface="思源黑体 2"/>
              <a:cs typeface="思源黑体 2"/>
              <a:sym typeface="思源黑体 2"/>
            </a:endParaRPr>
          </a:p>
        </p:txBody>
      </p:sp>
      <p:sp>
        <p:nvSpPr>
          <p:cNvPr id="25" name="TextBox 45">
            <a:extLst>
              <a:ext uri="{FF2B5EF4-FFF2-40B4-BE49-F238E27FC236}">
                <a16:creationId xmlns:a16="http://schemas.microsoft.com/office/drawing/2014/main" id="{9059EB8E-9B2A-B909-72E0-71FCEA22A752}"/>
              </a:ext>
            </a:extLst>
          </p:cNvPr>
          <p:cNvSpPr txBox="1"/>
          <p:nvPr/>
        </p:nvSpPr>
        <p:spPr>
          <a:xfrm>
            <a:off x="1052830" y="7897329"/>
            <a:ext cx="6338570" cy="521105"/>
          </a:xfrm>
          <a:prstGeom prst="rect">
            <a:avLst/>
          </a:prstGeom>
        </p:spPr>
        <p:txBody>
          <a:bodyPr wrap="square" lIns="0" tIns="0" rIns="0" bIns="0" rtlCol="0" anchor="t">
            <a:spAutoFit/>
          </a:bodyPr>
          <a:lstStyle/>
          <a:p>
            <a:pPr algn="l">
              <a:lnSpc>
                <a:spcPts val="4368"/>
              </a:lnSpc>
            </a:pPr>
            <a:r>
              <a:rPr lang="zh-CN" altLang="en-US" sz="3200" b="1">
                <a:solidFill>
                  <a:srgbClr val="1E1E1E"/>
                </a:solidFill>
                <a:latin typeface="思源黑体 2 Bold"/>
                <a:ea typeface="思源黑体 2 Bold"/>
                <a:cs typeface="思源黑体 2 Bold"/>
                <a:sym typeface="思源黑体 2 Bold"/>
              </a:rPr>
              <a:t>知识库面板（列表</a:t>
            </a:r>
            <a:r>
              <a:rPr lang="en-US" altLang="zh-CN" sz="3200" b="1">
                <a:solidFill>
                  <a:srgbClr val="1E1E1E"/>
                </a:solidFill>
                <a:latin typeface="思源黑体 2 Bold"/>
                <a:ea typeface="思源黑体 2 Bold"/>
                <a:cs typeface="思源黑体 2 Bold"/>
                <a:sym typeface="思源黑体 2 Bold"/>
              </a:rPr>
              <a:t>+</a:t>
            </a:r>
            <a:r>
              <a:rPr lang="zh-CN" altLang="en-US" sz="3200" b="1">
                <a:solidFill>
                  <a:srgbClr val="1E1E1E"/>
                </a:solidFill>
                <a:latin typeface="思源黑体 2 Bold"/>
                <a:ea typeface="思源黑体 2 Bold"/>
                <a:cs typeface="思源黑体 2 Bold"/>
                <a:sym typeface="思源黑体 2 Bold"/>
              </a:rPr>
              <a:t>向量化状态）</a:t>
            </a:r>
            <a:endParaRPr lang="en-US" sz="3200" b="1">
              <a:solidFill>
                <a:srgbClr val="1E1E1E"/>
              </a:solidFill>
              <a:latin typeface="思源黑体 2 Bold"/>
              <a:ea typeface="思源黑体 2 Bold"/>
              <a:cs typeface="思源黑体 2 Bold"/>
              <a:sym typeface="思源黑体 2 Bold"/>
            </a:endParaRPr>
          </a:p>
        </p:txBody>
      </p:sp>
      <p:pic>
        <p:nvPicPr>
          <p:cNvPr id="17" name="图片 16">
            <a:extLst>
              <a:ext uri="{FF2B5EF4-FFF2-40B4-BE49-F238E27FC236}">
                <a16:creationId xmlns:a16="http://schemas.microsoft.com/office/drawing/2014/main" id="{ABC6DFFD-7A22-CA65-A175-8BBEA5796876}"/>
              </a:ext>
            </a:extLst>
          </p:cNvPr>
          <p:cNvPicPr>
            <a:picLocks noChangeAspect="1"/>
          </p:cNvPicPr>
          <p:nvPr/>
        </p:nvPicPr>
        <p:blipFill>
          <a:blip r:embed="rId4"/>
          <a:stretch>
            <a:fillRect/>
          </a:stretch>
        </p:blipFill>
        <p:spPr>
          <a:xfrm>
            <a:off x="608731" y="672163"/>
            <a:ext cx="16943039" cy="9218907"/>
          </a:xfrm>
          <a:prstGeom prst="rect">
            <a:avLst/>
          </a:prstGeom>
        </p:spPr>
      </p:pic>
    </p:spTree>
    <p:extLst>
      <p:ext uri="{BB962C8B-B14F-4D97-AF65-F5344CB8AC3E}">
        <p14:creationId xmlns:p14="http://schemas.microsoft.com/office/powerpoint/2010/main" val="563102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CCD31-725D-1A25-787A-8F09A27CFB9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65FA551-7364-F8DB-E1E2-8E429E914D53}"/>
              </a:ext>
            </a:extLst>
          </p:cNvPr>
          <p:cNvSpPr txBox="1"/>
          <p:nvPr/>
        </p:nvSpPr>
        <p:spPr>
          <a:xfrm>
            <a:off x="1221327" y="791367"/>
            <a:ext cx="7439465" cy="795089"/>
          </a:xfrm>
          <a:prstGeom prst="rect">
            <a:avLst/>
          </a:prstGeom>
        </p:spPr>
        <p:txBody>
          <a:bodyPr wrap="square" lIns="0" tIns="0" rIns="0" bIns="0" rtlCol="0" anchor="t">
            <a:spAutoFit/>
          </a:bodyPr>
          <a:lstStyle/>
          <a:p>
            <a:pPr algn="l">
              <a:lnSpc>
                <a:spcPts val="6239"/>
              </a:lnSpc>
            </a:pPr>
            <a:r>
              <a:rPr lang="zh-CN" altLang="en-US" sz="5199" b="1">
                <a:solidFill>
                  <a:srgbClr val="100F0D"/>
                </a:solidFill>
                <a:latin typeface="思源黑体 2 Heavy"/>
                <a:ea typeface="思源黑体 2 Heavy"/>
                <a:cs typeface="思源黑体 2 Heavy"/>
                <a:sym typeface="思源黑体 2 Heavy"/>
              </a:rPr>
              <a:t>端到端联调与测试</a:t>
            </a:r>
          </a:p>
        </p:txBody>
      </p:sp>
      <p:grpSp>
        <p:nvGrpSpPr>
          <p:cNvPr id="4" name="Group 4">
            <a:extLst>
              <a:ext uri="{FF2B5EF4-FFF2-40B4-BE49-F238E27FC236}">
                <a16:creationId xmlns:a16="http://schemas.microsoft.com/office/drawing/2014/main" id="{53323454-907C-6A2C-6E97-2692214F667A}"/>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A94E88CE-E1D0-8D95-AAA6-BC64BF680DB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CA3CF151-4BBB-02DB-E905-C8B34EFE480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26F1F56D-05B3-5509-C749-F915BA0046F7}"/>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AAAE3DE8-2F43-8FB0-7088-87818424797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36765607-2D61-0441-8610-3571EE3161D4}"/>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7B228F33-A9DC-4392-EB7D-1C5F4272851C}"/>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DB058BEC-DE96-C1C6-EF0A-9E4EED99FAD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422DA9EA-FFD8-E898-7FD1-EF6592B51D9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1D4F45E4-B3A1-3CE5-F07C-A35A7541467F}"/>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9CE0BAF5-CB9D-EFB6-E370-82A35FA2DD4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CFAC0CBE-513A-E18B-8B2C-DEE2BDA92561}"/>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B9858949-992A-639F-3CCE-F118B0285A65}"/>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7566D2A4-9594-CA62-6AF7-363D77CE817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313F5DFB-14A4-BB7F-29BA-A99480586C29}"/>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A8E79249-4398-6D1F-608C-ADBDB0D2E99C}"/>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82AC458E-D3BE-9B21-4173-2A90EE2ACC2A}"/>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98A13385-2EA0-F254-CC65-6B70DC710B12}"/>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4" name="AutoShape 24">
            <a:extLst>
              <a:ext uri="{FF2B5EF4-FFF2-40B4-BE49-F238E27FC236}">
                <a16:creationId xmlns:a16="http://schemas.microsoft.com/office/drawing/2014/main" id="{AC905995-6839-357B-7DD1-82D7F132122B}"/>
              </a:ext>
            </a:extLst>
          </p:cNvPr>
          <p:cNvSpPr/>
          <p:nvPr/>
        </p:nvSpPr>
        <p:spPr>
          <a:xfrm flipH="1" flipV="1">
            <a:off x="794524" y="2773840"/>
            <a:ext cx="0" cy="6019801"/>
          </a:xfrm>
          <a:prstGeom prst="line">
            <a:avLst/>
          </a:prstGeom>
          <a:ln w="19050" cap="flat">
            <a:solidFill>
              <a:srgbClr val="263D6D"/>
            </a:solidFill>
            <a:prstDash val="sysDot"/>
            <a:headEnd type="none" w="sm" len="sm"/>
            <a:tailEnd type="none" w="sm" len="sm"/>
          </a:ln>
        </p:spPr>
      </p:sp>
      <p:sp>
        <p:nvSpPr>
          <p:cNvPr id="27" name="TextBox 27">
            <a:extLst>
              <a:ext uri="{FF2B5EF4-FFF2-40B4-BE49-F238E27FC236}">
                <a16:creationId xmlns:a16="http://schemas.microsoft.com/office/drawing/2014/main" id="{C87C043E-2961-363F-48B1-864E7AB10E93}"/>
              </a:ext>
            </a:extLst>
          </p:cNvPr>
          <p:cNvSpPr txBox="1"/>
          <p:nvPr/>
        </p:nvSpPr>
        <p:spPr>
          <a:xfrm>
            <a:off x="1610751" y="3201643"/>
            <a:ext cx="716973" cy="915699"/>
          </a:xfrm>
          <a:prstGeom prst="rect">
            <a:avLst/>
          </a:prstGeom>
        </p:spPr>
        <p:txBody>
          <a:bodyPr lIns="71897" tIns="71897" rIns="71897" bIns="71897" rtlCol="0" anchor="ctr"/>
          <a:lstStyle/>
          <a:p>
            <a:pPr algn="ctr">
              <a:lnSpc>
                <a:spcPts val="3107"/>
              </a:lnSpc>
            </a:pPr>
            <a:endParaRPr sz="2800"/>
          </a:p>
        </p:txBody>
      </p:sp>
      <p:grpSp>
        <p:nvGrpSpPr>
          <p:cNvPr id="34" name="Group 34">
            <a:extLst>
              <a:ext uri="{FF2B5EF4-FFF2-40B4-BE49-F238E27FC236}">
                <a16:creationId xmlns:a16="http://schemas.microsoft.com/office/drawing/2014/main" id="{0156ADD9-0C92-9042-DBC6-07F68C892E68}"/>
              </a:ext>
            </a:extLst>
          </p:cNvPr>
          <p:cNvGrpSpPr/>
          <p:nvPr/>
        </p:nvGrpSpPr>
        <p:grpSpPr>
          <a:xfrm>
            <a:off x="673657" y="4392982"/>
            <a:ext cx="245606" cy="245606"/>
            <a:chOff x="0" y="0"/>
            <a:chExt cx="812800" cy="812800"/>
          </a:xfrm>
        </p:grpSpPr>
        <p:sp>
          <p:nvSpPr>
            <p:cNvPr id="35" name="Freeform 35">
              <a:extLst>
                <a:ext uri="{FF2B5EF4-FFF2-40B4-BE49-F238E27FC236}">
                  <a16:creationId xmlns:a16="http://schemas.microsoft.com/office/drawing/2014/main" id="{EB63517B-622D-3F62-F9F6-97527E6A47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6" name="TextBox 36">
              <a:extLst>
                <a:ext uri="{FF2B5EF4-FFF2-40B4-BE49-F238E27FC236}">
                  <a16:creationId xmlns:a16="http://schemas.microsoft.com/office/drawing/2014/main" id="{9950C3D9-AB5D-AFF6-668D-C7BDCBEDC938}"/>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grpSp>
        <p:nvGrpSpPr>
          <p:cNvPr id="37" name="Group 37">
            <a:extLst>
              <a:ext uri="{FF2B5EF4-FFF2-40B4-BE49-F238E27FC236}">
                <a16:creationId xmlns:a16="http://schemas.microsoft.com/office/drawing/2014/main" id="{D117AC4C-9892-4E83-F69E-1409EC1E1E30}"/>
              </a:ext>
            </a:extLst>
          </p:cNvPr>
          <p:cNvGrpSpPr/>
          <p:nvPr/>
        </p:nvGrpSpPr>
        <p:grpSpPr>
          <a:xfrm>
            <a:off x="673657" y="6579940"/>
            <a:ext cx="245606" cy="245606"/>
            <a:chOff x="0" y="0"/>
            <a:chExt cx="812800" cy="812800"/>
          </a:xfrm>
        </p:grpSpPr>
        <p:sp>
          <p:nvSpPr>
            <p:cNvPr id="38" name="Freeform 38">
              <a:extLst>
                <a:ext uri="{FF2B5EF4-FFF2-40B4-BE49-F238E27FC236}">
                  <a16:creationId xmlns:a16="http://schemas.microsoft.com/office/drawing/2014/main" id="{C28443DA-6E2F-FA2F-D076-1C4FB62C54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39" name="TextBox 39">
              <a:extLst>
                <a:ext uri="{FF2B5EF4-FFF2-40B4-BE49-F238E27FC236}">
                  <a16:creationId xmlns:a16="http://schemas.microsoft.com/office/drawing/2014/main" id="{A019E093-A92A-BE5D-0E2D-FD5827B80CD5}"/>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41" name="Freeform 41">
            <a:extLst>
              <a:ext uri="{FF2B5EF4-FFF2-40B4-BE49-F238E27FC236}">
                <a16:creationId xmlns:a16="http://schemas.microsoft.com/office/drawing/2014/main" id="{100411A8-130C-4BED-C99F-6D3550AD8A55}"/>
              </a:ext>
            </a:extLst>
          </p:cNvPr>
          <p:cNvSpPr/>
          <p:nvPr/>
        </p:nvSpPr>
        <p:spPr>
          <a:xfrm>
            <a:off x="1734602" y="5474324"/>
            <a:ext cx="469271" cy="528891"/>
          </a:xfrm>
          <a:custGeom>
            <a:avLst/>
            <a:gdLst/>
            <a:ahLst/>
            <a:cxnLst/>
            <a:rect l="l" t="t" r="r" b="b"/>
            <a:pathLst>
              <a:path w="469271" h="528891">
                <a:moveTo>
                  <a:pt x="0" y="0"/>
                </a:moveTo>
                <a:lnTo>
                  <a:pt x="469271" y="0"/>
                </a:lnTo>
                <a:lnTo>
                  <a:pt x="469271" y="528891"/>
                </a:lnTo>
                <a:lnTo>
                  <a:pt x="0" y="528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a:extLst>
              <a:ext uri="{FF2B5EF4-FFF2-40B4-BE49-F238E27FC236}">
                <a16:creationId xmlns:a16="http://schemas.microsoft.com/office/drawing/2014/main" id="{5DA6F72B-2337-9142-ACB8-8A75AF8C2B8A}"/>
              </a:ext>
            </a:extLst>
          </p:cNvPr>
          <p:cNvSpPr/>
          <p:nvPr/>
        </p:nvSpPr>
        <p:spPr>
          <a:xfrm>
            <a:off x="1704792" y="3424272"/>
            <a:ext cx="528891" cy="528891"/>
          </a:xfrm>
          <a:custGeom>
            <a:avLst/>
            <a:gdLst/>
            <a:ahLst/>
            <a:cxnLst/>
            <a:rect l="l" t="t" r="r" b="b"/>
            <a:pathLst>
              <a:path w="528891" h="528891">
                <a:moveTo>
                  <a:pt x="0" y="0"/>
                </a:moveTo>
                <a:lnTo>
                  <a:pt x="528891" y="0"/>
                </a:lnTo>
                <a:lnTo>
                  <a:pt x="528891" y="528891"/>
                </a:lnTo>
                <a:lnTo>
                  <a:pt x="0" y="5288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TextBox 44">
            <a:extLst>
              <a:ext uri="{FF2B5EF4-FFF2-40B4-BE49-F238E27FC236}">
                <a16:creationId xmlns:a16="http://schemas.microsoft.com/office/drawing/2014/main" id="{32B3F677-52B8-5FAF-06B5-C13B3B1F31AE}"/>
              </a:ext>
            </a:extLst>
          </p:cNvPr>
          <p:cNvSpPr txBox="1"/>
          <p:nvPr/>
        </p:nvSpPr>
        <p:spPr>
          <a:xfrm>
            <a:off x="1065681" y="2951423"/>
            <a:ext cx="15950596" cy="376834"/>
          </a:xfrm>
          <a:prstGeom prst="rect">
            <a:avLst/>
          </a:prstGeom>
        </p:spPr>
        <p:txBody>
          <a:bodyPr wrap="square" lIns="0" tIns="0" rIns="0" bIns="0" rtlCol="0" anchor="t">
            <a:spAutoFit/>
          </a:bodyPr>
          <a:lstStyle/>
          <a:p>
            <a:pPr algn="just">
              <a:lnSpc>
                <a:spcPts val="2856"/>
              </a:lnSpc>
            </a:pPr>
            <a:r>
              <a:rPr lang="zh-CN" altLang="en-US" sz="3200">
                <a:solidFill>
                  <a:srgbClr val="1E1E1E"/>
                </a:solidFill>
                <a:latin typeface="思源黑体 2"/>
                <a:ea typeface="思源黑体 2"/>
                <a:cs typeface="思源黑体 2"/>
                <a:sym typeface="思源黑体 2"/>
              </a:rPr>
              <a:t>实测跑通（</a:t>
            </a:r>
            <a:r>
              <a:rPr lang="en-US" altLang="zh-CN" sz="3200">
                <a:solidFill>
                  <a:srgbClr val="1E1E1E"/>
                </a:solidFill>
                <a:latin typeface="思源黑体 2"/>
                <a:ea typeface="思源黑体 2"/>
                <a:cs typeface="思源黑体 2"/>
                <a:sym typeface="思源黑体 2"/>
              </a:rPr>
              <a:t>5</a:t>
            </a:r>
            <a:r>
              <a:rPr lang="zh-CN" altLang="en-US" sz="3200">
                <a:solidFill>
                  <a:srgbClr val="1E1E1E"/>
                </a:solidFill>
                <a:latin typeface="思源黑体 2"/>
                <a:ea typeface="思源黑体 2"/>
                <a:cs typeface="思源黑体 2"/>
                <a:sym typeface="思源黑体 2"/>
              </a:rPr>
              <a:t>轮推理</a:t>
            </a:r>
            <a:r>
              <a:rPr lang="en-US" altLang="zh-CN" sz="3200">
                <a:solidFill>
                  <a:srgbClr val="1E1E1E"/>
                </a:solidFill>
                <a:latin typeface="思源黑体 2"/>
                <a:ea typeface="思源黑体 2"/>
                <a:cs typeface="思源黑体 2"/>
                <a:sym typeface="思源黑体 2"/>
              </a:rPr>
              <a:t>/20</a:t>
            </a:r>
            <a:r>
              <a:rPr lang="zh-CN" altLang="en-US" sz="3200">
                <a:solidFill>
                  <a:srgbClr val="1E1E1E"/>
                </a:solidFill>
                <a:latin typeface="思源黑体 2"/>
                <a:ea typeface="思源黑体 2"/>
                <a:cs typeface="思源黑体 2"/>
                <a:sym typeface="思源黑体 2"/>
              </a:rPr>
              <a:t>引用</a:t>
            </a:r>
            <a:r>
              <a:rPr lang="en-US" altLang="zh-CN" sz="3200">
                <a:solidFill>
                  <a:srgbClr val="1E1E1E"/>
                </a:solidFill>
                <a:latin typeface="思源黑体 2"/>
                <a:ea typeface="思源黑体 2"/>
                <a:cs typeface="思源黑体 2"/>
                <a:sym typeface="思源黑体 2"/>
              </a:rPr>
              <a:t>/40.8s</a:t>
            </a:r>
            <a:r>
              <a:rPr lang="zh-CN" altLang="en-US" sz="3200">
                <a:solidFill>
                  <a:srgbClr val="1E1E1E"/>
                </a:solidFill>
                <a:latin typeface="思源黑体 2"/>
                <a:ea typeface="思源黑体 2"/>
                <a:cs typeface="思源黑体 2"/>
                <a:sym typeface="思源黑体 2"/>
              </a:rPr>
              <a:t>）</a:t>
            </a:r>
            <a:endParaRPr lang="en-US" sz="3200">
              <a:solidFill>
                <a:srgbClr val="1E1E1E"/>
              </a:solidFill>
              <a:latin typeface="思源黑体 2"/>
              <a:ea typeface="思源黑体 2"/>
              <a:cs typeface="思源黑体 2"/>
              <a:sym typeface="思源黑体 2"/>
            </a:endParaRPr>
          </a:p>
        </p:txBody>
      </p:sp>
      <p:grpSp>
        <p:nvGrpSpPr>
          <p:cNvPr id="71" name="Group 34">
            <a:extLst>
              <a:ext uri="{FF2B5EF4-FFF2-40B4-BE49-F238E27FC236}">
                <a16:creationId xmlns:a16="http://schemas.microsoft.com/office/drawing/2014/main" id="{E4D3A1FB-6FD8-45AD-1302-9B3621602A60}"/>
              </a:ext>
            </a:extLst>
          </p:cNvPr>
          <p:cNvGrpSpPr/>
          <p:nvPr/>
        </p:nvGrpSpPr>
        <p:grpSpPr>
          <a:xfrm>
            <a:off x="673657" y="5486461"/>
            <a:ext cx="245606" cy="245606"/>
            <a:chOff x="0" y="0"/>
            <a:chExt cx="812800" cy="812800"/>
          </a:xfrm>
        </p:grpSpPr>
        <p:sp>
          <p:nvSpPr>
            <p:cNvPr id="72" name="Freeform 35">
              <a:extLst>
                <a:ext uri="{FF2B5EF4-FFF2-40B4-BE49-F238E27FC236}">
                  <a16:creationId xmlns:a16="http://schemas.microsoft.com/office/drawing/2014/main" id="{E0A0DCC7-61AA-F6D8-2362-4D9D617DCD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a:ln cap="sq">
              <a:noFill/>
              <a:prstDash val="solid"/>
              <a:miter/>
            </a:ln>
          </p:spPr>
        </p:sp>
        <p:sp>
          <p:nvSpPr>
            <p:cNvPr id="73" name="TextBox 36">
              <a:extLst>
                <a:ext uri="{FF2B5EF4-FFF2-40B4-BE49-F238E27FC236}">
                  <a16:creationId xmlns:a16="http://schemas.microsoft.com/office/drawing/2014/main" id="{D260664A-33F0-8FE4-CA0D-FDD0A2C5815F}"/>
                </a:ext>
              </a:extLst>
            </p:cNvPr>
            <p:cNvSpPr txBox="1"/>
            <p:nvPr/>
          </p:nvSpPr>
          <p:spPr>
            <a:xfrm>
              <a:off x="76200" y="28575"/>
              <a:ext cx="660400" cy="708025"/>
            </a:xfrm>
            <a:prstGeom prst="rect">
              <a:avLst/>
            </a:prstGeom>
          </p:spPr>
          <p:txBody>
            <a:bodyPr lIns="71897" tIns="71897" rIns="71897" bIns="71897" rtlCol="0" anchor="ctr"/>
            <a:lstStyle/>
            <a:p>
              <a:pPr algn="ctr">
                <a:lnSpc>
                  <a:spcPts val="3107"/>
                </a:lnSpc>
              </a:pPr>
              <a:endParaRPr sz="2800"/>
            </a:p>
          </p:txBody>
        </p:sp>
      </p:grpSp>
      <p:sp>
        <p:nvSpPr>
          <p:cNvPr id="75" name="TextBox 45">
            <a:extLst>
              <a:ext uri="{FF2B5EF4-FFF2-40B4-BE49-F238E27FC236}">
                <a16:creationId xmlns:a16="http://schemas.microsoft.com/office/drawing/2014/main" id="{F56CCD22-480B-1B72-2C03-16AF44C8947B}"/>
              </a:ext>
            </a:extLst>
          </p:cNvPr>
          <p:cNvSpPr txBox="1"/>
          <p:nvPr/>
        </p:nvSpPr>
        <p:spPr>
          <a:xfrm>
            <a:off x="1065680" y="2144801"/>
            <a:ext cx="11126319" cy="533416"/>
          </a:xfrm>
          <a:prstGeom prst="rect">
            <a:avLst/>
          </a:prstGeom>
        </p:spPr>
        <p:txBody>
          <a:bodyPr wrap="square" lIns="0" tIns="0" rIns="0" bIns="0" rtlCol="0" anchor="t">
            <a:spAutoFit/>
          </a:bodyPr>
          <a:lstStyle/>
          <a:p>
            <a:pPr algn="l">
              <a:lnSpc>
                <a:spcPts val="4368"/>
              </a:lnSpc>
            </a:pPr>
            <a:r>
              <a:rPr lang="zh-CN" altLang="en-US" sz="3600" b="1">
                <a:solidFill>
                  <a:srgbClr val="1E1E1E"/>
                </a:solidFill>
                <a:latin typeface="思源黑体 2 Bold"/>
                <a:ea typeface="思源黑体 2 Bold"/>
                <a:cs typeface="思源黑体 2 Bold"/>
                <a:sym typeface="思源黑体 2 Bold"/>
              </a:rPr>
              <a:t>完整流程：上传→索引→对话→决策→答案</a:t>
            </a:r>
            <a:endParaRPr lang="en-US" sz="3600" b="1">
              <a:solidFill>
                <a:srgbClr val="1E1E1E"/>
              </a:solidFill>
              <a:latin typeface="思源黑体 2 Bold"/>
              <a:ea typeface="思源黑体 2 Bold"/>
              <a:cs typeface="思源黑体 2 Bold"/>
              <a:sym typeface="思源黑体 2 Bold"/>
            </a:endParaRPr>
          </a:p>
        </p:txBody>
      </p:sp>
      <p:sp>
        <p:nvSpPr>
          <p:cNvPr id="89" name="TextBox 44">
            <a:extLst>
              <a:ext uri="{FF2B5EF4-FFF2-40B4-BE49-F238E27FC236}">
                <a16:creationId xmlns:a16="http://schemas.microsoft.com/office/drawing/2014/main" id="{8A3BEB5F-1E53-3FA2-E836-0461689CE89A}"/>
              </a:ext>
            </a:extLst>
          </p:cNvPr>
          <p:cNvSpPr txBox="1"/>
          <p:nvPr/>
        </p:nvSpPr>
        <p:spPr>
          <a:xfrm>
            <a:off x="1065681" y="7265819"/>
            <a:ext cx="15366698" cy="376834"/>
          </a:xfrm>
          <a:prstGeom prst="rect">
            <a:avLst/>
          </a:prstGeom>
        </p:spPr>
        <p:txBody>
          <a:bodyPr wrap="square" lIns="0" tIns="0" rIns="0" bIns="0" rtlCol="0" anchor="t">
            <a:spAutoFit/>
          </a:bodyPr>
          <a:lstStyle/>
          <a:p>
            <a:pPr algn="just">
              <a:lnSpc>
                <a:spcPts val="2856"/>
              </a:lnSpc>
            </a:pPr>
            <a:r>
              <a:rPr lang="zh-CN" altLang="en-US" sz="3200">
                <a:solidFill>
                  <a:srgbClr val="1E1E1E"/>
                </a:solidFill>
                <a:latin typeface="思源黑体 2"/>
                <a:ea typeface="思源黑体 2"/>
                <a:cs typeface="思源黑体 2"/>
                <a:sym typeface="思源黑体 2"/>
              </a:rPr>
              <a:t>已验证（</a:t>
            </a:r>
            <a:r>
              <a:rPr lang="en-US" altLang="zh-CN" sz="3200">
                <a:solidFill>
                  <a:srgbClr val="1E1E1E"/>
                </a:solidFill>
                <a:latin typeface="思源黑体 2"/>
                <a:ea typeface="思源黑体 2"/>
                <a:cs typeface="思源黑体 2"/>
                <a:sym typeface="思源黑体 2"/>
              </a:rPr>
              <a:t>54</a:t>
            </a:r>
            <a:r>
              <a:rPr lang="zh-CN" altLang="en-US" sz="3200">
                <a:solidFill>
                  <a:srgbClr val="1E1E1E"/>
                </a:solidFill>
                <a:latin typeface="思源黑体 2"/>
                <a:ea typeface="思源黑体 2"/>
                <a:cs typeface="思源黑体 2"/>
                <a:sym typeface="思源黑体 2"/>
              </a:rPr>
              <a:t>页→</a:t>
            </a:r>
            <a:r>
              <a:rPr lang="en-US" altLang="zh-CN" sz="3200">
                <a:solidFill>
                  <a:srgbClr val="1E1E1E"/>
                </a:solidFill>
                <a:latin typeface="思源黑体 2"/>
                <a:ea typeface="思源黑体 2"/>
                <a:cs typeface="思源黑体 2"/>
                <a:sym typeface="思源黑体 2"/>
              </a:rPr>
              <a:t>483</a:t>
            </a:r>
            <a:r>
              <a:rPr lang="zh-CN" altLang="en-US" sz="3200">
                <a:solidFill>
                  <a:srgbClr val="1E1E1E"/>
                </a:solidFill>
                <a:latin typeface="思源黑体 2"/>
                <a:ea typeface="思源黑体 2"/>
                <a:cs typeface="思源黑体 2"/>
                <a:sym typeface="思源黑体 2"/>
              </a:rPr>
              <a:t>块全程可控）</a:t>
            </a:r>
            <a:endParaRPr lang="en-US" sz="3200">
              <a:solidFill>
                <a:srgbClr val="1E1E1E"/>
              </a:solidFill>
              <a:latin typeface="思源黑体 2"/>
              <a:ea typeface="思源黑体 2"/>
              <a:cs typeface="思源黑体 2"/>
              <a:sym typeface="思源黑体 2"/>
            </a:endParaRPr>
          </a:p>
        </p:txBody>
      </p:sp>
      <p:sp>
        <p:nvSpPr>
          <p:cNvPr id="91" name="TextBox 45">
            <a:extLst>
              <a:ext uri="{FF2B5EF4-FFF2-40B4-BE49-F238E27FC236}">
                <a16:creationId xmlns:a16="http://schemas.microsoft.com/office/drawing/2014/main" id="{1564D780-B1E5-9DDD-160C-EEA838C3D543}"/>
              </a:ext>
            </a:extLst>
          </p:cNvPr>
          <p:cNvSpPr txBox="1"/>
          <p:nvPr/>
        </p:nvSpPr>
        <p:spPr>
          <a:xfrm>
            <a:off x="1065681" y="6459197"/>
            <a:ext cx="5097988" cy="533416"/>
          </a:xfrm>
          <a:prstGeom prst="rect">
            <a:avLst/>
          </a:prstGeom>
        </p:spPr>
        <p:txBody>
          <a:bodyPr wrap="square" lIns="0" tIns="0" rIns="0" bIns="0" rtlCol="0" anchor="t">
            <a:spAutoFit/>
          </a:bodyPr>
          <a:lstStyle/>
          <a:p>
            <a:pPr algn="l">
              <a:lnSpc>
                <a:spcPts val="4368"/>
              </a:lnSpc>
            </a:pPr>
            <a:r>
              <a:rPr lang="zh-CN" altLang="en-US" sz="3600" b="1">
                <a:solidFill>
                  <a:srgbClr val="1E1E1E"/>
                </a:solidFill>
                <a:latin typeface="思源黑体 2 Bold"/>
                <a:ea typeface="思源黑体 2 Bold"/>
                <a:cs typeface="思源黑体 2 Bold"/>
                <a:sym typeface="思源黑体 2 Bold"/>
              </a:rPr>
              <a:t>边缘：超大文档上传</a:t>
            </a:r>
            <a:endParaRPr lang="en-US" sz="3600" b="1">
              <a:solidFill>
                <a:srgbClr val="1E1E1E"/>
              </a:solidFill>
              <a:latin typeface="思源黑体 2 Bold"/>
              <a:ea typeface="思源黑体 2 Bold"/>
              <a:cs typeface="思源黑体 2 Bold"/>
              <a:sym typeface="思源黑体 2 Bold"/>
            </a:endParaRPr>
          </a:p>
        </p:txBody>
      </p:sp>
      <p:sp>
        <p:nvSpPr>
          <p:cNvPr id="93" name="TextBox 44">
            <a:extLst>
              <a:ext uri="{FF2B5EF4-FFF2-40B4-BE49-F238E27FC236}">
                <a16:creationId xmlns:a16="http://schemas.microsoft.com/office/drawing/2014/main" id="{A9DF84CC-7A07-E783-3A97-7DAA8AE3ADB6}"/>
              </a:ext>
            </a:extLst>
          </p:cNvPr>
          <p:cNvSpPr txBox="1"/>
          <p:nvPr/>
        </p:nvSpPr>
        <p:spPr>
          <a:xfrm>
            <a:off x="1065681" y="5827687"/>
            <a:ext cx="15982704" cy="376834"/>
          </a:xfrm>
          <a:prstGeom prst="rect">
            <a:avLst/>
          </a:prstGeom>
        </p:spPr>
        <p:txBody>
          <a:bodyPr wrap="square" lIns="0" tIns="0" rIns="0" bIns="0" rtlCol="0" anchor="t">
            <a:spAutoFit/>
          </a:bodyPr>
          <a:lstStyle/>
          <a:p>
            <a:pPr algn="just">
              <a:lnSpc>
                <a:spcPts val="2856"/>
              </a:lnSpc>
            </a:pPr>
            <a:r>
              <a:rPr lang="zh-CN" altLang="en-US" sz="3200">
                <a:solidFill>
                  <a:srgbClr val="1E1E1E"/>
                </a:solidFill>
                <a:latin typeface="思源黑体 2"/>
                <a:ea typeface="思源黑体 2"/>
                <a:cs typeface="思源黑体 2"/>
                <a:sym typeface="思源黑体 2"/>
              </a:rPr>
              <a:t>通过（依赖索引清理）</a:t>
            </a:r>
            <a:endParaRPr lang="en-US" sz="3200">
              <a:solidFill>
                <a:srgbClr val="1E1E1E"/>
              </a:solidFill>
              <a:latin typeface="思源黑体 2"/>
              <a:ea typeface="思源黑体 2"/>
              <a:cs typeface="思源黑体 2"/>
              <a:sym typeface="思源黑体 2"/>
            </a:endParaRPr>
          </a:p>
        </p:txBody>
      </p:sp>
      <p:sp>
        <p:nvSpPr>
          <p:cNvPr id="95" name="TextBox 45">
            <a:extLst>
              <a:ext uri="{FF2B5EF4-FFF2-40B4-BE49-F238E27FC236}">
                <a16:creationId xmlns:a16="http://schemas.microsoft.com/office/drawing/2014/main" id="{AB77ECFC-BE24-2977-5491-300A72C97F4C}"/>
              </a:ext>
            </a:extLst>
          </p:cNvPr>
          <p:cNvSpPr txBox="1"/>
          <p:nvPr/>
        </p:nvSpPr>
        <p:spPr>
          <a:xfrm>
            <a:off x="1065681" y="5021065"/>
            <a:ext cx="5097988" cy="533416"/>
          </a:xfrm>
          <a:prstGeom prst="rect">
            <a:avLst/>
          </a:prstGeom>
        </p:spPr>
        <p:txBody>
          <a:bodyPr wrap="square" lIns="0" tIns="0" rIns="0" bIns="0" rtlCol="0" anchor="t">
            <a:spAutoFit/>
          </a:bodyPr>
          <a:lstStyle/>
          <a:p>
            <a:pPr algn="l">
              <a:lnSpc>
                <a:spcPts val="4368"/>
              </a:lnSpc>
            </a:pPr>
            <a:r>
              <a:rPr lang="zh-CN" altLang="en-US" sz="3600" b="1">
                <a:solidFill>
                  <a:srgbClr val="1E1E1E"/>
                </a:solidFill>
                <a:latin typeface="思源黑体 2 Bold"/>
                <a:ea typeface="思源黑体 2 Bold"/>
                <a:cs typeface="思源黑体 2 Bold"/>
                <a:sym typeface="思源黑体 2 Bold"/>
              </a:rPr>
              <a:t>边缘：空知识库提问</a:t>
            </a:r>
            <a:endParaRPr lang="en-US" sz="3600" b="1">
              <a:solidFill>
                <a:srgbClr val="1E1E1E"/>
              </a:solidFill>
              <a:latin typeface="思源黑体 2 Bold"/>
              <a:ea typeface="思源黑体 2 Bold"/>
              <a:cs typeface="思源黑体 2 Bold"/>
              <a:sym typeface="思源黑体 2 Bold"/>
            </a:endParaRPr>
          </a:p>
        </p:txBody>
      </p:sp>
      <p:sp>
        <p:nvSpPr>
          <p:cNvPr id="97" name="TextBox 44">
            <a:extLst>
              <a:ext uri="{FF2B5EF4-FFF2-40B4-BE49-F238E27FC236}">
                <a16:creationId xmlns:a16="http://schemas.microsoft.com/office/drawing/2014/main" id="{F1AE52CC-B1D0-B27C-EC67-594675169290}"/>
              </a:ext>
            </a:extLst>
          </p:cNvPr>
          <p:cNvSpPr txBox="1"/>
          <p:nvPr/>
        </p:nvSpPr>
        <p:spPr>
          <a:xfrm>
            <a:off x="1065680" y="4389555"/>
            <a:ext cx="16128695" cy="376834"/>
          </a:xfrm>
          <a:prstGeom prst="rect">
            <a:avLst/>
          </a:prstGeom>
        </p:spPr>
        <p:txBody>
          <a:bodyPr wrap="square" lIns="0" tIns="0" rIns="0" bIns="0" rtlCol="0" anchor="t">
            <a:spAutoFit/>
          </a:bodyPr>
          <a:lstStyle/>
          <a:p>
            <a:pPr algn="just">
              <a:lnSpc>
                <a:spcPts val="2856"/>
              </a:lnSpc>
            </a:pPr>
            <a:r>
              <a:rPr lang="zh-CN" altLang="en-US" sz="3200">
                <a:solidFill>
                  <a:srgbClr val="1E1E1E"/>
                </a:solidFill>
                <a:latin typeface="思源黑体 2"/>
                <a:ea typeface="思源黑体 2"/>
                <a:cs typeface="思源黑体 2"/>
                <a:sym typeface="思源黑体 2"/>
              </a:rPr>
              <a:t>隔离测试通过（</a:t>
            </a:r>
            <a:r>
              <a:rPr lang="en-US" altLang="zh-CN" sz="3200">
                <a:solidFill>
                  <a:srgbClr val="1E1E1E"/>
                </a:solidFill>
                <a:latin typeface="思源黑体 2"/>
                <a:ea typeface="思源黑体 2"/>
                <a:cs typeface="思源黑体 2"/>
                <a:sym typeface="思源黑体 2"/>
              </a:rPr>
              <a:t>8</a:t>
            </a:r>
            <a:r>
              <a:rPr lang="zh-CN" altLang="en-US" sz="3200">
                <a:solidFill>
                  <a:srgbClr val="1E1E1E"/>
                </a:solidFill>
                <a:latin typeface="思源黑体 2"/>
                <a:ea typeface="思源黑体 2"/>
                <a:cs typeface="思源黑体 2"/>
                <a:sym typeface="思源黑体 2"/>
              </a:rPr>
              <a:t>线程</a:t>
            </a:r>
            <a:r>
              <a:rPr lang="en-US" altLang="zh-CN" sz="3200">
                <a:solidFill>
                  <a:srgbClr val="1E1E1E"/>
                </a:solidFill>
                <a:latin typeface="思源黑体 2"/>
                <a:ea typeface="思源黑体 2"/>
                <a:cs typeface="思源黑体 2"/>
                <a:sym typeface="思源黑体 2"/>
              </a:rPr>
              <a:t>×20</a:t>
            </a:r>
            <a:r>
              <a:rPr lang="zh-CN" altLang="en-US" sz="3200">
                <a:solidFill>
                  <a:srgbClr val="1E1E1E"/>
                </a:solidFill>
                <a:latin typeface="思源黑体 2"/>
                <a:ea typeface="思源黑体 2"/>
                <a:cs typeface="思源黑体 2"/>
                <a:sym typeface="思源黑体 2"/>
              </a:rPr>
              <a:t>轮互不串话）</a:t>
            </a:r>
            <a:endParaRPr lang="en-US" sz="3200">
              <a:solidFill>
                <a:srgbClr val="1E1E1E"/>
              </a:solidFill>
              <a:latin typeface="思源黑体 2"/>
              <a:ea typeface="思源黑体 2"/>
              <a:cs typeface="思源黑体 2"/>
              <a:sym typeface="思源黑体 2"/>
            </a:endParaRPr>
          </a:p>
        </p:txBody>
      </p:sp>
      <p:sp>
        <p:nvSpPr>
          <p:cNvPr id="99" name="TextBox 45">
            <a:extLst>
              <a:ext uri="{FF2B5EF4-FFF2-40B4-BE49-F238E27FC236}">
                <a16:creationId xmlns:a16="http://schemas.microsoft.com/office/drawing/2014/main" id="{C0E05B26-D546-003E-2104-0EBDFE4B1D39}"/>
              </a:ext>
            </a:extLst>
          </p:cNvPr>
          <p:cNvSpPr txBox="1"/>
          <p:nvPr/>
        </p:nvSpPr>
        <p:spPr>
          <a:xfrm>
            <a:off x="1065680" y="3582933"/>
            <a:ext cx="11278719" cy="533416"/>
          </a:xfrm>
          <a:prstGeom prst="rect">
            <a:avLst/>
          </a:prstGeom>
        </p:spPr>
        <p:txBody>
          <a:bodyPr wrap="square" lIns="0" tIns="0" rIns="0" bIns="0" rtlCol="0" anchor="t">
            <a:spAutoFit/>
          </a:bodyPr>
          <a:lstStyle/>
          <a:p>
            <a:pPr algn="l">
              <a:lnSpc>
                <a:spcPts val="4368"/>
              </a:lnSpc>
            </a:pPr>
            <a:r>
              <a:rPr lang="zh-CN" altLang="en-US" sz="3600" b="1">
                <a:solidFill>
                  <a:srgbClr val="1E1E1E"/>
                </a:solidFill>
                <a:latin typeface="思源黑体 2 Bold"/>
                <a:ea typeface="思源黑体 2 Bold"/>
                <a:cs typeface="思源黑体 2 Bold"/>
                <a:sym typeface="思源黑体 2 Bold"/>
              </a:rPr>
              <a:t>多用户并发</a:t>
            </a:r>
            <a:endParaRPr lang="en-US" sz="3600" b="1">
              <a:solidFill>
                <a:srgbClr val="1E1E1E"/>
              </a:solidFill>
              <a:latin typeface="思源黑体 2 Bold"/>
              <a:ea typeface="思源黑体 2 Bold"/>
              <a:cs typeface="思源黑体 2 Bold"/>
              <a:sym typeface="思源黑体 2 Bold"/>
            </a:endParaRPr>
          </a:p>
        </p:txBody>
      </p:sp>
      <p:sp>
        <p:nvSpPr>
          <p:cNvPr id="16" name="TextBox 44">
            <a:extLst>
              <a:ext uri="{FF2B5EF4-FFF2-40B4-BE49-F238E27FC236}">
                <a16:creationId xmlns:a16="http://schemas.microsoft.com/office/drawing/2014/main" id="{F960ED61-2EFA-FB51-C7E7-8D5BD3B416A2}"/>
              </a:ext>
            </a:extLst>
          </p:cNvPr>
          <p:cNvSpPr txBox="1"/>
          <p:nvPr/>
        </p:nvSpPr>
        <p:spPr>
          <a:xfrm>
            <a:off x="1052830" y="8703951"/>
            <a:ext cx="15366698" cy="376834"/>
          </a:xfrm>
          <a:prstGeom prst="rect">
            <a:avLst/>
          </a:prstGeom>
        </p:spPr>
        <p:txBody>
          <a:bodyPr wrap="square" lIns="0" tIns="0" rIns="0" bIns="0" rtlCol="0" anchor="t">
            <a:spAutoFit/>
          </a:bodyPr>
          <a:lstStyle/>
          <a:p>
            <a:pPr algn="just">
              <a:lnSpc>
                <a:spcPts val="2856"/>
              </a:lnSpc>
            </a:pPr>
            <a:r>
              <a:rPr lang="zh-CN" altLang="en-US" sz="3200">
                <a:solidFill>
                  <a:srgbClr val="1E1E1E"/>
                </a:solidFill>
                <a:latin typeface="思源黑体 2"/>
                <a:ea typeface="思源黑体 2"/>
                <a:cs typeface="思源黑体 2"/>
                <a:sym typeface="思源黑体 2"/>
              </a:rPr>
              <a:t>通过（摘要压缩机制已实现）</a:t>
            </a:r>
            <a:endParaRPr lang="en-US" sz="3200">
              <a:solidFill>
                <a:srgbClr val="1E1E1E"/>
              </a:solidFill>
              <a:latin typeface="思源黑体 2"/>
              <a:ea typeface="思源黑体 2"/>
              <a:cs typeface="思源黑体 2"/>
              <a:sym typeface="思源黑体 2"/>
            </a:endParaRPr>
          </a:p>
        </p:txBody>
      </p:sp>
      <p:sp>
        <p:nvSpPr>
          <p:cNvPr id="25" name="TextBox 45">
            <a:extLst>
              <a:ext uri="{FF2B5EF4-FFF2-40B4-BE49-F238E27FC236}">
                <a16:creationId xmlns:a16="http://schemas.microsoft.com/office/drawing/2014/main" id="{DB349DE0-D688-2F2D-9B0A-B793A244A823}"/>
              </a:ext>
            </a:extLst>
          </p:cNvPr>
          <p:cNvSpPr txBox="1"/>
          <p:nvPr/>
        </p:nvSpPr>
        <p:spPr>
          <a:xfrm>
            <a:off x="1052829" y="7897329"/>
            <a:ext cx="9691365" cy="533416"/>
          </a:xfrm>
          <a:prstGeom prst="rect">
            <a:avLst/>
          </a:prstGeom>
        </p:spPr>
        <p:txBody>
          <a:bodyPr wrap="square" lIns="0" tIns="0" rIns="0" bIns="0" rtlCol="0" anchor="t">
            <a:spAutoFit/>
          </a:bodyPr>
          <a:lstStyle/>
          <a:p>
            <a:pPr algn="l">
              <a:lnSpc>
                <a:spcPts val="4368"/>
              </a:lnSpc>
            </a:pPr>
            <a:r>
              <a:rPr lang="zh-CN" altLang="en-US" sz="3600" b="1">
                <a:solidFill>
                  <a:srgbClr val="1E1E1E"/>
                </a:solidFill>
                <a:latin typeface="思源黑体 2 Bold"/>
                <a:ea typeface="思源黑体 2 Bold"/>
                <a:cs typeface="思源黑体 2 Bold"/>
                <a:sym typeface="思源黑体 2 Bold"/>
              </a:rPr>
              <a:t>边缘：超长对话（</a:t>
            </a:r>
            <a:r>
              <a:rPr lang="en-US" altLang="zh-CN" sz="3600" b="1">
                <a:solidFill>
                  <a:srgbClr val="1E1E1E"/>
                </a:solidFill>
                <a:latin typeface="思源黑体 2 Bold"/>
                <a:ea typeface="思源黑体 2 Bold"/>
                <a:cs typeface="思源黑体 2 Bold"/>
                <a:sym typeface="思源黑体 2 Bold"/>
              </a:rPr>
              <a:t>&gt;20 </a:t>
            </a:r>
            <a:r>
              <a:rPr lang="zh-CN" altLang="en-US" sz="3600" b="1">
                <a:solidFill>
                  <a:srgbClr val="1E1E1E"/>
                </a:solidFill>
                <a:latin typeface="思源黑体 2 Bold"/>
                <a:ea typeface="思源黑体 2 Bold"/>
                <a:cs typeface="思源黑体 2 Bold"/>
                <a:sym typeface="思源黑体 2 Bold"/>
              </a:rPr>
              <a:t>轮）</a:t>
            </a:r>
            <a:endParaRPr lang="en-US" sz="3600" b="1">
              <a:solidFill>
                <a:srgbClr val="1E1E1E"/>
              </a:solidFill>
              <a:latin typeface="思源黑体 2 Bold"/>
              <a:ea typeface="思源黑体 2 Bold"/>
              <a:cs typeface="思源黑体 2 Bold"/>
              <a:sym typeface="思源黑体 2 Bold"/>
            </a:endParaRPr>
          </a:p>
        </p:txBody>
      </p:sp>
      <p:pic>
        <p:nvPicPr>
          <p:cNvPr id="17" name="图片 16">
            <a:extLst>
              <a:ext uri="{FF2B5EF4-FFF2-40B4-BE49-F238E27FC236}">
                <a16:creationId xmlns:a16="http://schemas.microsoft.com/office/drawing/2014/main" id="{1BA4D433-939B-E0AA-72EF-3401432B72FB}"/>
              </a:ext>
            </a:extLst>
          </p:cNvPr>
          <p:cNvPicPr>
            <a:picLocks noChangeAspect="1"/>
          </p:cNvPicPr>
          <p:nvPr/>
        </p:nvPicPr>
        <p:blipFill>
          <a:blip r:embed="rId4"/>
          <a:stretch>
            <a:fillRect/>
          </a:stretch>
        </p:blipFill>
        <p:spPr>
          <a:xfrm>
            <a:off x="8128683" y="2932893"/>
            <a:ext cx="9902438" cy="5253650"/>
          </a:xfrm>
          <a:prstGeom prst="rect">
            <a:avLst/>
          </a:prstGeom>
        </p:spPr>
      </p:pic>
    </p:spTree>
    <p:extLst>
      <p:ext uri="{BB962C8B-B14F-4D97-AF65-F5344CB8AC3E}">
        <p14:creationId xmlns:p14="http://schemas.microsoft.com/office/powerpoint/2010/main" val="181777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9964-A823-8101-42DF-96FC4DF8933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11E115B-3EA2-3C52-3DCA-00F4F4E03F82}"/>
              </a:ext>
            </a:extLst>
          </p:cNvPr>
          <p:cNvSpPr txBox="1"/>
          <p:nvPr/>
        </p:nvSpPr>
        <p:spPr>
          <a:xfrm>
            <a:off x="1221328" y="791367"/>
            <a:ext cx="6122248" cy="790575"/>
          </a:xfrm>
          <a:prstGeom prst="rect">
            <a:avLst/>
          </a:prstGeom>
        </p:spPr>
        <p:txBody>
          <a:bodyPr lIns="0" tIns="0" rIns="0" bIns="0" rtlCol="0" anchor="t">
            <a:spAutoFit/>
          </a:bodyPr>
          <a:lstStyle/>
          <a:p>
            <a:pPr marL="0" marR="0" lvl="0" indent="0" algn="l" defTabSz="914400" rtl="0" eaLnBrk="1" fontAlgn="auto" latinLnBrk="0" hangingPunct="1">
              <a:lnSpc>
                <a:spcPts val="6239"/>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踩坑记录</a:t>
            </a:r>
            <a:endParaRPr kumimoji="0" lang="en-US" altLang="zh-CN"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EF40C53B-6C1F-C1AE-0F7A-57044EB17FFB}"/>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97497A60-37E1-6947-F5CF-8555AAFED5A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96819151-D099-7C30-235A-367E258B8737}"/>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D1BD5C33-E71A-2A66-1D30-EC38B21B131A}"/>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1278C8A3-EB08-073D-A18B-B8E963FB693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8706791F-4A4D-D157-1FAF-3372E4594581}"/>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ECB7FE84-C025-7A52-DAE4-CA7A6C01B4AA}"/>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38B63CA0-3672-0EED-63C9-29430AE5BE6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67E4A426-AD27-60A9-B05B-6181E8B35FC4}"/>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47ADFA2E-881B-ACCF-3385-3A55A0574ED6}"/>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01712BC4-BA23-CC25-C817-BD06A57CA10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1C7514EF-1F0E-E917-2730-368E4D945B8E}"/>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2E5EEB1C-C043-0C73-2195-F4A659169A0D}"/>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FFEF55AB-AD6F-69BF-82EA-5BE1C87D5B5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F5E9136F-C8DC-6EB4-2CAA-4F8D6BE673AE}"/>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91B866C4-D605-90BB-7840-95176CCABEF4}"/>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859213A3-A7D0-593E-274A-39C374C03F28}"/>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BE94D288-0F75-15DB-6279-80852FADC89A}"/>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TextBox 29">
            <a:extLst>
              <a:ext uri="{FF2B5EF4-FFF2-40B4-BE49-F238E27FC236}">
                <a16:creationId xmlns:a16="http://schemas.microsoft.com/office/drawing/2014/main" id="{EDCD5164-DC4C-81BF-1EA3-C0DF8FDDB29A}"/>
              </a:ext>
            </a:extLst>
          </p:cNvPr>
          <p:cNvSpPr txBox="1"/>
          <p:nvPr/>
        </p:nvSpPr>
        <p:spPr>
          <a:xfrm>
            <a:off x="1053918" y="2418238"/>
            <a:ext cx="17157882" cy="4179157"/>
          </a:xfrm>
          <a:prstGeom prst="rect">
            <a:avLst/>
          </a:prstGeom>
        </p:spPr>
        <p:txBody>
          <a:bodyPr wrap="square" lIns="0" tIns="0" rIns="0" bIns="0" rtlCol="0" anchor="t">
            <a:spAutoFit/>
          </a:body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zh-CN" altLang="en-US" sz="28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现</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象：</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Agent </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通道下右栏推理轨迹要等回答全部生成完才一次性出现，而不是实时的</a:t>
            </a:r>
            <a:endPar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endParaRPr>
          </a:p>
          <a:p>
            <a:pPr marL="0" marR="0" lvl="0" indent="0" algn="l" defTabSz="914400" rtl="0" eaLnBrk="1" fontAlgn="auto" latinLnBrk="0" hangingPunct="1">
              <a:lnSpc>
                <a:spcPct val="200000"/>
              </a:lnSpc>
              <a:spcBef>
                <a:spcPct val="0"/>
              </a:spcBef>
              <a:spcAft>
                <a:spcPts val="0"/>
              </a:spcAft>
              <a:buClrTx/>
              <a:buSzTx/>
              <a:buFontTx/>
              <a:buNone/>
              <a:tabLst/>
              <a:defRPr/>
            </a:pP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排查：后端 </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SSE </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逐事件推送正常，原因是 </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Streamlit </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自上而下执行</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整条事件流在左侧</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render_chat</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的循环里消费，右栏排在后面，只能等循环结束才渲染。</a:t>
            </a:r>
            <a:endParaRPr lang="en-US" altLang="zh-CN" sz="2800">
              <a:solidFill>
                <a:srgbClr val="100F0D"/>
              </a:solidFill>
              <a:latin typeface="思源黑体 2"/>
              <a:ea typeface="思源黑体 2"/>
              <a:cs typeface="思源黑体 2"/>
              <a:sym typeface="思源黑体 2"/>
            </a:endParaRPr>
          </a:p>
          <a:p>
            <a:pPr marL="0" marR="0" lvl="0" indent="0" algn="l" defTabSz="914400" rtl="0" eaLnBrk="1" fontAlgn="auto" latinLnBrk="0" hangingPunct="1">
              <a:lnSpc>
                <a:spcPct val="200000"/>
              </a:lnSpc>
              <a:spcBef>
                <a:spcPct val="0"/>
              </a:spcBef>
              <a:spcAft>
                <a:spcPts val="0"/>
              </a:spcAft>
              <a:buClrTx/>
              <a:buSzTx/>
              <a:buFontTx/>
              <a:buNone/>
              <a:tabLst/>
              <a:defRPr/>
            </a:pP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解决：把右栏占位槽提前到消费事件流之前创建、交给 </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chat </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在每条</a:t>
            </a:r>
            <a:r>
              <a:rPr kumimoji="0" lang="en-US" altLang="zh-CN"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thought/action/observation</a:t>
            </a:r>
            <a:r>
              <a:rPr kumimoji="0" lang="zh-CN" altLang="en-US" sz="28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时实时重绘，流结束后再整体替换为完整面板。</a:t>
            </a:r>
            <a:endParaRPr kumimoji="0" lang="zh-CN" altLang="en-US" sz="36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endParaRPr>
          </a:p>
        </p:txBody>
      </p:sp>
      <p:sp>
        <p:nvSpPr>
          <p:cNvPr id="30" name="TextBox 30">
            <a:extLst>
              <a:ext uri="{FF2B5EF4-FFF2-40B4-BE49-F238E27FC236}">
                <a16:creationId xmlns:a16="http://schemas.microsoft.com/office/drawing/2014/main" id="{65785FAE-C0FA-3897-6CDE-C4CD72DE15C6}"/>
              </a:ext>
            </a:extLst>
          </p:cNvPr>
          <p:cNvSpPr txBox="1"/>
          <p:nvPr/>
        </p:nvSpPr>
        <p:spPr>
          <a:xfrm>
            <a:off x="1064804" y="1884822"/>
            <a:ext cx="10896600" cy="533416"/>
          </a:xfrm>
          <a:prstGeom prst="rect">
            <a:avLst/>
          </a:prstGeom>
        </p:spPr>
        <p:txBody>
          <a:bodyPr wrap="square" lIns="0" tIns="0" rIns="0" bIns="0" rtlCol="0" anchor="t">
            <a:spAutoFit/>
          </a:bodyPr>
          <a:lstStyle/>
          <a:p>
            <a:pPr marL="0" marR="0" lvl="0" indent="0" defTabSz="914400" rtl="0" eaLnBrk="1" fontAlgn="auto" latinLnBrk="0" hangingPunct="1">
              <a:lnSpc>
                <a:spcPts val="4368"/>
              </a:lnSpc>
              <a:spcBef>
                <a:spcPct val="0"/>
              </a:spcBef>
              <a:spcAft>
                <a:spcPts val="0"/>
              </a:spcAft>
              <a:buClrTx/>
              <a:buSzTx/>
              <a:buFontTx/>
              <a:buNone/>
              <a:tabLst/>
              <a:defRPr/>
            </a:pPr>
            <a:r>
              <a:rPr kumimoji="0" lang="en-US" altLang="zh-CN"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Agent </a:t>
            </a:r>
            <a:r>
              <a:rPr kumimoji="0" lang="zh-CN" altLang="en-US"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推理轨迹不是实时的，最后一次性蹦出</a:t>
            </a:r>
            <a:endParaRPr kumimoji="0" lang="en-US" sz="32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28" name="TextBox 29">
            <a:extLst>
              <a:ext uri="{FF2B5EF4-FFF2-40B4-BE49-F238E27FC236}">
                <a16:creationId xmlns:a16="http://schemas.microsoft.com/office/drawing/2014/main" id="{9B75C2A9-9FB7-C12F-54D0-6BAB725E4E1C}"/>
              </a:ext>
            </a:extLst>
          </p:cNvPr>
          <p:cNvSpPr txBox="1"/>
          <p:nvPr/>
        </p:nvSpPr>
        <p:spPr>
          <a:xfrm>
            <a:off x="1053918" y="7092575"/>
            <a:ext cx="16739291" cy="2843407"/>
          </a:xfrm>
          <a:prstGeom prst="rect">
            <a:avLst/>
          </a:prstGeom>
        </p:spPr>
        <p:txBody>
          <a:bodyPr wrap="square" lIns="0" tIns="0" rIns="0" bIns="0" rtlCol="0" anchor="t">
            <a:spAutoFit/>
          </a:body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现</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象：会话列表不断冒出</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新会话 </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 0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条</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，越点新建</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删除越多。</a:t>
            </a:r>
            <a:endPar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endParaRPr>
          </a:p>
          <a:p>
            <a:pPr marL="0" marR="0" lvl="0" indent="0" algn="l" defTabSz="914400" rtl="0" eaLnBrk="1" fontAlgn="auto" latinLnBrk="0" hangingPunct="1">
              <a:lnSpc>
                <a:spcPct val="200000"/>
              </a:lnSpc>
              <a:spcBef>
                <a:spcPct val="0"/>
              </a:spcBef>
              <a:spcAft>
                <a:spcPts val="0"/>
              </a:spcAft>
              <a:buClrTx/>
              <a:buSzTx/>
              <a:buFontTx/>
              <a:buNone/>
              <a:tabLst/>
              <a:defRPr/>
            </a:pPr>
            <a:r>
              <a:rPr lang="zh-CN" altLang="en-US" sz="2400">
                <a:solidFill>
                  <a:srgbClr val="100F0D"/>
                </a:solidFill>
                <a:latin typeface="思源黑体 2"/>
                <a:ea typeface="思源黑体 2"/>
                <a:cs typeface="思源黑体 2"/>
                <a:sym typeface="思源黑体 2"/>
              </a:rPr>
              <a:t>排查</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：落盘目录里有一堆 </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158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字节、</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messages: []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的空文件</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新建</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删除</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切换都会无条件</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_save_session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一个空会话，再被</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_list_sessions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列出来。</a:t>
            </a:r>
            <a:endPar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endParaRPr>
          </a:p>
          <a:p>
            <a:pPr marL="0" marR="0" lvl="0" indent="0" algn="l" defTabSz="914400" rtl="0" eaLnBrk="1" fontAlgn="auto" latinLnBrk="0" hangingPunct="1">
              <a:lnSpc>
                <a:spcPct val="200000"/>
              </a:lnSpc>
              <a:spcBef>
                <a:spcPct val="0"/>
              </a:spcBef>
              <a:spcAft>
                <a:spcPts val="0"/>
              </a:spcAft>
              <a:buClrTx/>
              <a:buSzTx/>
              <a:buFontTx/>
              <a:buNone/>
              <a:tabLst/>
              <a:defRPr/>
            </a:pPr>
            <a:r>
              <a:rPr lang="zh-CN" altLang="en-US" sz="2400">
                <a:solidFill>
                  <a:srgbClr val="100F0D"/>
                </a:solidFill>
                <a:latin typeface="思源黑体 2"/>
                <a:ea typeface="思源黑体 2"/>
                <a:cs typeface="思源黑体 2"/>
                <a:sym typeface="思源黑体 2"/>
              </a:rPr>
              <a:t>解决</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：用 </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_session_has_content()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守卫三条保存路径让空会话不落盘，并加</a:t>
            </a:r>
            <a:r>
              <a:rPr kumimoji="0" lang="en-US" altLang="zh-CN"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_prune_empty_sessions() </a:t>
            </a:r>
            <a:r>
              <a:rPr kumimoji="0" lang="zh-CN" altLang="en-US" sz="2400" b="0" i="0" u="none" strike="noStrike" kern="1200" cap="none" spc="0" normalizeH="0" baseline="0" noProof="0">
                <a:ln>
                  <a:noFill/>
                </a:ln>
                <a:solidFill>
                  <a:srgbClr val="100F0D"/>
                </a:solidFill>
                <a:effectLst/>
                <a:uLnTx/>
                <a:uFillTx/>
                <a:latin typeface="思源黑体 2"/>
                <a:ea typeface="思源黑体 2"/>
                <a:cs typeface="思源黑体 2"/>
                <a:sym typeface="思源黑体 2"/>
              </a:rPr>
              <a:t>清理历史空文件。</a:t>
            </a:r>
            <a:endPar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endParaRPr>
          </a:p>
        </p:txBody>
      </p:sp>
      <p:sp>
        <p:nvSpPr>
          <p:cNvPr id="32" name="TextBox 30">
            <a:extLst>
              <a:ext uri="{FF2B5EF4-FFF2-40B4-BE49-F238E27FC236}">
                <a16:creationId xmlns:a16="http://schemas.microsoft.com/office/drawing/2014/main" id="{62C669E7-0246-B1BC-5A01-41383F160DCF}"/>
              </a:ext>
            </a:extLst>
          </p:cNvPr>
          <p:cNvSpPr txBox="1"/>
          <p:nvPr/>
        </p:nvSpPr>
        <p:spPr>
          <a:xfrm>
            <a:off x="949083" y="6714871"/>
            <a:ext cx="6398673" cy="492443"/>
          </a:xfrm>
          <a:prstGeom prst="rect">
            <a:avLst/>
          </a:prstGeom>
        </p:spPr>
        <p:txBody>
          <a:bodyPr wrap="square" lIns="0" tIns="0" rIns="0" bIns="0" rtlCol="0" anchor="t">
            <a:sp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zh-CN" altLang="en-US"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会话管理凭空多出很多</a:t>
            </a:r>
            <a:r>
              <a:rPr kumimoji="0" lang="en-US" altLang="zh-CN"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a:t>
            </a:r>
            <a:r>
              <a:rPr kumimoji="0" lang="zh-CN" altLang="en-US"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新会话</a:t>
            </a:r>
            <a:r>
              <a:rPr kumimoji="0" lang="en-US" altLang="zh-CN" sz="3200" b="1" i="0" u="none" strike="noStrike" kern="1200" cap="none" spc="0" normalizeH="0" baseline="0" noProof="0">
                <a:ln>
                  <a:noFill/>
                </a:ln>
                <a:solidFill>
                  <a:srgbClr val="1E1E1E"/>
                </a:solidFill>
                <a:effectLst/>
                <a:uLnTx/>
                <a:uFillTx/>
                <a:latin typeface="思源黑体 2 Bold"/>
                <a:ea typeface="思源黑体 2 Bold"/>
                <a:cs typeface="思源黑体 2 Bold"/>
                <a:sym typeface="思源黑体 2 Bold"/>
              </a:rPr>
              <a:t>"</a:t>
            </a:r>
            <a:endParaRPr kumimoji="0" lang="en-US" sz="32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1959237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6001-B939-726B-86C6-2595F263C9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04C8A1-5AD7-0BC8-D784-933A68AF5EE5}"/>
              </a:ext>
            </a:extLst>
          </p:cNvPr>
          <p:cNvGrpSpPr/>
          <p:nvPr/>
        </p:nvGrpSpPr>
        <p:grpSpPr>
          <a:xfrm>
            <a:off x="11951784" y="-4585021"/>
            <a:ext cx="14954963" cy="21156019"/>
            <a:chOff x="0" y="0"/>
            <a:chExt cx="19939950" cy="28208025"/>
          </a:xfrm>
        </p:grpSpPr>
        <p:grpSp>
          <p:nvGrpSpPr>
            <p:cNvPr id="3" name="Group 3">
              <a:extLst>
                <a:ext uri="{FF2B5EF4-FFF2-40B4-BE49-F238E27FC236}">
                  <a16:creationId xmlns:a16="http://schemas.microsoft.com/office/drawing/2014/main" id="{9E47CAEE-2BF5-D0CF-CF9B-7D8D1ED4769D}"/>
                </a:ext>
              </a:extLst>
            </p:cNvPr>
            <p:cNvGrpSpPr/>
            <p:nvPr/>
          </p:nvGrpSpPr>
          <p:grpSpPr>
            <a:xfrm>
              <a:off x="2979307" y="0"/>
              <a:ext cx="12531397" cy="11964703"/>
              <a:chOff x="0" y="0"/>
              <a:chExt cx="851297" cy="812800"/>
            </a:xfrm>
          </p:grpSpPr>
          <p:sp>
            <p:nvSpPr>
              <p:cNvPr id="4" name="Freeform 4">
                <a:extLst>
                  <a:ext uri="{FF2B5EF4-FFF2-40B4-BE49-F238E27FC236}">
                    <a16:creationId xmlns:a16="http://schemas.microsoft.com/office/drawing/2014/main" id="{6F9AA718-CF03-8B1D-3323-0E83D2DCF71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a:extLst>
                  <a:ext uri="{FF2B5EF4-FFF2-40B4-BE49-F238E27FC236}">
                    <a16:creationId xmlns:a16="http://schemas.microsoft.com/office/drawing/2014/main" id="{9B65D425-538E-C30F-A821-8130D83D3476}"/>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a:extLst>
                <a:ext uri="{FF2B5EF4-FFF2-40B4-BE49-F238E27FC236}">
                  <a16:creationId xmlns:a16="http://schemas.microsoft.com/office/drawing/2014/main" id="{D19A4592-E058-841B-1217-5F467B6027E2}"/>
                </a:ext>
              </a:extLst>
            </p:cNvPr>
            <p:cNvGrpSpPr/>
            <p:nvPr/>
          </p:nvGrpSpPr>
          <p:grpSpPr>
            <a:xfrm>
              <a:off x="5641873" y="3801375"/>
              <a:ext cx="12531397" cy="11964703"/>
              <a:chOff x="0" y="0"/>
              <a:chExt cx="851297" cy="812800"/>
            </a:xfrm>
          </p:grpSpPr>
          <p:sp>
            <p:nvSpPr>
              <p:cNvPr id="7" name="Freeform 7">
                <a:extLst>
                  <a:ext uri="{FF2B5EF4-FFF2-40B4-BE49-F238E27FC236}">
                    <a16:creationId xmlns:a16="http://schemas.microsoft.com/office/drawing/2014/main" id="{940A2E95-4675-A898-D40C-01EEF2174B2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a:extLst>
                  <a:ext uri="{FF2B5EF4-FFF2-40B4-BE49-F238E27FC236}">
                    <a16:creationId xmlns:a16="http://schemas.microsoft.com/office/drawing/2014/main" id="{56B84276-CF53-6234-0FCF-0CADB54B101F}"/>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a:extLst>
                <a:ext uri="{FF2B5EF4-FFF2-40B4-BE49-F238E27FC236}">
                  <a16:creationId xmlns:a16="http://schemas.microsoft.com/office/drawing/2014/main" id="{52B04C6D-AB7D-DAF1-9A1F-19AD640726AD}"/>
                </a:ext>
              </a:extLst>
            </p:cNvPr>
            <p:cNvGrpSpPr/>
            <p:nvPr/>
          </p:nvGrpSpPr>
          <p:grpSpPr>
            <a:xfrm>
              <a:off x="7408553" y="6714596"/>
              <a:ext cx="12531397" cy="11964703"/>
              <a:chOff x="0" y="0"/>
              <a:chExt cx="851297" cy="812800"/>
            </a:xfrm>
          </p:grpSpPr>
          <p:sp>
            <p:nvSpPr>
              <p:cNvPr id="10" name="Freeform 10">
                <a:extLst>
                  <a:ext uri="{FF2B5EF4-FFF2-40B4-BE49-F238E27FC236}">
                    <a16:creationId xmlns:a16="http://schemas.microsoft.com/office/drawing/2014/main" id="{3511BD0F-F597-B1DD-4572-C623C22BA1A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a:extLst>
                  <a:ext uri="{FF2B5EF4-FFF2-40B4-BE49-F238E27FC236}">
                    <a16:creationId xmlns:a16="http://schemas.microsoft.com/office/drawing/2014/main" id="{CB7BD926-95D8-BDE7-98BC-6616A5033929}"/>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a:extLst>
                <a:ext uri="{FF2B5EF4-FFF2-40B4-BE49-F238E27FC236}">
                  <a16:creationId xmlns:a16="http://schemas.microsoft.com/office/drawing/2014/main" id="{D0969A49-231C-7227-CB66-19B464861433}"/>
                </a:ext>
              </a:extLst>
            </p:cNvPr>
            <p:cNvGrpSpPr/>
            <p:nvPr/>
          </p:nvGrpSpPr>
          <p:grpSpPr>
            <a:xfrm>
              <a:off x="4568307" y="15697698"/>
              <a:ext cx="9353396" cy="8930418"/>
              <a:chOff x="0" y="0"/>
              <a:chExt cx="851297" cy="812800"/>
            </a:xfrm>
          </p:grpSpPr>
          <p:sp>
            <p:nvSpPr>
              <p:cNvPr id="13" name="Freeform 13">
                <a:extLst>
                  <a:ext uri="{FF2B5EF4-FFF2-40B4-BE49-F238E27FC236}">
                    <a16:creationId xmlns:a16="http://schemas.microsoft.com/office/drawing/2014/main" id="{9D40C9FE-AC80-6C5A-5708-9C4E779E04E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a:extLst>
                  <a:ext uri="{FF2B5EF4-FFF2-40B4-BE49-F238E27FC236}">
                    <a16:creationId xmlns:a16="http://schemas.microsoft.com/office/drawing/2014/main" id="{F5BEC4F0-139B-9486-1C9B-6E4B73474AD2}"/>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a:extLst>
                <a:ext uri="{FF2B5EF4-FFF2-40B4-BE49-F238E27FC236}">
                  <a16:creationId xmlns:a16="http://schemas.microsoft.com/office/drawing/2014/main" id="{5C008DFE-B774-3B40-3EE7-6CE0DAEB5527}"/>
                </a:ext>
              </a:extLst>
            </p:cNvPr>
            <p:cNvGrpSpPr/>
            <p:nvPr/>
          </p:nvGrpSpPr>
          <p:grpSpPr>
            <a:xfrm rot="2700000">
              <a:off x="1734689" y="17150758"/>
              <a:ext cx="9714738" cy="8930418"/>
              <a:chOff x="0" y="0"/>
              <a:chExt cx="884185" cy="812800"/>
            </a:xfrm>
          </p:grpSpPr>
          <p:sp>
            <p:nvSpPr>
              <p:cNvPr id="16" name="Freeform 16">
                <a:extLst>
                  <a:ext uri="{FF2B5EF4-FFF2-40B4-BE49-F238E27FC236}">
                    <a16:creationId xmlns:a16="http://schemas.microsoft.com/office/drawing/2014/main" id="{924CF35D-DD8A-9377-6F00-014376A755AB}"/>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a:extLst>
                  <a:ext uri="{FF2B5EF4-FFF2-40B4-BE49-F238E27FC236}">
                    <a16:creationId xmlns:a16="http://schemas.microsoft.com/office/drawing/2014/main" id="{AF5BA770-849E-D7E5-4AB8-A207A1968D60}"/>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8" name="Group 18">
            <a:extLst>
              <a:ext uri="{FF2B5EF4-FFF2-40B4-BE49-F238E27FC236}">
                <a16:creationId xmlns:a16="http://schemas.microsoft.com/office/drawing/2014/main" id="{DEFC1F60-98A5-D82B-DD6C-9B934F41EBDA}"/>
              </a:ext>
            </a:extLst>
          </p:cNvPr>
          <p:cNvGrpSpPr/>
          <p:nvPr/>
        </p:nvGrpSpPr>
        <p:grpSpPr>
          <a:xfrm>
            <a:off x="-7716935" y="-5325030"/>
            <a:ext cx="14954963" cy="21156019"/>
            <a:chOff x="0" y="0"/>
            <a:chExt cx="19939950" cy="28208025"/>
          </a:xfrm>
        </p:grpSpPr>
        <p:grpSp>
          <p:nvGrpSpPr>
            <p:cNvPr id="19" name="Group 19">
              <a:extLst>
                <a:ext uri="{FF2B5EF4-FFF2-40B4-BE49-F238E27FC236}">
                  <a16:creationId xmlns:a16="http://schemas.microsoft.com/office/drawing/2014/main" id="{6DCF73BD-93A4-A717-05A7-B2E8DD669670}"/>
                </a:ext>
              </a:extLst>
            </p:cNvPr>
            <p:cNvGrpSpPr/>
            <p:nvPr/>
          </p:nvGrpSpPr>
          <p:grpSpPr>
            <a:xfrm rot="-10800000">
              <a:off x="4429246" y="16243322"/>
              <a:ext cx="12531397" cy="11964703"/>
              <a:chOff x="0" y="0"/>
              <a:chExt cx="851297" cy="812800"/>
            </a:xfrm>
          </p:grpSpPr>
          <p:sp>
            <p:nvSpPr>
              <p:cNvPr id="20" name="Freeform 20">
                <a:extLst>
                  <a:ext uri="{FF2B5EF4-FFF2-40B4-BE49-F238E27FC236}">
                    <a16:creationId xmlns:a16="http://schemas.microsoft.com/office/drawing/2014/main" id="{4C72E0D3-50CE-3772-239F-E283E43AC5A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a:extLst>
                  <a:ext uri="{FF2B5EF4-FFF2-40B4-BE49-F238E27FC236}">
                    <a16:creationId xmlns:a16="http://schemas.microsoft.com/office/drawing/2014/main" id="{C1CAB6EA-086B-03C1-7779-3EC787FF1F3E}"/>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30555FD6-6B51-6E92-1B10-23743A3B6674}"/>
                </a:ext>
              </a:extLst>
            </p:cNvPr>
            <p:cNvGrpSpPr/>
            <p:nvPr/>
          </p:nvGrpSpPr>
          <p:grpSpPr>
            <a:xfrm rot="-10800000">
              <a:off x="1766680" y="12441947"/>
              <a:ext cx="12531397" cy="11964703"/>
              <a:chOff x="0" y="0"/>
              <a:chExt cx="851297" cy="812800"/>
            </a:xfrm>
          </p:grpSpPr>
          <p:sp>
            <p:nvSpPr>
              <p:cNvPr id="23" name="Freeform 23">
                <a:extLst>
                  <a:ext uri="{FF2B5EF4-FFF2-40B4-BE49-F238E27FC236}">
                    <a16:creationId xmlns:a16="http://schemas.microsoft.com/office/drawing/2014/main" id="{CC8BAF92-405E-3740-8C0B-FD4D40004EE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a:extLst>
                  <a:ext uri="{FF2B5EF4-FFF2-40B4-BE49-F238E27FC236}">
                    <a16:creationId xmlns:a16="http://schemas.microsoft.com/office/drawing/2014/main" id="{EB0B3386-6CBF-4E5D-666C-1802EFF391F3}"/>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FF66431B-9617-1F45-A788-7B4528202E11}"/>
                </a:ext>
              </a:extLst>
            </p:cNvPr>
            <p:cNvGrpSpPr/>
            <p:nvPr/>
          </p:nvGrpSpPr>
          <p:grpSpPr>
            <a:xfrm rot="-10800000">
              <a:off x="0" y="9528727"/>
              <a:ext cx="12531397" cy="11964703"/>
              <a:chOff x="0" y="0"/>
              <a:chExt cx="851297" cy="812800"/>
            </a:xfrm>
          </p:grpSpPr>
          <p:sp>
            <p:nvSpPr>
              <p:cNvPr id="26" name="Freeform 26">
                <a:extLst>
                  <a:ext uri="{FF2B5EF4-FFF2-40B4-BE49-F238E27FC236}">
                    <a16:creationId xmlns:a16="http://schemas.microsoft.com/office/drawing/2014/main" id="{3A968666-2482-CEAE-ECC3-21E65F1D45D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a:extLst>
                  <a:ext uri="{FF2B5EF4-FFF2-40B4-BE49-F238E27FC236}">
                    <a16:creationId xmlns:a16="http://schemas.microsoft.com/office/drawing/2014/main" id="{66915CE4-4A58-5938-9712-DDD872D7E04C}"/>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8">
              <a:extLst>
                <a:ext uri="{FF2B5EF4-FFF2-40B4-BE49-F238E27FC236}">
                  <a16:creationId xmlns:a16="http://schemas.microsoft.com/office/drawing/2014/main" id="{FC04E54E-016D-C167-9A65-358A2D1E2FC9}"/>
                </a:ext>
              </a:extLst>
            </p:cNvPr>
            <p:cNvGrpSpPr/>
            <p:nvPr/>
          </p:nvGrpSpPr>
          <p:grpSpPr>
            <a:xfrm rot="-10800000">
              <a:off x="6018247" y="3579910"/>
              <a:ext cx="9353396" cy="8930418"/>
              <a:chOff x="0" y="0"/>
              <a:chExt cx="851297" cy="812800"/>
            </a:xfrm>
          </p:grpSpPr>
          <p:sp>
            <p:nvSpPr>
              <p:cNvPr id="29" name="Freeform 29">
                <a:extLst>
                  <a:ext uri="{FF2B5EF4-FFF2-40B4-BE49-F238E27FC236}">
                    <a16:creationId xmlns:a16="http://schemas.microsoft.com/office/drawing/2014/main" id="{9F351641-A405-E1F3-C5C3-60DF4F693EC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a:extLst>
                  <a:ext uri="{FF2B5EF4-FFF2-40B4-BE49-F238E27FC236}">
                    <a16:creationId xmlns:a16="http://schemas.microsoft.com/office/drawing/2014/main" id="{1F06B0D4-6365-C9B1-90B9-0883B1854A84}"/>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a:extLst>
                <a:ext uri="{FF2B5EF4-FFF2-40B4-BE49-F238E27FC236}">
                  <a16:creationId xmlns:a16="http://schemas.microsoft.com/office/drawing/2014/main" id="{B0B5DFA0-3281-C8D1-7209-7A6F7AEFB0D5}"/>
                </a:ext>
              </a:extLst>
            </p:cNvPr>
            <p:cNvGrpSpPr/>
            <p:nvPr/>
          </p:nvGrpSpPr>
          <p:grpSpPr>
            <a:xfrm rot="-8100000">
              <a:off x="8490523" y="2126849"/>
              <a:ext cx="9714738" cy="8930418"/>
              <a:chOff x="0" y="0"/>
              <a:chExt cx="884185" cy="812800"/>
            </a:xfrm>
          </p:grpSpPr>
          <p:sp>
            <p:nvSpPr>
              <p:cNvPr id="32" name="Freeform 32">
                <a:extLst>
                  <a:ext uri="{FF2B5EF4-FFF2-40B4-BE49-F238E27FC236}">
                    <a16:creationId xmlns:a16="http://schemas.microsoft.com/office/drawing/2014/main" id="{2EBD0385-4217-C6B5-CCA3-096CD5EB5A00}"/>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a:extLst>
                  <a:ext uri="{FF2B5EF4-FFF2-40B4-BE49-F238E27FC236}">
                    <a16:creationId xmlns:a16="http://schemas.microsoft.com/office/drawing/2014/main" id="{6E11E81B-C5DE-B2A0-CFE6-E44953899E4C}"/>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4" name="TextBox 34">
            <a:extLst>
              <a:ext uri="{FF2B5EF4-FFF2-40B4-BE49-F238E27FC236}">
                <a16:creationId xmlns:a16="http://schemas.microsoft.com/office/drawing/2014/main" id="{04CB0F09-0A8E-24E8-5F45-09709E0ADCE3}"/>
              </a:ext>
            </a:extLst>
          </p:cNvPr>
          <p:cNvSpPr txBox="1"/>
          <p:nvPr/>
        </p:nvSpPr>
        <p:spPr>
          <a:xfrm>
            <a:off x="4597505" y="3115430"/>
            <a:ext cx="9261098" cy="4790992"/>
          </a:xfrm>
          <a:prstGeom prst="rect">
            <a:avLst/>
          </a:prstGeom>
        </p:spPr>
        <p:txBody>
          <a:bodyPr wrap="square" lIns="0" tIns="0" rIns="0" bIns="0" rtlCol="0" anchor="t">
            <a:spAutoFit/>
          </a:bodyPr>
          <a:lstStyle/>
          <a:p>
            <a:pPr marL="0" marR="0" lvl="0" indent="0" algn="ctr" defTabSz="914400" rtl="0" eaLnBrk="1" fontAlgn="auto" latinLnBrk="0" hangingPunct="1">
              <a:lnSpc>
                <a:spcPts val="18969"/>
              </a:lnSpc>
              <a:spcBef>
                <a:spcPts val="0"/>
              </a:spcBef>
              <a:spcAft>
                <a:spcPts val="0"/>
              </a:spcAft>
              <a:buClrTx/>
              <a:buSzTx/>
              <a:buFontTx/>
              <a:buNone/>
              <a:tabLst/>
              <a:defRPr/>
            </a:pPr>
            <a:r>
              <a:rPr lang="zh-CN" altLang="en-US" sz="9600" b="1" dirty="0">
                <a:solidFill>
                  <a:srgbClr val="1E1E1E"/>
                </a:solidFill>
                <a:latin typeface="思源黑体 4 Bold"/>
                <a:ea typeface="思源黑体 4 Bold"/>
                <a:cs typeface="思源黑体 4 Bold"/>
                <a:sym typeface="思源黑体 4 Bold"/>
              </a:rPr>
              <a:t>功能演示</a:t>
            </a:r>
            <a:endParaRPr kumimoji="0" lang="en-US" altLang="zh-CN" sz="96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endParaRPr>
          </a:p>
          <a:p>
            <a:pPr marL="0" marR="0" lvl="0" indent="0" algn="ctr" defTabSz="914400" rtl="0" eaLnBrk="1" fontAlgn="auto" latinLnBrk="0" hangingPunct="1">
              <a:lnSpc>
                <a:spcPts val="18969"/>
              </a:lnSpc>
              <a:spcBef>
                <a:spcPts val="0"/>
              </a:spcBef>
              <a:spcAft>
                <a:spcPts val="0"/>
              </a:spcAft>
              <a:buClrTx/>
              <a:buSzTx/>
              <a:buFontTx/>
              <a:buNone/>
              <a:tabLst/>
              <a:defRPr/>
            </a:pPr>
            <a:endParaRPr kumimoji="0" lang="en-US" sz="15808" b="1" i="0" u="none" strike="noStrike" kern="1200" cap="none" spc="0" normalizeH="0" baseline="0" noProof="0" dirty="0">
              <a:ln>
                <a:noFill/>
              </a:ln>
              <a:solidFill>
                <a:srgbClr val="263D6D"/>
              </a:solidFill>
              <a:effectLst/>
              <a:uLnTx/>
              <a:uFillTx/>
              <a:latin typeface="Akzidenz-Grotesk Bold"/>
              <a:ea typeface="Akzidenz-Grotesk Bold"/>
              <a:cs typeface="Akzidenz-Grotesk Bold"/>
              <a:sym typeface="Akzidenz-Grotesk Bold"/>
            </a:endParaRPr>
          </a:p>
        </p:txBody>
      </p:sp>
      <p:sp>
        <p:nvSpPr>
          <p:cNvPr id="40" name="TextBox 40">
            <a:extLst>
              <a:ext uri="{FF2B5EF4-FFF2-40B4-BE49-F238E27FC236}">
                <a16:creationId xmlns:a16="http://schemas.microsoft.com/office/drawing/2014/main" id="{74D57EC7-E8C6-B32C-F42B-8031A918AB57}"/>
              </a:ext>
            </a:extLst>
          </p:cNvPr>
          <p:cNvSpPr txBox="1"/>
          <p:nvPr/>
        </p:nvSpPr>
        <p:spPr>
          <a:xfrm>
            <a:off x="6334172" y="5921956"/>
            <a:ext cx="5619654" cy="276999"/>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kzidenz-Grotesk Medium"/>
                <a:ea typeface="Akzidenz-Grotesk Medium"/>
                <a:cs typeface="Akzidenz-Grotesk Medium"/>
                <a:sym typeface="Akzidenz-Grotesk Medium"/>
              </a:rPr>
              <a:t>TECHNICAL       ARCHITECTURE</a:t>
            </a:r>
          </a:p>
        </p:txBody>
      </p:sp>
    </p:spTree>
    <p:extLst>
      <p:ext uri="{BB962C8B-B14F-4D97-AF65-F5344CB8AC3E}">
        <p14:creationId xmlns:p14="http://schemas.microsoft.com/office/powerpoint/2010/main" val="2186703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1E9DC-2986-AE9D-C409-BB7F60907873}"/>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FA8F54E2-08D8-037B-DC9B-E8AC1C023012}"/>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C0EA84F0-6A4C-17A5-BDC9-7D019910CB9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6D379799-AEBC-33E7-6375-F87F17F2FAB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EE1B17FD-8D86-0751-D56F-578C557DBDDA}"/>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547BDB38-7C60-F624-B4A0-633E1DFD212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AA8F6240-F171-5A4A-069B-5783B781D090}"/>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AFEAA33F-890A-E4D8-6DE5-365A25AC0317}"/>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B122CCDE-234F-D177-C754-EA6DE8C51AA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219237FF-8212-1B6F-4426-C490FD02E2F1}"/>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17788563-4204-D3EE-B19B-25C0F6E64629}"/>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0EE7C20A-0625-ADAF-3891-6A29D860B637}"/>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D0732804-42A0-3212-D6B0-8CF23A34C9F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96708CE6-E3D0-0D39-E2B4-62777760FBEC}"/>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5218886F-BA38-CA03-72C4-90DA81073DE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3507545A-1595-92A6-DC20-C12D3874B961}"/>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3B01C542-837D-1BE3-7629-B46FE64AF6BC}"/>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9D9BABEF-5C00-8B49-5DE1-8D3322CDC14F}"/>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383C3B3A-E19F-EB01-0F8B-9BB5D2859BC3}"/>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pic>
        <p:nvPicPr>
          <p:cNvPr id="29" name="图片 28">
            <a:extLst>
              <a:ext uri="{FF2B5EF4-FFF2-40B4-BE49-F238E27FC236}">
                <a16:creationId xmlns:a16="http://schemas.microsoft.com/office/drawing/2014/main" id="{00E0E17A-14EA-2902-7EB6-2D5C5579BA08}"/>
              </a:ext>
            </a:extLst>
          </p:cNvPr>
          <p:cNvPicPr>
            <a:picLocks noChangeAspect="1"/>
          </p:cNvPicPr>
          <p:nvPr/>
        </p:nvPicPr>
        <p:blipFill>
          <a:blip r:embed="rId2"/>
          <a:stretch>
            <a:fillRect/>
          </a:stretch>
        </p:blipFill>
        <p:spPr>
          <a:xfrm>
            <a:off x="941830" y="785364"/>
            <a:ext cx="16199683" cy="8763450"/>
          </a:xfrm>
          <a:prstGeom prst="rect">
            <a:avLst/>
          </a:prstGeom>
        </p:spPr>
      </p:pic>
    </p:spTree>
    <p:extLst>
      <p:ext uri="{BB962C8B-B14F-4D97-AF65-F5344CB8AC3E}">
        <p14:creationId xmlns:p14="http://schemas.microsoft.com/office/powerpoint/2010/main" val="3122990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0565E-A2D9-67A6-23E1-0A7721E00DAE}"/>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CA3C6717-0FF1-8FDB-26CA-1D8AAA6D0F0E}"/>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F47A451E-4099-9F01-EBB8-298DD895F81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2597547D-F43A-2947-6C17-C959C0429200}"/>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E11B1AB1-DA6A-046F-B270-47C4759A8DA9}"/>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0C30EB1C-FAE9-044B-2C03-61EC4BDE899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AB85B301-130F-9145-DA49-80552E2587F8}"/>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FCF88718-2CE1-B71E-5EA6-212BC8F9B75F}"/>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298BEAAA-9CBB-6E6C-A225-A340BDFDB67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F3E45F89-EE05-E742-8A7C-90E4BFD418FC}"/>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D90A14B4-4705-663E-37E0-8412C31F7994}"/>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F6F629A3-3061-49B6-DBCF-3C23549D0F7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4B6507DF-E72C-449D-91CA-572526BBC04A}"/>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7F121CAC-3748-4AA5-FCCD-E52ABDAC83CB}"/>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CF27D413-EB0F-8FFC-E4B0-A925CB1BC79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ABDC08D2-009A-BF92-B19C-531D0494F0B4}"/>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0FA05E3D-3828-EA8A-85F9-A68190A9B1F7}"/>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DAA1F964-7359-9F36-B3DB-B5D0D405EFF8}"/>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5B7A02D3-9A76-39C7-CB21-CC04EF598829}"/>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pic>
        <p:nvPicPr>
          <p:cNvPr id="3" name="图片 2">
            <a:extLst>
              <a:ext uri="{FF2B5EF4-FFF2-40B4-BE49-F238E27FC236}">
                <a16:creationId xmlns:a16="http://schemas.microsoft.com/office/drawing/2014/main" id="{F5B4B380-6AF5-78F2-09A9-1B3B71E9C888}"/>
              </a:ext>
            </a:extLst>
          </p:cNvPr>
          <p:cNvPicPr>
            <a:picLocks noChangeAspect="1"/>
          </p:cNvPicPr>
          <p:nvPr/>
        </p:nvPicPr>
        <p:blipFill>
          <a:blip r:embed="rId2"/>
          <a:stretch>
            <a:fillRect/>
          </a:stretch>
        </p:blipFill>
        <p:spPr>
          <a:xfrm>
            <a:off x="727055" y="2006157"/>
            <a:ext cx="2311519" cy="4235668"/>
          </a:xfrm>
          <a:prstGeom prst="rect">
            <a:avLst/>
          </a:prstGeom>
        </p:spPr>
      </p:pic>
      <p:pic>
        <p:nvPicPr>
          <p:cNvPr id="17" name="图片 16">
            <a:extLst>
              <a:ext uri="{FF2B5EF4-FFF2-40B4-BE49-F238E27FC236}">
                <a16:creationId xmlns:a16="http://schemas.microsoft.com/office/drawing/2014/main" id="{E6B7ACD0-CC0F-CBDB-0546-A97CAC8CB5C7}"/>
              </a:ext>
            </a:extLst>
          </p:cNvPr>
          <p:cNvPicPr>
            <a:picLocks noChangeAspect="1"/>
          </p:cNvPicPr>
          <p:nvPr/>
        </p:nvPicPr>
        <p:blipFill>
          <a:blip r:embed="rId3"/>
          <a:stretch>
            <a:fillRect/>
          </a:stretch>
        </p:blipFill>
        <p:spPr>
          <a:xfrm>
            <a:off x="703429" y="6667500"/>
            <a:ext cx="2305168" cy="2190863"/>
          </a:xfrm>
          <a:prstGeom prst="rect">
            <a:avLst/>
          </a:prstGeom>
        </p:spPr>
      </p:pic>
      <p:pic>
        <p:nvPicPr>
          <p:cNvPr id="25" name="图片 24">
            <a:extLst>
              <a:ext uri="{FF2B5EF4-FFF2-40B4-BE49-F238E27FC236}">
                <a16:creationId xmlns:a16="http://schemas.microsoft.com/office/drawing/2014/main" id="{58B2311D-FE27-FCAA-8290-1EB475F1B189}"/>
              </a:ext>
            </a:extLst>
          </p:cNvPr>
          <p:cNvPicPr>
            <a:picLocks noChangeAspect="1"/>
          </p:cNvPicPr>
          <p:nvPr/>
        </p:nvPicPr>
        <p:blipFill>
          <a:blip r:embed="rId4"/>
          <a:stretch>
            <a:fillRect/>
          </a:stretch>
        </p:blipFill>
        <p:spPr>
          <a:xfrm>
            <a:off x="3363172" y="805464"/>
            <a:ext cx="13665902" cy="8826954"/>
          </a:xfrm>
          <a:prstGeom prst="rect">
            <a:avLst/>
          </a:prstGeom>
        </p:spPr>
      </p:pic>
    </p:spTree>
    <p:extLst>
      <p:ext uri="{BB962C8B-B14F-4D97-AF65-F5344CB8AC3E}">
        <p14:creationId xmlns:p14="http://schemas.microsoft.com/office/powerpoint/2010/main" val="2243379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DB44-80C7-A65F-E175-361AEF50AA03}"/>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392710B7-0F15-781F-C4C2-2023FDB79334}"/>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6B331C0E-2463-7C79-1760-433986E57E6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F2261008-0B35-55C5-F7A9-7CF60DA2B94B}"/>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9EC95F56-8D67-FDD1-3F0F-74E7943E156E}"/>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CCE294D7-D3DA-86CD-A216-0ECEDA4913E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B515CA56-80B7-3683-0070-604146B68809}"/>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2C77ED4A-40BA-B688-8CF5-FC32AA480860}"/>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DBDC243B-BCAA-7504-1000-BD6981BDC4E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9D2090A4-5F30-0F1E-297E-5373EC160343}"/>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8229FEAB-367C-EA1A-04D7-2424092EBE2E}"/>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1DE33613-8AF5-40CA-D91F-CA5F3AF7C76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78776939-F74C-DBE5-E5D6-922089D467CD}"/>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8" name="Group 18">
            <a:extLst>
              <a:ext uri="{FF2B5EF4-FFF2-40B4-BE49-F238E27FC236}">
                <a16:creationId xmlns:a16="http://schemas.microsoft.com/office/drawing/2014/main" id="{8C984AAE-9115-CCAE-8ADD-5FC6BC981283}"/>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B93A17B4-F7E8-B0F0-476B-52224E642CA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CF62F252-B5D5-2E15-8C2B-E45DB49F584A}"/>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86BEC2C9-166A-3D04-C72F-BFF476F92116}"/>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B862F96A-7B75-94CF-CC60-E170F613910B}"/>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0D5B6E43-7680-596D-B631-E275EDDDC58F}"/>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pic>
        <p:nvPicPr>
          <p:cNvPr id="3" name="图片 2">
            <a:extLst>
              <a:ext uri="{FF2B5EF4-FFF2-40B4-BE49-F238E27FC236}">
                <a16:creationId xmlns:a16="http://schemas.microsoft.com/office/drawing/2014/main" id="{5E8725D9-97B6-3134-A3F5-0C89235DD4DB}"/>
              </a:ext>
            </a:extLst>
          </p:cNvPr>
          <p:cNvPicPr>
            <a:picLocks noChangeAspect="1"/>
          </p:cNvPicPr>
          <p:nvPr/>
        </p:nvPicPr>
        <p:blipFill>
          <a:blip r:embed="rId2"/>
          <a:stretch>
            <a:fillRect/>
          </a:stretch>
        </p:blipFill>
        <p:spPr>
          <a:xfrm>
            <a:off x="727055" y="2006157"/>
            <a:ext cx="2311519" cy="4235668"/>
          </a:xfrm>
          <a:prstGeom prst="rect">
            <a:avLst/>
          </a:prstGeom>
        </p:spPr>
      </p:pic>
      <p:pic>
        <p:nvPicPr>
          <p:cNvPr id="17" name="图片 16">
            <a:extLst>
              <a:ext uri="{FF2B5EF4-FFF2-40B4-BE49-F238E27FC236}">
                <a16:creationId xmlns:a16="http://schemas.microsoft.com/office/drawing/2014/main" id="{54B7ED30-2893-6E24-03CE-B8EA15B677FA}"/>
              </a:ext>
            </a:extLst>
          </p:cNvPr>
          <p:cNvPicPr>
            <a:picLocks noChangeAspect="1"/>
          </p:cNvPicPr>
          <p:nvPr/>
        </p:nvPicPr>
        <p:blipFill>
          <a:blip r:embed="rId3"/>
          <a:stretch>
            <a:fillRect/>
          </a:stretch>
        </p:blipFill>
        <p:spPr>
          <a:xfrm>
            <a:off x="703429" y="6667500"/>
            <a:ext cx="2305168" cy="2190863"/>
          </a:xfrm>
          <a:prstGeom prst="rect">
            <a:avLst/>
          </a:prstGeom>
        </p:spPr>
      </p:pic>
      <p:pic>
        <p:nvPicPr>
          <p:cNvPr id="16" name="图片 15">
            <a:extLst>
              <a:ext uri="{FF2B5EF4-FFF2-40B4-BE49-F238E27FC236}">
                <a16:creationId xmlns:a16="http://schemas.microsoft.com/office/drawing/2014/main" id="{8C1E4271-1831-4A87-F7D3-0B55A0D6E3C6}"/>
              </a:ext>
            </a:extLst>
          </p:cNvPr>
          <p:cNvPicPr>
            <a:picLocks noChangeAspect="1"/>
          </p:cNvPicPr>
          <p:nvPr/>
        </p:nvPicPr>
        <p:blipFill>
          <a:blip r:embed="rId4"/>
          <a:stretch>
            <a:fillRect/>
          </a:stretch>
        </p:blipFill>
        <p:spPr>
          <a:xfrm>
            <a:off x="3505200" y="1069700"/>
            <a:ext cx="12465691" cy="7868054"/>
          </a:xfrm>
          <a:prstGeom prst="rect">
            <a:avLst/>
          </a:prstGeom>
        </p:spPr>
      </p:pic>
    </p:spTree>
    <p:extLst>
      <p:ext uri="{BB962C8B-B14F-4D97-AF65-F5344CB8AC3E}">
        <p14:creationId xmlns:p14="http://schemas.microsoft.com/office/powerpoint/2010/main" val="236441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1B12-AE23-E99E-4E77-2F3B7D439AC6}"/>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D0930FD4-E908-861E-1CB6-3E1846B6E051}"/>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565D3BF1-F7FC-1F01-7BAF-12B5D40AC12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9BA7E277-73DF-D023-0B01-7411F3FCD792}"/>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2CA1FA87-2BEE-C0BD-45BF-AB79F30FAD0E}"/>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F41E54D4-37D9-A351-325E-1740826B805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044D7FD9-0692-4A80-C086-F9FCE681EC38}"/>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B2A2D640-0ACC-B1FE-A9AC-F10BE6C05D50}"/>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FF881C5C-528D-B0A4-837B-AC514B630E9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3752A2A2-DAA6-1171-F295-B040461C38D6}"/>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DAA33889-75C1-A181-0776-848BC8D91105}"/>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5A29C426-74F5-128A-D0A3-AFDC71924D9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C58ACE30-707D-3F3D-6871-20B08E8CB577}"/>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21" name="Group 21">
            <a:extLst>
              <a:ext uri="{FF2B5EF4-FFF2-40B4-BE49-F238E27FC236}">
                <a16:creationId xmlns:a16="http://schemas.microsoft.com/office/drawing/2014/main" id="{E94C6DCB-265D-9329-12AE-C33617D1D516}"/>
              </a:ext>
            </a:extLst>
          </p:cNvPr>
          <p:cNvGrpSpPr/>
          <p:nvPr/>
        </p:nvGrpSpPr>
        <p:grpSpPr>
          <a:xfrm rot="2700000">
            <a:off x="16275755" y="9690440"/>
            <a:ext cx="2408942" cy="2214456"/>
            <a:chOff x="0" y="0"/>
            <a:chExt cx="884185" cy="812800"/>
          </a:xfrm>
        </p:grpSpPr>
        <p:sp>
          <p:nvSpPr>
            <p:cNvPr id="22" name="Freeform 22">
              <a:extLst>
                <a:ext uri="{FF2B5EF4-FFF2-40B4-BE49-F238E27FC236}">
                  <a16:creationId xmlns:a16="http://schemas.microsoft.com/office/drawing/2014/main" id="{DE6A92E1-97A2-148A-882D-C98A6140EDB9}"/>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3" name="TextBox 23">
              <a:extLst>
                <a:ext uri="{FF2B5EF4-FFF2-40B4-BE49-F238E27FC236}">
                  <a16:creationId xmlns:a16="http://schemas.microsoft.com/office/drawing/2014/main" id="{06127256-E21E-8352-8DA3-2F6EB72B720E}"/>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pic>
        <p:nvPicPr>
          <p:cNvPr id="3" name="图片 2">
            <a:extLst>
              <a:ext uri="{FF2B5EF4-FFF2-40B4-BE49-F238E27FC236}">
                <a16:creationId xmlns:a16="http://schemas.microsoft.com/office/drawing/2014/main" id="{50BD0A02-982F-0D9B-5F00-71AC6CB04689}"/>
              </a:ext>
            </a:extLst>
          </p:cNvPr>
          <p:cNvPicPr>
            <a:picLocks noChangeAspect="1"/>
          </p:cNvPicPr>
          <p:nvPr/>
        </p:nvPicPr>
        <p:blipFill>
          <a:blip r:embed="rId2"/>
          <a:stretch>
            <a:fillRect/>
          </a:stretch>
        </p:blipFill>
        <p:spPr>
          <a:xfrm>
            <a:off x="727055" y="2006157"/>
            <a:ext cx="2311519" cy="4235668"/>
          </a:xfrm>
          <a:prstGeom prst="rect">
            <a:avLst/>
          </a:prstGeom>
        </p:spPr>
      </p:pic>
      <p:pic>
        <p:nvPicPr>
          <p:cNvPr id="17" name="图片 16">
            <a:extLst>
              <a:ext uri="{FF2B5EF4-FFF2-40B4-BE49-F238E27FC236}">
                <a16:creationId xmlns:a16="http://schemas.microsoft.com/office/drawing/2014/main" id="{E23E3209-068E-7766-C903-5F68DBAAE6EB}"/>
              </a:ext>
            </a:extLst>
          </p:cNvPr>
          <p:cNvPicPr>
            <a:picLocks noChangeAspect="1"/>
          </p:cNvPicPr>
          <p:nvPr/>
        </p:nvPicPr>
        <p:blipFill>
          <a:blip r:embed="rId3"/>
          <a:stretch>
            <a:fillRect/>
          </a:stretch>
        </p:blipFill>
        <p:spPr>
          <a:xfrm>
            <a:off x="703429" y="6667500"/>
            <a:ext cx="2305168" cy="2190863"/>
          </a:xfrm>
          <a:prstGeom prst="rect">
            <a:avLst/>
          </a:prstGeom>
        </p:spPr>
      </p:pic>
      <p:pic>
        <p:nvPicPr>
          <p:cNvPr id="16" name="图片 15">
            <a:extLst>
              <a:ext uri="{FF2B5EF4-FFF2-40B4-BE49-F238E27FC236}">
                <a16:creationId xmlns:a16="http://schemas.microsoft.com/office/drawing/2014/main" id="{D26E4D32-2B8D-0DB2-5634-C4007575AEF8}"/>
              </a:ext>
            </a:extLst>
          </p:cNvPr>
          <p:cNvPicPr>
            <a:picLocks noChangeAspect="1"/>
          </p:cNvPicPr>
          <p:nvPr/>
        </p:nvPicPr>
        <p:blipFill>
          <a:blip r:embed="rId4"/>
          <a:stretch>
            <a:fillRect/>
          </a:stretch>
        </p:blipFill>
        <p:spPr>
          <a:xfrm>
            <a:off x="3505200" y="1069700"/>
            <a:ext cx="12465691" cy="7868054"/>
          </a:xfrm>
          <a:prstGeom prst="rect">
            <a:avLst/>
          </a:prstGeom>
        </p:spPr>
      </p:pic>
      <p:pic>
        <p:nvPicPr>
          <p:cNvPr id="24" name="图片 23">
            <a:extLst>
              <a:ext uri="{FF2B5EF4-FFF2-40B4-BE49-F238E27FC236}">
                <a16:creationId xmlns:a16="http://schemas.microsoft.com/office/drawing/2014/main" id="{489E6AFE-D3A8-19B8-7698-8116670A4067}"/>
              </a:ext>
            </a:extLst>
          </p:cNvPr>
          <p:cNvPicPr>
            <a:picLocks noChangeAspect="1"/>
          </p:cNvPicPr>
          <p:nvPr/>
        </p:nvPicPr>
        <p:blipFill>
          <a:blip r:embed="rId5"/>
          <a:stretch>
            <a:fillRect/>
          </a:stretch>
        </p:blipFill>
        <p:spPr>
          <a:xfrm>
            <a:off x="12017752" y="0"/>
            <a:ext cx="4054232" cy="7705241"/>
          </a:xfrm>
          <a:prstGeom prst="rect">
            <a:avLst/>
          </a:prstGeom>
        </p:spPr>
      </p:pic>
      <p:pic>
        <p:nvPicPr>
          <p:cNvPr id="26" name="图片 25">
            <a:extLst>
              <a:ext uri="{FF2B5EF4-FFF2-40B4-BE49-F238E27FC236}">
                <a16:creationId xmlns:a16="http://schemas.microsoft.com/office/drawing/2014/main" id="{11334455-2243-D432-DBFC-45F897EAB29D}"/>
              </a:ext>
            </a:extLst>
          </p:cNvPr>
          <p:cNvPicPr>
            <a:picLocks noChangeAspect="1"/>
          </p:cNvPicPr>
          <p:nvPr/>
        </p:nvPicPr>
        <p:blipFill>
          <a:blip r:embed="rId6"/>
          <a:stretch>
            <a:fillRect/>
          </a:stretch>
        </p:blipFill>
        <p:spPr>
          <a:xfrm>
            <a:off x="14173427" y="3076390"/>
            <a:ext cx="3378374" cy="7182219"/>
          </a:xfrm>
          <a:prstGeom prst="rect">
            <a:avLst/>
          </a:prstGeom>
        </p:spPr>
      </p:pic>
      <p:grpSp>
        <p:nvGrpSpPr>
          <p:cNvPr id="18" name="Group 18">
            <a:extLst>
              <a:ext uri="{FF2B5EF4-FFF2-40B4-BE49-F238E27FC236}">
                <a16:creationId xmlns:a16="http://schemas.microsoft.com/office/drawing/2014/main" id="{42849FE3-E81C-BFFE-31C4-1A9A90423893}"/>
              </a:ext>
            </a:extLst>
          </p:cNvPr>
          <p:cNvGrpSpPr/>
          <p:nvPr/>
        </p:nvGrpSpPr>
        <p:grpSpPr>
          <a:xfrm>
            <a:off x="16978402" y="9330128"/>
            <a:ext cx="2319341" cy="2214456"/>
            <a:chOff x="0" y="0"/>
            <a:chExt cx="851297" cy="812800"/>
          </a:xfrm>
        </p:grpSpPr>
        <p:sp>
          <p:nvSpPr>
            <p:cNvPr id="19" name="Freeform 19">
              <a:extLst>
                <a:ext uri="{FF2B5EF4-FFF2-40B4-BE49-F238E27FC236}">
                  <a16:creationId xmlns:a16="http://schemas.microsoft.com/office/drawing/2014/main" id="{6B051348-078A-1A7D-C14D-FE4E12C6444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20" name="TextBox 20">
              <a:extLst>
                <a:ext uri="{FF2B5EF4-FFF2-40B4-BE49-F238E27FC236}">
                  <a16:creationId xmlns:a16="http://schemas.microsoft.com/office/drawing/2014/main" id="{2D76CF91-7F82-39C2-BD4A-2F4DA6793170}"/>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2194793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E4FE1-7FDC-2176-22AB-1E7DD8C026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1E4E21-9C07-48C8-0F56-040228CAD017}"/>
              </a:ext>
            </a:extLst>
          </p:cNvPr>
          <p:cNvGrpSpPr/>
          <p:nvPr/>
        </p:nvGrpSpPr>
        <p:grpSpPr>
          <a:xfrm>
            <a:off x="11951784" y="-4585021"/>
            <a:ext cx="14954963" cy="21156019"/>
            <a:chOff x="0" y="0"/>
            <a:chExt cx="19939950" cy="28208025"/>
          </a:xfrm>
        </p:grpSpPr>
        <p:grpSp>
          <p:nvGrpSpPr>
            <p:cNvPr id="3" name="Group 3">
              <a:extLst>
                <a:ext uri="{FF2B5EF4-FFF2-40B4-BE49-F238E27FC236}">
                  <a16:creationId xmlns:a16="http://schemas.microsoft.com/office/drawing/2014/main" id="{50BBBA75-FCED-2BAC-16B7-E166298BBB6D}"/>
                </a:ext>
              </a:extLst>
            </p:cNvPr>
            <p:cNvGrpSpPr/>
            <p:nvPr/>
          </p:nvGrpSpPr>
          <p:grpSpPr>
            <a:xfrm>
              <a:off x="2979307" y="0"/>
              <a:ext cx="12531397" cy="11964703"/>
              <a:chOff x="0" y="0"/>
              <a:chExt cx="851297" cy="812800"/>
            </a:xfrm>
          </p:grpSpPr>
          <p:sp>
            <p:nvSpPr>
              <p:cNvPr id="4" name="Freeform 4">
                <a:extLst>
                  <a:ext uri="{FF2B5EF4-FFF2-40B4-BE49-F238E27FC236}">
                    <a16:creationId xmlns:a16="http://schemas.microsoft.com/office/drawing/2014/main" id="{7F41ED63-3BF7-4531-4D7E-717E58BD8A2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5" name="TextBox 5">
                <a:extLst>
                  <a:ext uri="{FF2B5EF4-FFF2-40B4-BE49-F238E27FC236}">
                    <a16:creationId xmlns:a16="http://schemas.microsoft.com/office/drawing/2014/main" id="{4ABC57CA-8704-9A45-6744-8DC22162CCB4}"/>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a:extLst>
                <a:ext uri="{FF2B5EF4-FFF2-40B4-BE49-F238E27FC236}">
                  <a16:creationId xmlns:a16="http://schemas.microsoft.com/office/drawing/2014/main" id="{2CA31531-9505-A87B-CB65-4C6EE72F8273}"/>
                </a:ext>
              </a:extLst>
            </p:cNvPr>
            <p:cNvGrpSpPr/>
            <p:nvPr/>
          </p:nvGrpSpPr>
          <p:grpSpPr>
            <a:xfrm>
              <a:off x="5641873" y="3801375"/>
              <a:ext cx="12531397" cy="11964703"/>
              <a:chOff x="0" y="0"/>
              <a:chExt cx="851297" cy="812800"/>
            </a:xfrm>
          </p:grpSpPr>
          <p:sp>
            <p:nvSpPr>
              <p:cNvPr id="7" name="Freeform 7">
                <a:extLst>
                  <a:ext uri="{FF2B5EF4-FFF2-40B4-BE49-F238E27FC236}">
                    <a16:creationId xmlns:a16="http://schemas.microsoft.com/office/drawing/2014/main" id="{B385199A-23BE-3FBE-F542-BC1B772D95A7}"/>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8" name="TextBox 8">
                <a:extLst>
                  <a:ext uri="{FF2B5EF4-FFF2-40B4-BE49-F238E27FC236}">
                    <a16:creationId xmlns:a16="http://schemas.microsoft.com/office/drawing/2014/main" id="{A3F0AB56-F076-1E9E-A5CD-A58151FF9C96}"/>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a:extLst>
                <a:ext uri="{FF2B5EF4-FFF2-40B4-BE49-F238E27FC236}">
                  <a16:creationId xmlns:a16="http://schemas.microsoft.com/office/drawing/2014/main" id="{320861A6-70E6-0EBE-1855-25E4B356AD4B}"/>
                </a:ext>
              </a:extLst>
            </p:cNvPr>
            <p:cNvGrpSpPr/>
            <p:nvPr/>
          </p:nvGrpSpPr>
          <p:grpSpPr>
            <a:xfrm>
              <a:off x="7408553" y="6714596"/>
              <a:ext cx="12531397" cy="11964703"/>
              <a:chOff x="0" y="0"/>
              <a:chExt cx="851297" cy="812800"/>
            </a:xfrm>
          </p:grpSpPr>
          <p:sp>
            <p:nvSpPr>
              <p:cNvPr id="10" name="Freeform 10">
                <a:extLst>
                  <a:ext uri="{FF2B5EF4-FFF2-40B4-BE49-F238E27FC236}">
                    <a16:creationId xmlns:a16="http://schemas.microsoft.com/office/drawing/2014/main" id="{D892050B-7539-B7E7-1FDD-95616DA35C8B}"/>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1" name="TextBox 11">
                <a:extLst>
                  <a:ext uri="{FF2B5EF4-FFF2-40B4-BE49-F238E27FC236}">
                    <a16:creationId xmlns:a16="http://schemas.microsoft.com/office/drawing/2014/main" id="{9CC11471-834D-9F52-008A-3E5E84905BD2}"/>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a:extLst>
                <a:ext uri="{FF2B5EF4-FFF2-40B4-BE49-F238E27FC236}">
                  <a16:creationId xmlns:a16="http://schemas.microsoft.com/office/drawing/2014/main" id="{C228AAA6-582E-D744-47B0-22D590503C05}"/>
                </a:ext>
              </a:extLst>
            </p:cNvPr>
            <p:cNvGrpSpPr/>
            <p:nvPr/>
          </p:nvGrpSpPr>
          <p:grpSpPr>
            <a:xfrm>
              <a:off x="4568307" y="15697698"/>
              <a:ext cx="9353396" cy="8930418"/>
              <a:chOff x="0" y="0"/>
              <a:chExt cx="851297" cy="812800"/>
            </a:xfrm>
          </p:grpSpPr>
          <p:sp>
            <p:nvSpPr>
              <p:cNvPr id="13" name="Freeform 13">
                <a:extLst>
                  <a:ext uri="{FF2B5EF4-FFF2-40B4-BE49-F238E27FC236}">
                    <a16:creationId xmlns:a16="http://schemas.microsoft.com/office/drawing/2014/main" id="{151B45CE-2ED6-3394-C107-A2DB9B1F584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4" name="TextBox 14">
                <a:extLst>
                  <a:ext uri="{FF2B5EF4-FFF2-40B4-BE49-F238E27FC236}">
                    <a16:creationId xmlns:a16="http://schemas.microsoft.com/office/drawing/2014/main" id="{47AA56CA-7B51-6F9B-E635-44D15DE548CE}"/>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a:extLst>
                <a:ext uri="{FF2B5EF4-FFF2-40B4-BE49-F238E27FC236}">
                  <a16:creationId xmlns:a16="http://schemas.microsoft.com/office/drawing/2014/main" id="{5D3A6AF1-88A5-E96F-34A4-013D3778F4E7}"/>
                </a:ext>
              </a:extLst>
            </p:cNvPr>
            <p:cNvGrpSpPr/>
            <p:nvPr/>
          </p:nvGrpSpPr>
          <p:grpSpPr>
            <a:xfrm rot="2700000">
              <a:off x="1734689" y="17150758"/>
              <a:ext cx="9714738" cy="8930418"/>
              <a:chOff x="0" y="0"/>
              <a:chExt cx="884185" cy="812800"/>
            </a:xfrm>
          </p:grpSpPr>
          <p:sp>
            <p:nvSpPr>
              <p:cNvPr id="16" name="Freeform 16">
                <a:extLst>
                  <a:ext uri="{FF2B5EF4-FFF2-40B4-BE49-F238E27FC236}">
                    <a16:creationId xmlns:a16="http://schemas.microsoft.com/office/drawing/2014/main" id="{42C76E55-07D0-CDE0-4F4D-CD317E16AD00}"/>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17" name="TextBox 17">
                <a:extLst>
                  <a:ext uri="{FF2B5EF4-FFF2-40B4-BE49-F238E27FC236}">
                    <a16:creationId xmlns:a16="http://schemas.microsoft.com/office/drawing/2014/main" id="{451BDC25-18C4-E229-B6B7-48338A9BCE9C}"/>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8" name="Group 18">
            <a:extLst>
              <a:ext uri="{FF2B5EF4-FFF2-40B4-BE49-F238E27FC236}">
                <a16:creationId xmlns:a16="http://schemas.microsoft.com/office/drawing/2014/main" id="{8A4CEAE2-EF1D-E110-0148-D43B1FED4696}"/>
              </a:ext>
            </a:extLst>
          </p:cNvPr>
          <p:cNvGrpSpPr/>
          <p:nvPr/>
        </p:nvGrpSpPr>
        <p:grpSpPr>
          <a:xfrm>
            <a:off x="-7716935" y="-5325030"/>
            <a:ext cx="14954963" cy="21156019"/>
            <a:chOff x="0" y="0"/>
            <a:chExt cx="19939950" cy="28208025"/>
          </a:xfrm>
        </p:grpSpPr>
        <p:grpSp>
          <p:nvGrpSpPr>
            <p:cNvPr id="19" name="Group 19">
              <a:extLst>
                <a:ext uri="{FF2B5EF4-FFF2-40B4-BE49-F238E27FC236}">
                  <a16:creationId xmlns:a16="http://schemas.microsoft.com/office/drawing/2014/main" id="{F47B5FF1-500F-E882-08A5-D4024363B389}"/>
                </a:ext>
              </a:extLst>
            </p:cNvPr>
            <p:cNvGrpSpPr/>
            <p:nvPr/>
          </p:nvGrpSpPr>
          <p:grpSpPr>
            <a:xfrm rot="-10800000">
              <a:off x="4429246" y="16243322"/>
              <a:ext cx="12531397" cy="11964703"/>
              <a:chOff x="0" y="0"/>
              <a:chExt cx="851297" cy="812800"/>
            </a:xfrm>
          </p:grpSpPr>
          <p:sp>
            <p:nvSpPr>
              <p:cNvPr id="20" name="Freeform 20">
                <a:extLst>
                  <a:ext uri="{FF2B5EF4-FFF2-40B4-BE49-F238E27FC236}">
                    <a16:creationId xmlns:a16="http://schemas.microsoft.com/office/drawing/2014/main" id="{8A275871-737A-EDA8-66B4-9382436F6E6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21" name="TextBox 21">
                <a:extLst>
                  <a:ext uri="{FF2B5EF4-FFF2-40B4-BE49-F238E27FC236}">
                    <a16:creationId xmlns:a16="http://schemas.microsoft.com/office/drawing/2014/main" id="{41E95C3B-7B7E-4874-C8D4-23F042A1E821}"/>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6F40B394-DB39-8100-6764-CD412F3B451C}"/>
                </a:ext>
              </a:extLst>
            </p:cNvPr>
            <p:cNvGrpSpPr/>
            <p:nvPr/>
          </p:nvGrpSpPr>
          <p:grpSpPr>
            <a:xfrm rot="-10800000">
              <a:off x="1766680" y="12441947"/>
              <a:ext cx="12531397" cy="11964703"/>
              <a:chOff x="0" y="0"/>
              <a:chExt cx="851297" cy="812800"/>
            </a:xfrm>
          </p:grpSpPr>
          <p:sp>
            <p:nvSpPr>
              <p:cNvPr id="23" name="Freeform 23">
                <a:extLst>
                  <a:ext uri="{FF2B5EF4-FFF2-40B4-BE49-F238E27FC236}">
                    <a16:creationId xmlns:a16="http://schemas.microsoft.com/office/drawing/2014/main" id="{D9D05378-B014-44DD-167B-A9191D690F2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24" name="TextBox 24">
                <a:extLst>
                  <a:ext uri="{FF2B5EF4-FFF2-40B4-BE49-F238E27FC236}">
                    <a16:creationId xmlns:a16="http://schemas.microsoft.com/office/drawing/2014/main" id="{20C60C45-0491-ACF4-7C7F-AD63E335A156}"/>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90A2CFE5-7D53-78A7-79DD-17559082E21B}"/>
                </a:ext>
              </a:extLst>
            </p:cNvPr>
            <p:cNvGrpSpPr/>
            <p:nvPr/>
          </p:nvGrpSpPr>
          <p:grpSpPr>
            <a:xfrm rot="-10800000">
              <a:off x="0" y="9528727"/>
              <a:ext cx="12531397" cy="11964703"/>
              <a:chOff x="0" y="0"/>
              <a:chExt cx="851297" cy="812800"/>
            </a:xfrm>
          </p:grpSpPr>
          <p:sp>
            <p:nvSpPr>
              <p:cNvPr id="26" name="Freeform 26">
                <a:extLst>
                  <a:ext uri="{FF2B5EF4-FFF2-40B4-BE49-F238E27FC236}">
                    <a16:creationId xmlns:a16="http://schemas.microsoft.com/office/drawing/2014/main" id="{98C15B40-38D0-28B5-AA5E-30E525A7770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27" name="TextBox 27">
                <a:extLst>
                  <a:ext uri="{FF2B5EF4-FFF2-40B4-BE49-F238E27FC236}">
                    <a16:creationId xmlns:a16="http://schemas.microsoft.com/office/drawing/2014/main" id="{F9B26196-7A9C-3E00-376D-48EEA307546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8">
              <a:extLst>
                <a:ext uri="{FF2B5EF4-FFF2-40B4-BE49-F238E27FC236}">
                  <a16:creationId xmlns:a16="http://schemas.microsoft.com/office/drawing/2014/main" id="{A79BE5D3-FFD5-0E97-84AA-F2192109AA71}"/>
                </a:ext>
              </a:extLst>
            </p:cNvPr>
            <p:cNvGrpSpPr/>
            <p:nvPr/>
          </p:nvGrpSpPr>
          <p:grpSpPr>
            <a:xfrm rot="-10800000">
              <a:off x="6018247" y="3579910"/>
              <a:ext cx="9353396" cy="8930418"/>
              <a:chOff x="0" y="0"/>
              <a:chExt cx="851297" cy="812800"/>
            </a:xfrm>
          </p:grpSpPr>
          <p:sp>
            <p:nvSpPr>
              <p:cNvPr id="29" name="Freeform 29">
                <a:extLst>
                  <a:ext uri="{FF2B5EF4-FFF2-40B4-BE49-F238E27FC236}">
                    <a16:creationId xmlns:a16="http://schemas.microsoft.com/office/drawing/2014/main" id="{5324082F-5CC3-A155-829C-BFB375F867E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30" name="TextBox 30">
                <a:extLst>
                  <a:ext uri="{FF2B5EF4-FFF2-40B4-BE49-F238E27FC236}">
                    <a16:creationId xmlns:a16="http://schemas.microsoft.com/office/drawing/2014/main" id="{54C10B27-1A90-65F2-D66B-35E6CEEEA239}"/>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a:extLst>
                <a:ext uri="{FF2B5EF4-FFF2-40B4-BE49-F238E27FC236}">
                  <a16:creationId xmlns:a16="http://schemas.microsoft.com/office/drawing/2014/main" id="{C139275B-522E-5939-37FE-1FE99F7B41F5}"/>
                </a:ext>
              </a:extLst>
            </p:cNvPr>
            <p:cNvGrpSpPr/>
            <p:nvPr/>
          </p:nvGrpSpPr>
          <p:grpSpPr>
            <a:xfrm rot="-8100000">
              <a:off x="8490523" y="2126849"/>
              <a:ext cx="9714738" cy="8930418"/>
              <a:chOff x="0" y="0"/>
              <a:chExt cx="884185" cy="812800"/>
            </a:xfrm>
          </p:grpSpPr>
          <p:sp>
            <p:nvSpPr>
              <p:cNvPr id="32" name="Freeform 32">
                <a:extLst>
                  <a:ext uri="{FF2B5EF4-FFF2-40B4-BE49-F238E27FC236}">
                    <a16:creationId xmlns:a16="http://schemas.microsoft.com/office/drawing/2014/main" id="{125C3D26-83DA-A401-131E-6BEED38D1862}"/>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45882"/>
                </a:srgbClr>
              </a:solidFill>
            </p:spPr>
          </p:sp>
          <p:sp>
            <p:nvSpPr>
              <p:cNvPr id="33" name="TextBox 33">
                <a:extLst>
                  <a:ext uri="{FF2B5EF4-FFF2-40B4-BE49-F238E27FC236}">
                    <a16:creationId xmlns:a16="http://schemas.microsoft.com/office/drawing/2014/main" id="{AECBE0CF-7F8F-13E3-B93F-D530641824CB}"/>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4" name="TextBox 34">
            <a:extLst>
              <a:ext uri="{FF2B5EF4-FFF2-40B4-BE49-F238E27FC236}">
                <a16:creationId xmlns:a16="http://schemas.microsoft.com/office/drawing/2014/main" id="{C1088DA8-7EE8-C1F7-CD95-95D6F6EC0484}"/>
              </a:ext>
            </a:extLst>
          </p:cNvPr>
          <p:cNvSpPr txBox="1"/>
          <p:nvPr/>
        </p:nvSpPr>
        <p:spPr>
          <a:xfrm>
            <a:off x="4597505" y="3115430"/>
            <a:ext cx="9261098" cy="4790992"/>
          </a:xfrm>
          <a:prstGeom prst="rect">
            <a:avLst/>
          </a:prstGeom>
        </p:spPr>
        <p:txBody>
          <a:bodyPr wrap="square" lIns="0" tIns="0" rIns="0" bIns="0" rtlCol="0" anchor="t">
            <a:spAutoFit/>
          </a:bodyPr>
          <a:lstStyle/>
          <a:p>
            <a:pPr marL="0" marR="0" lvl="0" indent="0" algn="ctr" defTabSz="914400" rtl="0" eaLnBrk="1" fontAlgn="auto" latinLnBrk="0" hangingPunct="1">
              <a:lnSpc>
                <a:spcPts val="18969"/>
              </a:lnSpc>
              <a:spcBef>
                <a:spcPts val="0"/>
              </a:spcBef>
              <a:spcAft>
                <a:spcPts val="0"/>
              </a:spcAft>
              <a:buClrTx/>
              <a:buSzTx/>
              <a:buFontTx/>
              <a:buNone/>
              <a:tabLst/>
              <a:defRPr/>
            </a:pPr>
            <a:r>
              <a:rPr kumimoji="0" lang="zh-CN" altLang="en-US" sz="96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rPr>
              <a:t>功能</a:t>
            </a:r>
            <a:r>
              <a:rPr lang="zh-CN" altLang="en-US" sz="9600" b="1" dirty="0">
                <a:solidFill>
                  <a:srgbClr val="1E1E1E"/>
                </a:solidFill>
                <a:latin typeface="思源黑体 4 Bold"/>
                <a:ea typeface="思源黑体 4 Bold"/>
                <a:cs typeface="思源黑体 4 Bold"/>
                <a:sym typeface="思源黑体 4 Bold"/>
              </a:rPr>
              <a:t>测评</a:t>
            </a:r>
            <a:endParaRPr kumimoji="0" lang="en-US" altLang="zh-CN" sz="9600" b="1" i="0" u="none" strike="noStrike" kern="1200" cap="none" spc="0" normalizeH="0" baseline="0" noProof="0" dirty="0">
              <a:ln>
                <a:noFill/>
              </a:ln>
              <a:solidFill>
                <a:srgbClr val="1E1E1E"/>
              </a:solidFill>
              <a:effectLst/>
              <a:uLnTx/>
              <a:uFillTx/>
              <a:latin typeface="思源黑体 4 Bold"/>
              <a:ea typeface="思源黑体 4 Bold"/>
              <a:cs typeface="思源黑体 4 Bold"/>
              <a:sym typeface="思源黑体 4 Bold"/>
            </a:endParaRPr>
          </a:p>
          <a:p>
            <a:pPr marL="0" marR="0" lvl="0" indent="0" algn="ctr" defTabSz="914400" rtl="0" eaLnBrk="1" fontAlgn="auto" latinLnBrk="0" hangingPunct="1">
              <a:lnSpc>
                <a:spcPts val="18969"/>
              </a:lnSpc>
              <a:spcBef>
                <a:spcPts val="0"/>
              </a:spcBef>
              <a:spcAft>
                <a:spcPts val="0"/>
              </a:spcAft>
              <a:buClrTx/>
              <a:buSzTx/>
              <a:buFontTx/>
              <a:buNone/>
              <a:tabLst/>
              <a:defRPr/>
            </a:pPr>
            <a:endParaRPr kumimoji="0" lang="en-US" sz="15808" b="1" i="0" u="none" strike="noStrike" kern="1200" cap="none" spc="0" normalizeH="0" baseline="0" noProof="0" dirty="0">
              <a:ln>
                <a:noFill/>
              </a:ln>
              <a:solidFill>
                <a:srgbClr val="263D6D"/>
              </a:solidFill>
              <a:effectLst/>
              <a:uLnTx/>
              <a:uFillTx/>
              <a:latin typeface="Akzidenz-Grotesk Bold"/>
              <a:ea typeface="Akzidenz-Grotesk Bold"/>
              <a:cs typeface="Akzidenz-Grotesk Bold"/>
              <a:sym typeface="Akzidenz-Grotesk Bold"/>
            </a:endParaRPr>
          </a:p>
        </p:txBody>
      </p:sp>
      <p:sp>
        <p:nvSpPr>
          <p:cNvPr id="40" name="TextBox 40">
            <a:extLst>
              <a:ext uri="{FF2B5EF4-FFF2-40B4-BE49-F238E27FC236}">
                <a16:creationId xmlns:a16="http://schemas.microsoft.com/office/drawing/2014/main" id="{67EEACBF-A2FC-A1F0-4296-7368D8EE62BF}"/>
              </a:ext>
            </a:extLst>
          </p:cNvPr>
          <p:cNvSpPr txBox="1"/>
          <p:nvPr/>
        </p:nvSpPr>
        <p:spPr>
          <a:xfrm>
            <a:off x="6334172" y="5921956"/>
            <a:ext cx="5619654" cy="276999"/>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kzidenz-Grotesk Medium"/>
                <a:ea typeface="Akzidenz-Grotesk Medium"/>
                <a:cs typeface="Akzidenz-Grotesk Medium"/>
                <a:sym typeface="Akzidenz-Grotesk Medium"/>
              </a:rPr>
              <a:t>TECHNICAL       ARCHITECTURE</a:t>
            </a:r>
          </a:p>
        </p:txBody>
      </p:sp>
    </p:spTree>
    <p:extLst>
      <p:ext uri="{BB962C8B-B14F-4D97-AF65-F5344CB8AC3E}">
        <p14:creationId xmlns:p14="http://schemas.microsoft.com/office/powerpoint/2010/main" val="946792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en-US" sz="5199" b="1">
                <a:solidFill>
                  <a:srgbClr val="100F0D"/>
                </a:solidFill>
                <a:latin typeface="思源黑体 2 Heavy"/>
                <a:ea typeface="思源黑体 2 Heavy"/>
                <a:cs typeface="思源黑体 2 Heavy"/>
                <a:sym typeface="思源黑体 2 Heavy"/>
              </a:rPr>
              <a:t>评测设计</a:t>
            </a:r>
          </a:p>
        </p:txBody>
      </p:sp>
      <p:sp>
        <p:nvSpPr>
          <p:cNvPr id="3" name="TextBox 3"/>
          <p:cNvSpPr txBox="1"/>
          <p:nvPr/>
        </p:nvSpPr>
        <p:spPr>
          <a:xfrm>
            <a:off x="1221328" y="1635590"/>
            <a:ext cx="609502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263D6D"/>
                </a:solidFill>
                <a:latin typeface="Akzidenz-Grotesk"/>
                <a:ea typeface="Akzidenz-Grotesk"/>
                <a:cs typeface="Akzidenz-Grotesk"/>
                <a:sym typeface="Akzidenz-Grotesk"/>
              </a:rPr>
              <a:t>Evaluation design</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5400000">
            <a:off x="11540971" y="408125"/>
            <a:ext cx="2712215" cy="7932235"/>
            <a:chOff x="0" y="0"/>
            <a:chExt cx="812800" cy="2377143"/>
          </a:xfrm>
        </p:grpSpPr>
        <p:sp>
          <p:nvSpPr>
            <p:cNvPr id="23" name="Freeform 23"/>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4" name="TextBox 24"/>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5" name="Group 25"/>
          <p:cNvGrpSpPr/>
          <p:nvPr/>
        </p:nvGrpSpPr>
        <p:grpSpPr>
          <a:xfrm rot="5400000">
            <a:off x="11540971" y="3396564"/>
            <a:ext cx="2712215" cy="7932235"/>
            <a:chOff x="0" y="0"/>
            <a:chExt cx="812800" cy="2377143"/>
          </a:xfrm>
        </p:grpSpPr>
        <p:sp>
          <p:nvSpPr>
            <p:cNvPr id="26" name="Freeform 26"/>
            <p:cNvSpPr/>
            <p:nvPr/>
          </p:nvSpPr>
          <p:spPr>
            <a:xfrm>
              <a:off x="0" y="0"/>
              <a:ext cx="812800" cy="2377142"/>
            </a:xfrm>
            <a:custGeom>
              <a:avLst/>
              <a:gdLst/>
              <a:ahLst/>
              <a:cxnLst/>
              <a:rect l="l" t="t" r="r" b="b"/>
              <a:pathLst>
                <a:path w="812800" h="2377142">
                  <a:moveTo>
                    <a:pt x="0" y="0"/>
                  </a:moveTo>
                  <a:lnTo>
                    <a:pt x="812800" y="0"/>
                  </a:lnTo>
                  <a:lnTo>
                    <a:pt x="812800" y="2377142"/>
                  </a:lnTo>
                  <a:lnTo>
                    <a:pt x="0" y="2377142"/>
                  </a:lnTo>
                  <a:close/>
                </a:path>
              </a:pathLst>
            </a:custGeom>
            <a:ln w="19050" cap="sq">
              <a:solidFill>
                <a:srgbClr val="263D6D"/>
              </a:solidFill>
              <a:prstDash val="solid"/>
              <a:miter/>
            </a:ln>
          </p:spPr>
        </p:sp>
        <p:sp>
          <p:nvSpPr>
            <p:cNvPr id="27" name="TextBox 27"/>
            <p:cNvSpPr txBox="1"/>
            <p:nvPr/>
          </p:nvSpPr>
          <p:spPr>
            <a:xfrm>
              <a:off x="0" y="-47625"/>
              <a:ext cx="812800" cy="2424768"/>
            </a:xfrm>
            <a:prstGeom prst="rect">
              <a:avLst/>
            </a:prstGeom>
          </p:spPr>
          <p:txBody>
            <a:bodyPr lIns="50800" tIns="50800" rIns="50800" bIns="50800" rtlCol="0" anchor="ctr"/>
            <a:lstStyle/>
            <a:p>
              <a:pPr algn="ctr">
                <a:lnSpc>
                  <a:spcPts val="3544"/>
                </a:lnSpc>
              </a:pPr>
              <a:endParaRPr/>
            </a:p>
          </p:txBody>
        </p:sp>
      </p:grpSp>
      <p:grpSp>
        <p:nvGrpSpPr>
          <p:cNvPr id="28" name="Group 28"/>
          <p:cNvGrpSpPr/>
          <p:nvPr/>
        </p:nvGrpSpPr>
        <p:grpSpPr>
          <a:xfrm>
            <a:off x="8390646" y="3833927"/>
            <a:ext cx="1080630" cy="108063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0" name="TextBox 30"/>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grpSp>
        <p:nvGrpSpPr>
          <p:cNvPr id="31" name="Group 31"/>
          <p:cNvGrpSpPr/>
          <p:nvPr/>
        </p:nvGrpSpPr>
        <p:grpSpPr>
          <a:xfrm>
            <a:off x="8390646" y="6822367"/>
            <a:ext cx="1080630" cy="108063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D6D"/>
            </a:solidFill>
          </p:spPr>
        </p:sp>
        <p:sp>
          <p:nvSpPr>
            <p:cNvPr id="33" name="TextBox 33"/>
            <p:cNvSpPr txBox="1"/>
            <p:nvPr/>
          </p:nvSpPr>
          <p:spPr>
            <a:xfrm>
              <a:off x="76200" y="28575"/>
              <a:ext cx="660400" cy="708025"/>
            </a:xfrm>
            <a:prstGeom prst="rect">
              <a:avLst/>
            </a:prstGeom>
          </p:spPr>
          <p:txBody>
            <a:bodyPr lIns="53210" tIns="53210" rIns="53210" bIns="53210" rtlCol="0" anchor="ctr"/>
            <a:lstStyle/>
            <a:p>
              <a:pPr algn="ctr">
                <a:lnSpc>
                  <a:spcPts val="3107"/>
                </a:lnSpc>
              </a:pPr>
              <a:endParaRPr/>
            </a:p>
          </p:txBody>
        </p:sp>
      </p:grpSp>
      <p:sp>
        <p:nvSpPr>
          <p:cNvPr id="34" name="Freeform 34"/>
          <p:cNvSpPr/>
          <p:nvPr/>
        </p:nvSpPr>
        <p:spPr>
          <a:xfrm>
            <a:off x="8644924" y="7076645"/>
            <a:ext cx="572074" cy="572074"/>
          </a:xfrm>
          <a:custGeom>
            <a:avLst/>
            <a:gdLst/>
            <a:ahLst/>
            <a:cxnLst/>
            <a:rect l="l" t="t" r="r" b="b"/>
            <a:pathLst>
              <a:path w="572074" h="572074">
                <a:moveTo>
                  <a:pt x="0" y="0"/>
                </a:moveTo>
                <a:lnTo>
                  <a:pt x="572074" y="0"/>
                </a:lnTo>
                <a:lnTo>
                  <a:pt x="572074" y="572074"/>
                </a:lnTo>
                <a:lnTo>
                  <a:pt x="0" y="572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8601149" y="4088205"/>
            <a:ext cx="659624" cy="572074"/>
          </a:xfrm>
          <a:custGeom>
            <a:avLst/>
            <a:gdLst/>
            <a:ahLst/>
            <a:cxnLst/>
            <a:rect l="l" t="t" r="r" b="b"/>
            <a:pathLst>
              <a:path w="659624" h="572074">
                <a:moveTo>
                  <a:pt x="0" y="0"/>
                </a:moveTo>
                <a:lnTo>
                  <a:pt x="659624" y="0"/>
                </a:lnTo>
                <a:lnTo>
                  <a:pt x="659624" y="572074"/>
                </a:lnTo>
                <a:lnTo>
                  <a:pt x="0" y="5720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6" name="TextBox 36"/>
          <p:cNvSpPr txBox="1"/>
          <p:nvPr/>
        </p:nvSpPr>
        <p:spPr>
          <a:xfrm>
            <a:off x="9976101" y="3854591"/>
            <a:ext cx="6635499" cy="1074718"/>
          </a:xfrm>
          <a:prstGeom prst="rect">
            <a:avLst/>
          </a:prstGeom>
        </p:spPr>
        <p:txBody>
          <a:bodyPr wrap="square" lIns="0" tIns="0" rIns="0" bIns="0" rtlCol="0" anchor="t">
            <a:spAutoFit/>
          </a:bodyPr>
          <a:lstStyle/>
          <a:p>
            <a:pPr marL="0" lvl="0" indent="0" algn="just">
              <a:lnSpc>
                <a:spcPts val="2856"/>
              </a:lnSpc>
              <a:spcBef>
                <a:spcPct val="0"/>
              </a:spcBef>
            </a:pPr>
            <a:r>
              <a:rPr lang="en-US" sz="1700" u="none" strike="noStrike" dirty="0">
                <a:solidFill>
                  <a:srgbClr val="1E1E1E"/>
                </a:solidFill>
                <a:latin typeface="思源黑体 2"/>
                <a:ea typeface="思源黑体 2"/>
                <a:cs typeface="思源黑体 2"/>
                <a:sym typeface="思源黑体 2"/>
              </a:rPr>
              <a:t>判断系统能否找到正确来源、生成覆盖关键事实的回答，并在Agent模式下选对工具完成多步推理；同时记录延迟、</a:t>
            </a:r>
            <a:r>
              <a:rPr lang="en-US" altLang="zh-CN" sz="1700" u="none" strike="noStrike" dirty="0">
                <a:solidFill>
                  <a:srgbClr val="1E1E1E"/>
                </a:solidFill>
                <a:latin typeface="思源黑体 2"/>
                <a:ea typeface="思源黑体 2"/>
                <a:cs typeface="思源黑体 2"/>
                <a:sym typeface="思源黑体 2"/>
              </a:rPr>
              <a:t>PS9</a:t>
            </a:r>
            <a:r>
              <a:rPr lang="zh-CN" altLang="en-US" sz="1700" u="none" strike="noStrike" dirty="0">
                <a:solidFill>
                  <a:srgbClr val="1E1E1E"/>
                </a:solidFill>
                <a:latin typeface="思源黑体 2"/>
                <a:ea typeface="思源黑体 2"/>
                <a:cs typeface="思源黑体 2"/>
                <a:sym typeface="思源黑体 2"/>
              </a:rPr>
              <a:t>、</a:t>
            </a:r>
            <a:r>
              <a:rPr lang="en-US" sz="1700" u="none" strike="noStrike" dirty="0" err="1">
                <a:solidFill>
                  <a:srgbClr val="1E1E1E"/>
                </a:solidFill>
                <a:latin typeface="思源黑体 2"/>
                <a:ea typeface="思源黑体 2"/>
                <a:cs typeface="思源黑体 2"/>
                <a:sym typeface="思源黑体 2"/>
              </a:rPr>
              <a:t>Token与推理轮次，使效果、成本与风险可比较</a:t>
            </a:r>
            <a:r>
              <a:rPr lang="en-US" sz="1700" u="none" strike="noStrike" dirty="0">
                <a:solidFill>
                  <a:srgbClr val="1E1E1E"/>
                </a:solidFill>
                <a:latin typeface="思源黑体 2"/>
                <a:ea typeface="思源黑体 2"/>
                <a:cs typeface="思源黑体 2"/>
                <a:sym typeface="思源黑体 2"/>
              </a:rPr>
              <a:t>。</a:t>
            </a:r>
          </a:p>
        </p:txBody>
      </p:sp>
      <p:sp>
        <p:nvSpPr>
          <p:cNvPr id="37" name="TextBox 37"/>
          <p:cNvSpPr txBox="1"/>
          <p:nvPr/>
        </p:nvSpPr>
        <p:spPr>
          <a:xfrm>
            <a:off x="9976101" y="3283025"/>
            <a:ext cx="2889059" cy="510158"/>
          </a:xfrm>
          <a:prstGeom prst="rect">
            <a:avLst/>
          </a:prstGeom>
        </p:spPr>
        <p:txBody>
          <a:bodyPr lIns="0" tIns="0" rIns="0" bIns="0" rtlCol="0" anchor="t">
            <a:spAutoFit/>
          </a:bodyPr>
          <a:lstStyle/>
          <a:p>
            <a:pPr marL="0" lvl="0" indent="0" algn="l">
              <a:lnSpc>
                <a:spcPts val="4368"/>
              </a:lnSpc>
              <a:spcBef>
                <a:spcPct val="0"/>
              </a:spcBef>
            </a:pPr>
            <a:r>
              <a:rPr lang="en-US" sz="2800" b="1">
                <a:solidFill>
                  <a:srgbClr val="1E1E1E"/>
                </a:solidFill>
                <a:latin typeface="思源黑体 2 Bold"/>
                <a:ea typeface="思源黑体 2 Bold"/>
                <a:cs typeface="思源黑体 2 Bold"/>
                <a:sym typeface="思源黑体 2 Bold"/>
              </a:rPr>
              <a:t>评测目标与范围</a:t>
            </a:r>
          </a:p>
        </p:txBody>
      </p:sp>
      <p:sp>
        <p:nvSpPr>
          <p:cNvPr id="38" name="TextBox 38"/>
          <p:cNvSpPr txBox="1"/>
          <p:nvPr/>
        </p:nvSpPr>
        <p:spPr>
          <a:xfrm>
            <a:off x="9976101" y="6271465"/>
            <a:ext cx="2889059" cy="510158"/>
          </a:xfrm>
          <a:prstGeom prst="rect">
            <a:avLst/>
          </a:prstGeom>
        </p:spPr>
        <p:txBody>
          <a:bodyPr lIns="0" tIns="0" rIns="0" bIns="0" rtlCol="0" anchor="t">
            <a:spAutoFit/>
          </a:bodyPr>
          <a:lstStyle/>
          <a:p>
            <a:pPr marL="0" lvl="0" indent="0" algn="l">
              <a:lnSpc>
                <a:spcPts val="4368"/>
              </a:lnSpc>
              <a:spcBef>
                <a:spcPct val="0"/>
              </a:spcBef>
            </a:pPr>
            <a:r>
              <a:rPr lang="en-US" sz="2800" b="1">
                <a:solidFill>
                  <a:srgbClr val="1E1E1E"/>
                </a:solidFill>
                <a:latin typeface="思源黑体 2 Bold"/>
                <a:ea typeface="思源黑体 2 Bold"/>
                <a:cs typeface="思源黑体 2 Bold"/>
                <a:sym typeface="思源黑体 2 Bold"/>
              </a:rPr>
              <a:t>评测集与语料</a:t>
            </a:r>
          </a:p>
        </p:txBody>
      </p:sp>
      <p:sp>
        <p:nvSpPr>
          <p:cNvPr id="39" name="TextBox 39"/>
          <p:cNvSpPr txBox="1"/>
          <p:nvPr/>
        </p:nvSpPr>
        <p:spPr>
          <a:xfrm>
            <a:off x="9976101" y="6843031"/>
            <a:ext cx="6283175" cy="1429893"/>
          </a:xfrm>
          <a:prstGeom prst="rect">
            <a:avLst/>
          </a:prstGeom>
        </p:spPr>
        <p:txBody>
          <a:bodyPr lIns="0" tIns="0" rIns="0" bIns="0" rtlCol="0" anchor="t">
            <a:spAutoFit/>
          </a:bodyPr>
          <a:lstStyle/>
          <a:p>
            <a:pPr marL="0" lvl="0" indent="0" algn="just">
              <a:lnSpc>
                <a:spcPts val="2856"/>
              </a:lnSpc>
              <a:spcBef>
                <a:spcPct val="0"/>
              </a:spcBef>
            </a:pPr>
            <a:r>
              <a:rPr lang="en-US" sz="1700" u="none" strike="noStrike">
                <a:solidFill>
                  <a:srgbClr val="1E1E1E"/>
                </a:solidFill>
                <a:latin typeface="思源黑体 2"/>
                <a:ea typeface="思源黑体 2"/>
                <a:cs typeface="思源黑体 2"/>
                <a:sym typeface="思源黑体 2"/>
              </a:rPr>
              <a:t>52题覆盖事实、对比、归纳、推理四类题型，标准答案源自10篇中英文论文、1,013个文本分块；正式评测关闭语义缓存，每题使用独立session_id。</a:t>
            </a:r>
          </a:p>
        </p:txBody>
      </p:sp>
      <p:grpSp>
        <p:nvGrpSpPr>
          <p:cNvPr id="40" name="Group 40"/>
          <p:cNvGrpSpPr/>
          <p:nvPr/>
        </p:nvGrpSpPr>
        <p:grpSpPr>
          <a:xfrm>
            <a:off x="1424804" y="6247576"/>
            <a:ext cx="2649378" cy="2649378"/>
            <a:chOff x="0" y="0"/>
            <a:chExt cx="812800" cy="812800"/>
          </a:xfrm>
        </p:grpSpPr>
        <p:sp>
          <p:nvSpPr>
            <p:cNvPr id="41" name="Freeform 4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263D6D"/>
            </a:solidFill>
          </p:spPr>
        </p:sp>
        <p:sp>
          <p:nvSpPr>
            <p:cNvPr id="42" name="TextBox 42"/>
            <p:cNvSpPr txBox="1"/>
            <p:nvPr/>
          </p:nvSpPr>
          <p:spPr>
            <a:xfrm>
              <a:off x="0" y="0"/>
              <a:ext cx="812800" cy="812800"/>
            </a:xfrm>
            <a:prstGeom prst="rect">
              <a:avLst/>
            </a:prstGeom>
          </p:spPr>
          <p:txBody>
            <a:bodyPr lIns="50800" tIns="50800" rIns="50800" bIns="50800" rtlCol="0" anchor="ctr"/>
            <a:lstStyle/>
            <a:p>
              <a:pPr algn="ctr">
                <a:lnSpc>
                  <a:spcPts val="2987"/>
                </a:lnSpc>
              </a:pPr>
              <a:endParaRPr/>
            </a:p>
          </p:txBody>
        </p:sp>
      </p:grpSp>
      <p:pic>
        <p:nvPicPr>
          <p:cNvPr id="48" name="图片 47">
            <a:extLst>
              <a:ext uri="{FF2B5EF4-FFF2-40B4-BE49-F238E27FC236}">
                <a16:creationId xmlns:a16="http://schemas.microsoft.com/office/drawing/2014/main" id="{9D8D8E07-C5C7-D298-3FAF-212C4C746B09}"/>
              </a:ext>
            </a:extLst>
          </p:cNvPr>
          <p:cNvPicPr>
            <a:picLocks noChangeAspect="1"/>
          </p:cNvPicPr>
          <p:nvPr/>
        </p:nvPicPr>
        <p:blipFill>
          <a:blip r:embed="rId4">
            <a:extLst>
              <a:ext uri="{28A0092B-C50C-407E-A947-70E740481C1C}">
                <a14:useLocalDpi xmlns:a14="http://schemas.microsoft.com/office/drawing/2010/main" val="0"/>
              </a:ext>
            </a:extLst>
          </a:blip>
          <a:srcRect l="16623" t="45691" r="15255" b="21035"/>
          <a:stretch>
            <a:fillRect/>
          </a:stretch>
        </p:blipFill>
        <p:spPr>
          <a:xfrm>
            <a:off x="76201" y="2781300"/>
            <a:ext cx="8379108" cy="7391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790575"/>
          </a:xfrm>
          <a:prstGeom prst="rect">
            <a:avLst/>
          </a:prstGeom>
        </p:spPr>
        <p:txBody>
          <a:bodyPr lIns="0" tIns="0" rIns="0" bIns="0" rtlCol="0" anchor="t">
            <a:spAutoFit/>
          </a:bodyPr>
          <a:lstStyle/>
          <a:p>
            <a:pPr algn="l">
              <a:lnSpc>
                <a:spcPts val="6239"/>
              </a:lnSpc>
            </a:pPr>
            <a:r>
              <a:rPr lang="zh-CN" altLang="en-US" sz="5199" b="1" dirty="0">
                <a:solidFill>
                  <a:srgbClr val="100F0D"/>
                </a:solidFill>
                <a:latin typeface="思源黑体 2 Heavy"/>
                <a:ea typeface="思源黑体 2 Heavy"/>
                <a:cs typeface="思源黑体 2 Heavy"/>
                <a:sym typeface="思源黑体 2 Heavy"/>
              </a:rPr>
              <a:t>检索优化</a:t>
            </a:r>
            <a:endParaRPr lang="en-US" sz="5199" b="1" dirty="0">
              <a:solidFill>
                <a:srgbClr val="100F0D"/>
              </a:solidFill>
              <a:latin typeface="思源黑体 2 Heavy"/>
              <a:ea typeface="思源黑体 2 Heavy"/>
              <a:cs typeface="思源黑体 2 Heavy"/>
              <a:sym typeface="思源黑体 2 Heavy"/>
            </a:endParaRPr>
          </a:p>
        </p:txBody>
      </p:sp>
      <p:sp>
        <p:nvSpPr>
          <p:cNvPr id="3" name="TextBox 3"/>
          <p:cNvSpPr txBox="1"/>
          <p:nvPr/>
        </p:nvSpPr>
        <p:spPr>
          <a:xfrm>
            <a:off x="1221328" y="1635590"/>
            <a:ext cx="6095025" cy="287451"/>
          </a:xfrm>
          <a:prstGeom prst="rect">
            <a:avLst/>
          </a:prstGeom>
        </p:spPr>
        <p:txBody>
          <a:bodyPr lIns="0" tIns="0" rIns="0" bIns="0" rtlCol="0" anchor="t">
            <a:spAutoFit/>
          </a:bodyPr>
          <a:lstStyle/>
          <a:p>
            <a:pPr marL="0" lvl="0" indent="0" algn="l">
              <a:lnSpc>
                <a:spcPts val="2280"/>
              </a:lnSpc>
              <a:spcBef>
                <a:spcPct val="0"/>
              </a:spcBef>
            </a:pPr>
            <a:r>
              <a:rPr lang="en-US" altLang="zh-CN" sz="1900" dirty="0">
                <a:solidFill>
                  <a:srgbClr val="263D6D"/>
                </a:solidFill>
                <a:latin typeface="Akzidenz-Grotesk"/>
                <a:ea typeface="Akzidenz-Grotesk"/>
                <a:cs typeface="Akzidenz-Grotesk"/>
                <a:sym typeface="Akzidenz-Grotesk"/>
              </a:rPr>
              <a:t>Retrieval optimization</a:t>
            </a:r>
            <a:endParaRPr lang="en-US" sz="1900" dirty="0">
              <a:solidFill>
                <a:srgbClr val="263D6D"/>
              </a:solidFill>
              <a:latin typeface="Akzidenz-Grotesk"/>
              <a:ea typeface="Akzidenz-Grotesk"/>
              <a:cs typeface="Akzidenz-Grotesk"/>
              <a:sym typeface="Akzidenz-Grotesk"/>
            </a:endParaRP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2403501" y="2875150"/>
            <a:ext cx="6249754" cy="792056"/>
            <a:chOff x="0" y="0"/>
            <a:chExt cx="1646026" cy="208607"/>
          </a:xfrm>
        </p:grpSpPr>
        <p:sp>
          <p:nvSpPr>
            <p:cNvPr id="23" name="Freeform 23"/>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24" name="TextBox 24"/>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2403501" y="3657681"/>
            <a:ext cx="6249754" cy="2052989"/>
            <a:chOff x="0" y="0"/>
            <a:chExt cx="1646026" cy="540705"/>
          </a:xfrm>
        </p:grpSpPr>
        <p:sp>
          <p:nvSpPr>
            <p:cNvPr id="26" name="Freeform 26"/>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27" name="TextBox 27"/>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2173868" y="3987650"/>
            <a:ext cx="6371139" cy="1074718"/>
          </a:xfrm>
          <a:prstGeom prst="rect">
            <a:avLst/>
          </a:prstGeom>
        </p:spPr>
        <p:txBody>
          <a:bodyPr wrap="square" lIns="0" tIns="0" rIns="0" bIns="0" rtlCol="0" anchor="t">
            <a:spAutoFit/>
          </a:bodyPr>
          <a:lstStyle/>
          <a:p>
            <a:pPr lvl="1" algn="just">
              <a:lnSpc>
                <a:spcPts val="2856"/>
              </a:lnSpc>
            </a:pPr>
            <a:r>
              <a:rPr lang="zh-CN" altLang="en-US" sz="1700" dirty="0">
                <a:solidFill>
                  <a:srgbClr val="1E1E1E"/>
                </a:solidFill>
                <a:latin typeface="思源黑体 2"/>
                <a:ea typeface="思源黑体 2"/>
                <a:cs typeface="思源黑体 2"/>
                <a:sym typeface="思源黑体 2"/>
              </a:rPr>
              <a:t>受控实验下Hit@5由78.85%提升至100.00%，原11个Top5未命中问题全部修复，检索层目标达成。</a:t>
            </a:r>
          </a:p>
          <a:p>
            <a:pPr lvl="1" algn="just">
              <a:lnSpc>
                <a:spcPts val="2856"/>
              </a:lnSpc>
            </a:pPr>
            <a:endParaRPr lang="en-US" sz="1700" dirty="0">
              <a:solidFill>
                <a:srgbClr val="1E1E1E"/>
              </a:solidFill>
              <a:latin typeface="思源黑体 2"/>
              <a:ea typeface="思源黑体 2"/>
              <a:cs typeface="思源黑体 2"/>
              <a:sym typeface="思源黑体 2"/>
            </a:endParaRPr>
          </a:p>
        </p:txBody>
      </p:sp>
      <p:sp>
        <p:nvSpPr>
          <p:cNvPr id="29" name="TextBox 29"/>
          <p:cNvSpPr txBox="1"/>
          <p:nvPr/>
        </p:nvSpPr>
        <p:spPr>
          <a:xfrm>
            <a:off x="3730558" y="2987538"/>
            <a:ext cx="3391507" cy="430887"/>
          </a:xfrm>
          <a:prstGeom prst="rect">
            <a:avLst/>
          </a:prstGeom>
        </p:spPr>
        <p:txBody>
          <a:bodyPr wrap="square" lIns="0" tIns="0" rIns="0" bIns="0" rtlCol="0" anchor="t">
            <a:spAutoFit/>
          </a:bodyPr>
          <a:lstStyle/>
          <a:p>
            <a:pPr algn="ctr">
              <a:lnSpc>
                <a:spcPct val="100000"/>
              </a:lnSpc>
            </a:pPr>
            <a:r>
              <a:rPr lang="en-US" altLang="zh-CN" sz="2800" b="1" dirty="0">
                <a:solidFill>
                  <a:srgbClr val="FFFFFF"/>
                </a:solidFill>
                <a:latin typeface="思源黑体 2 Bold"/>
                <a:ea typeface="思源黑体 2 Bold"/>
                <a:cs typeface="思源黑体 2 Bold"/>
                <a:sym typeface="思源黑体 2 Bold"/>
              </a:rPr>
              <a:t>Hit@5 </a:t>
            </a:r>
            <a:r>
              <a:rPr lang="zh-CN" altLang="en-US" sz="2800" b="1" dirty="0">
                <a:solidFill>
                  <a:srgbClr val="FFFFFF"/>
                </a:solidFill>
                <a:latin typeface="思源黑体 2 Bold"/>
                <a:ea typeface="思源黑体 2 Bold"/>
                <a:cs typeface="思源黑体 2 Bold"/>
                <a:sym typeface="思源黑体 2 Bold"/>
              </a:rPr>
              <a:t>达标</a:t>
            </a:r>
            <a:endParaRPr lang="en-US" sz="2800" b="1" dirty="0">
              <a:solidFill>
                <a:srgbClr val="FFFFFF"/>
              </a:solidFill>
              <a:latin typeface="思源黑体 2 Bold"/>
              <a:ea typeface="思源黑体 2 Bold"/>
              <a:cs typeface="思源黑体 2 Bold"/>
              <a:sym typeface="思源黑体 2 Bold"/>
            </a:endParaRPr>
          </a:p>
        </p:txBody>
      </p:sp>
      <p:grpSp>
        <p:nvGrpSpPr>
          <p:cNvPr id="30" name="Group 30"/>
          <p:cNvGrpSpPr/>
          <p:nvPr/>
        </p:nvGrpSpPr>
        <p:grpSpPr>
          <a:xfrm>
            <a:off x="5359438" y="3644380"/>
            <a:ext cx="337879" cy="295645"/>
            <a:chOff x="0" y="0"/>
            <a:chExt cx="812800" cy="711200"/>
          </a:xfrm>
        </p:grpSpPr>
        <p:sp>
          <p:nvSpPr>
            <p:cNvPr id="31" name="Freeform 3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32" name="TextBox 32"/>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9634745" y="2875150"/>
            <a:ext cx="6249754" cy="792056"/>
            <a:chOff x="0" y="0"/>
            <a:chExt cx="1646026" cy="208607"/>
          </a:xfrm>
        </p:grpSpPr>
        <p:sp>
          <p:nvSpPr>
            <p:cNvPr id="34" name="Freeform 34"/>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35" name="TextBox 35"/>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9634745" y="3657681"/>
            <a:ext cx="6249754" cy="2052989"/>
            <a:chOff x="0" y="0"/>
            <a:chExt cx="1646026" cy="540705"/>
          </a:xfrm>
        </p:grpSpPr>
        <p:sp>
          <p:nvSpPr>
            <p:cNvPr id="37" name="Freeform 37"/>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38" name="TextBox 38"/>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10177060" y="3987650"/>
            <a:ext cx="5165125" cy="1074718"/>
          </a:xfrm>
          <a:prstGeom prst="rect">
            <a:avLst/>
          </a:prstGeom>
        </p:spPr>
        <p:txBody>
          <a:bodyPr lIns="0" tIns="0" rIns="0" bIns="0" rtlCol="0" anchor="t">
            <a:spAutoFit/>
          </a:bodyPr>
          <a:lstStyle/>
          <a:p>
            <a:pPr algn="just">
              <a:lnSpc>
                <a:spcPts val="2856"/>
              </a:lnSpc>
            </a:pPr>
            <a:r>
              <a:rPr lang="en-US" altLang="zh-CN" sz="1700" dirty="0">
                <a:solidFill>
                  <a:srgbClr val="1E1E1E"/>
                </a:solidFill>
                <a:latin typeface="思源黑体 2"/>
                <a:ea typeface="思源黑体 2"/>
                <a:cs typeface="思源黑体 2"/>
                <a:sym typeface="思源黑体 2"/>
              </a:rPr>
              <a:t>MRR由0.7628升至0.8301，Recall@5由0.7308升至0.9712；双语术语扩展、单来源分块上限、向量来源保留三项措施生效。</a:t>
            </a:r>
            <a:endParaRPr lang="en-US" sz="1700" dirty="0">
              <a:solidFill>
                <a:srgbClr val="1E1E1E"/>
              </a:solidFill>
              <a:latin typeface="思源黑体 2"/>
              <a:ea typeface="思源黑体 2"/>
              <a:cs typeface="思源黑体 2"/>
              <a:sym typeface="思源黑体 2"/>
            </a:endParaRPr>
          </a:p>
        </p:txBody>
      </p:sp>
      <p:sp>
        <p:nvSpPr>
          <p:cNvPr id="40" name="TextBox 40"/>
          <p:cNvSpPr txBox="1"/>
          <p:nvPr/>
        </p:nvSpPr>
        <p:spPr>
          <a:xfrm>
            <a:off x="10591801" y="2954187"/>
            <a:ext cx="4419600" cy="510158"/>
          </a:xfrm>
          <a:prstGeom prst="rect">
            <a:avLst/>
          </a:prstGeom>
        </p:spPr>
        <p:txBody>
          <a:bodyPr wrap="square" lIns="0" tIns="0" rIns="0" bIns="0" rtlCol="0" anchor="t">
            <a:spAutoFit/>
          </a:bodyPr>
          <a:lstStyle/>
          <a:p>
            <a:pPr algn="ctr">
              <a:lnSpc>
                <a:spcPts val="4368"/>
              </a:lnSpc>
            </a:pPr>
            <a:r>
              <a:rPr lang="zh-CN" altLang="en-US" sz="2800" b="1" dirty="0">
                <a:solidFill>
                  <a:srgbClr val="FFFFFF"/>
                </a:solidFill>
                <a:latin typeface="思源黑体 2 Bold"/>
                <a:ea typeface="思源黑体 2 Bold"/>
                <a:cs typeface="思源黑体 2 Bold"/>
                <a:sym typeface="思源黑体 2 Bold"/>
              </a:rPr>
              <a:t>MRR与Recall提升</a:t>
            </a:r>
            <a:endParaRPr lang="en-US" sz="2800" b="1" dirty="0">
              <a:solidFill>
                <a:srgbClr val="FFFFFF"/>
              </a:solidFill>
              <a:latin typeface="思源黑体 2 Bold"/>
              <a:ea typeface="思源黑体 2 Bold"/>
              <a:cs typeface="思源黑体 2 Bold"/>
              <a:sym typeface="思源黑体 2 Bold"/>
            </a:endParaRPr>
          </a:p>
        </p:txBody>
      </p:sp>
      <p:grpSp>
        <p:nvGrpSpPr>
          <p:cNvPr id="41" name="Group 41"/>
          <p:cNvGrpSpPr/>
          <p:nvPr/>
        </p:nvGrpSpPr>
        <p:grpSpPr>
          <a:xfrm>
            <a:off x="12590682" y="3644380"/>
            <a:ext cx="337879" cy="295645"/>
            <a:chOff x="0" y="0"/>
            <a:chExt cx="812800" cy="711200"/>
          </a:xfrm>
        </p:grpSpPr>
        <p:sp>
          <p:nvSpPr>
            <p:cNvPr id="42" name="Freeform 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43" name="TextBox 43"/>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2403501" y="6120245"/>
            <a:ext cx="6249754" cy="792056"/>
            <a:chOff x="0" y="0"/>
            <a:chExt cx="1646026" cy="208607"/>
          </a:xfrm>
        </p:grpSpPr>
        <p:sp>
          <p:nvSpPr>
            <p:cNvPr id="45" name="Freeform 45"/>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46" name="TextBox 46"/>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47" name="Group 47"/>
          <p:cNvGrpSpPr/>
          <p:nvPr/>
        </p:nvGrpSpPr>
        <p:grpSpPr>
          <a:xfrm>
            <a:off x="2403501" y="6902776"/>
            <a:ext cx="6249754" cy="2052989"/>
            <a:chOff x="0" y="0"/>
            <a:chExt cx="1646026" cy="540705"/>
          </a:xfrm>
        </p:grpSpPr>
        <p:sp>
          <p:nvSpPr>
            <p:cNvPr id="48" name="Freeform 48"/>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49" name="TextBox 49"/>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50" name="TextBox 50"/>
          <p:cNvSpPr txBox="1"/>
          <p:nvPr/>
        </p:nvSpPr>
        <p:spPr>
          <a:xfrm>
            <a:off x="2945815" y="7232745"/>
            <a:ext cx="5165125" cy="702821"/>
          </a:xfrm>
          <a:prstGeom prst="rect">
            <a:avLst/>
          </a:prstGeom>
        </p:spPr>
        <p:txBody>
          <a:bodyPr lIns="0" tIns="0" rIns="0" bIns="0" rtlCol="0" anchor="t">
            <a:spAutoFit/>
          </a:bodyPr>
          <a:lstStyle/>
          <a:p>
            <a:pPr algn="just">
              <a:lnSpc>
                <a:spcPts val="2856"/>
              </a:lnSpc>
            </a:pPr>
            <a:r>
              <a:rPr lang="zh-CN" altLang="en-US" sz="1700" dirty="0">
                <a:solidFill>
                  <a:srgbClr val="1E1E1E"/>
                </a:solidFill>
                <a:latin typeface="思源黑体 2"/>
                <a:ea typeface="思源黑体 2"/>
                <a:cs typeface="思源黑体 2"/>
                <a:sym typeface="思源黑体 2"/>
              </a:rPr>
              <a:t>检索优化实验关闭Reranker以控制变量；端到端评测启用线上Reranker，两类结果分开解释，受控Hit@5不直接替代端到端覆盖率。</a:t>
            </a:r>
          </a:p>
        </p:txBody>
      </p:sp>
      <p:sp>
        <p:nvSpPr>
          <p:cNvPr id="51" name="TextBox 51"/>
          <p:cNvSpPr txBox="1"/>
          <p:nvPr/>
        </p:nvSpPr>
        <p:spPr>
          <a:xfrm>
            <a:off x="4083848" y="6199282"/>
            <a:ext cx="2889059" cy="508922"/>
          </a:xfrm>
          <a:prstGeom prst="rect">
            <a:avLst/>
          </a:prstGeom>
        </p:spPr>
        <p:txBody>
          <a:bodyPr lIns="0" tIns="0" rIns="0" bIns="0" rtlCol="0" anchor="t">
            <a:spAutoFit/>
          </a:bodyPr>
          <a:lstStyle/>
          <a:p>
            <a:pPr algn="ctr">
              <a:lnSpc>
                <a:spcPts val="4368"/>
              </a:lnSpc>
            </a:pPr>
            <a:r>
              <a:rPr lang="en-US" sz="2800" b="1" dirty="0">
                <a:solidFill>
                  <a:srgbClr val="FFFFFF"/>
                </a:solidFill>
                <a:latin typeface="思源黑体 2 Bold"/>
                <a:ea typeface="思源黑体 2 Bold"/>
                <a:cs typeface="思源黑体 2 Bold"/>
                <a:sym typeface="思源黑体 2 Bold"/>
              </a:rPr>
              <a:t>口径与</a:t>
            </a:r>
            <a:r>
              <a:rPr lang="zh-CN" altLang="en-US" sz="2800" b="1" dirty="0">
                <a:solidFill>
                  <a:srgbClr val="FFFFFF"/>
                </a:solidFill>
                <a:latin typeface="思源黑体 2 Bold"/>
                <a:ea typeface="思源黑体 2 Bold"/>
                <a:cs typeface="思源黑体 2 Bold"/>
                <a:sym typeface="思源黑体 2 Bold"/>
              </a:rPr>
              <a:t>边界</a:t>
            </a:r>
            <a:endParaRPr lang="en-US" sz="2800" b="1" dirty="0">
              <a:solidFill>
                <a:srgbClr val="FFFFFF"/>
              </a:solidFill>
              <a:latin typeface="思源黑体 2 Bold"/>
              <a:ea typeface="思源黑体 2 Bold"/>
              <a:cs typeface="思源黑体 2 Bold"/>
              <a:sym typeface="思源黑体 2 Bold"/>
            </a:endParaRPr>
          </a:p>
        </p:txBody>
      </p:sp>
      <p:grpSp>
        <p:nvGrpSpPr>
          <p:cNvPr id="52" name="Group 52"/>
          <p:cNvGrpSpPr/>
          <p:nvPr/>
        </p:nvGrpSpPr>
        <p:grpSpPr>
          <a:xfrm>
            <a:off x="5359438" y="6889475"/>
            <a:ext cx="337879" cy="295645"/>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54" name="TextBox 54"/>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grpSp>
        <p:nvGrpSpPr>
          <p:cNvPr id="55" name="Group 55"/>
          <p:cNvGrpSpPr/>
          <p:nvPr/>
        </p:nvGrpSpPr>
        <p:grpSpPr>
          <a:xfrm>
            <a:off x="9634745" y="6120245"/>
            <a:ext cx="6249754" cy="792056"/>
            <a:chOff x="0" y="0"/>
            <a:chExt cx="1646026" cy="208607"/>
          </a:xfrm>
        </p:grpSpPr>
        <p:sp>
          <p:nvSpPr>
            <p:cNvPr id="56" name="Freeform 56"/>
            <p:cNvSpPr/>
            <p:nvPr/>
          </p:nvSpPr>
          <p:spPr>
            <a:xfrm>
              <a:off x="0" y="0"/>
              <a:ext cx="1646026" cy="208607"/>
            </a:xfrm>
            <a:custGeom>
              <a:avLst/>
              <a:gdLst/>
              <a:ahLst/>
              <a:cxnLst/>
              <a:rect l="l" t="t" r="r" b="b"/>
              <a:pathLst>
                <a:path w="1646026" h="208607">
                  <a:moveTo>
                    <a:pt x="0" y="0"/>
                  </a:moveTo>
                  <a:lnTo>
                    <a:pt x="1646026" y="0"/>
                  </a:lnTo>
                  <a:lnTo>
                    <a:pt x="1646026" y="208607"/>
                  </a:lnTo>
                  <a:lnTo>
                    <a:pt x="0" y="208607"/>
                  </a:lnTo>
                  <a:close/>
                </a:path>
              </a:pathLst>
            </a:custGeom>
            <a:solidFill>
              <a:srgbClr val="263D6D"/>
            </a:solidFill>
          </p:spPr>
        </p:sp>
        <p:sp>
          <p:nvSpPr>
            <p:cNvPr id="57" name="TextBox 57"/>
            <p:cNvSpPr txBox="1"/>
            <p:nvPr/>
          </p:nvSpPr>
          <p:spPr>
            <a:xfrm>
              <a:off x="0" y="-28575"/>
              <a:ext cx="1646026" cy="237182"/>
            </a:xfrm>
            <a:prstGeom prst="rect">
              <a:avLst/>
            </a:prstGeom>
          </p:spPr>
          <p:txBody>
            <a:bodyPr lIns="50800" tIns="50800" rIns="50800" bIns="50800" rtlCol="0" anchor="ctr"/>
            <a:lstStyle/>
            <a:p>
              <a:pPr algn="ctr">
                <a:lnSpc>
                  <a:spcPts val="2659"/>
                </a:lnSpc>
              </a:pPr>
              <a:endParaRPr/>
            </a:p>
          </p:txBody>
        </p:sp>
      </p:grpSp>
      <p:grpSp>
        <p:nvGrpSpPr>
          <p:cNvPr id="58" name="Group 58"/>
          <p:cNvGrpSpPr/>
          <p:nvPr/>
        </p:nvGrpSpPr>
        <p:grpSpPr>
          <a:xfrm>
            <a:off x="9634745" y="6902776"/>
            <a:ext cx="6249754" cy="2052989"/>
            <a:chOff x="0" y="0"/>
            <a:chExt cx="1646026" cy="540705"/>
          </a:xfrm>
        </p:grpSpPr>
        <p:sp>
          <p:nvSpPr>
            <p:cNvPr id="59" name="Freeform 59"/>
            <p:cNvSpPr/>
            <p:nvPr/>
          </p:nvSpPr>
          <p:spPr>
            <a:xfrm>
              <a:off x="0" y="0"/>
              <a:ext cx="1646026" cy="540705"/>
            </a:xfrm>
            <a:custGeom>
              <a:avLst/>
              <a:gdLst/>
              <a:ahLst/>
              <a:cxnLst/>
              <a:rect l="l" t="t" r="r" b="b"/>
              <a:pathLst>
                <a:path w="1646026" h="540705">
                  <a:moveTo>
                    <a:pt x="0" y="0"/>
                  </a:moveTo>
                  <a:lnTo>
                    <a:pt x="1646026" y="0"/>
                  </a:lnTo>
                  <a:lnTo>
                    <a:pt x="1646026" y="540705"/>
                  </a:lnTo>
                  <a:lnTo>
                    <a:pt x="0" y="540705"/>
                  </a:lnTo>
                  <a:close/>
                </a:path>
              </a:pathLst>
            </a:custGeom>
            <a:solidFill>
              <a:srgbClr val="263D6D">
                <a:alpha val="13725"/>
              </a:srgbClr>
            </a:solidFill>
            <a:ln cap="sq">
              <a:noFill/>
              <a:prstDash val="solid"/>
              <a:miter/>
            </a:ln>
          </p:spPr>
        </p:sp>
        <p:sp>
          <p:nvSpPr>
            <p:cNvPr id="60" name="TextBox 60"/>
            <p:cNvSpPr txBox="1"/>
            <p:nvPr/>
          </p:nvSpPr>
          <p:spPr>
            <a:xfrm>
              <a:off x="0" y="-28575"/>
              <a:ext cx="1646026" cy="569280"/>
            </a:xfrm>
            <a:prstGeom prst="rect">
              <a:avLst/>
            </a:prstGeom>
          </p:spPr>
          <p:txBody>
            <a:bodyPr lIns="50800" tIns="50800" rIns="50800" bIns="50800" rtlCol="0" anchor="ctr"/>
            <a:lstStyle/>
            <a:p>
              <a:pPr algn="ctr">
                <a:lnSpc>
                  <a:spcPts val="2659"/>
                </a:lnSpc>
              </a:pPr>
              <a:endParaRPr/>
            </a:p>
          </p:txBody>
        </p:sp>
      </p:grpSp>
      <p:sp>
        <p:nvSpPr>
          <p:cNvPr id="61" name="TextBox 61"/>
          <p:cNvSpPr txBox="1"/>
          <p:nvPr/>
        </p:nvSpPr>
        <p:spPr>
          <a:xfrm>
            <a:off x="10177060" y="7232745"/>
            <a:ext cx="5165125" cy="1074718"/>
          </a:xfrm>
          <a:prstGeom prst="rect">
            <a:avLst/>
          </a:prstGeom>
        </p:spPr>
        <p:txBody>
          <a:bodyPr lIns="0" tIns="0" rIns="0" bIns="0" rtlCol="0" anchor="t">
            <a:spAutoFit/>
          </a:bodyPr>
          <a:lstStyle/>
          <a:p>
            <a:pPr algn="just">
              <a:lnSpc>
                <a:spcPts val="2856"/>
              </a:lnSpc>
            </a:pPr>
            <a:r>
              <a:rPr lang="zh-CN" altLang="en-US" sz="1700" dirty="0">
                <a:solidFill>
                  <a:srgbClr val="1E1E1E"/>
                </a:solidFill>
                <a:latin typeface="思源黑体 2"/>
                <a:ea typeface="思源黑体 2"/>
                <a:cs typeface="思源黑体 2"/>
                <a:sym typeface="思源黑体 2"/>
              </a:rPr>
              <a:t>调参所用题集已知Bad Case，100%仅代表已知问题修复；</a:t>
            </a:r>
            <a:r>
              <a:rPr lang="en-US" altLang="zh-CN" sz="1700" dirty="0">
                <a:solidFill>
                  <a:srgbClr val="1E1E1E"/>
                </a:solidFill>
                <a:latin typeface="思源黑体 2"/>
                <a:ea typeface="思源黑体 2"/>
                <a:cs typeface="思源黑体 2"/>
                <a:sym typeface="思源黑体 2"/>
              </a:rPr>
              <a:t>仍需</a:t>
            </a:r>
            <a:r>
              <a:rPr lang="zh-CN" altLang="en-US" sz="1700" dirty="0">
                <a:solidFill>
                  <a:srgbClr val="1E1E1E"/>
                </a:solidFill>
                <a:latin typeface="思源黑体 2"/>
                <a:ea typeface="思源黑体 2"/>
                <a:cs typeface="思源黑体 2"/>
                <a:sym typeface="思源黑体 2"/>
              </a:rPr>
              <a:t>用未参与调参的留出集验证泛化能力。</a:t>
            </a:r>
          </a:p>
        </p:txBody>
      </p:sp>
      <p:sp>
        <p:nvSpPr>
          <p:cNvPr id="62" name="TextBox 62"/>
          <p:cNvSpPr txBox="1"/>
          <p:nvPr/>
        </p:nvSpPr>
        <p:spPr>
          <a:xfrm>
            <a:off x="11315093" y="6199282"/>
            <a:ext cx="2889059" cy="508922"/>
          </a:xfrm>
          <a:prstGeom prst="rect">
            <a:avLst/>
          </a:prstGeom>
        </p:spPr>
        <p:txBody>
          <a:bodyPr lIns="0" tIns="0" rIns="0" bIns="0" rtlCol="0" anchor="t">
            <a:spAutoFit/>
          </a:bodyPr>
          <a:lstStyle/>
          <a:p>
            <a:pPr algn="ctr">
              <a:lnSpc>
                <a:spcPts val="4368"/>
              </a:lnSpc>
            </a:pPr>
            <a:r>
              <a:rPr lang="en-US" altLang="zh-CN" sz="2800" b="1" dirty="0" err="1">
                <a:solidFill>
                  <a:srgbClr val="FFFFFF"/>
                </a:solidFill>
                <a:latin typeface="Noto Sans SC"/>
                <a:ea typeface="Noto Sans SC"/>
                <a:cs typeface="Noto Sans SC"/>
                <a:sym typeface="Noto Sans SC"/>
              </a:rPr>
              <a:t>泛化验证</a:t>
            </a:r>
            <a:endParaRPr lang="en-US" sz="2800" b="1" dirty="0">
              <a:solidFill>
                <a:srgbClr val="FFFFFF"/>
              </a:solidFill>
              <a:latin typeface="思源黑体 2 Bold"/>
              <a:ea typeface="思源黑体 2 Bold"/>
              <a:cs typeface="思源黑体 2 Bold"/>
              <a:sym typeface="思源黑体 2 Bold"/>
            </a:endParaRPr>
          </a:p>
        </p:txBody>
      </p:sp>
      <p:grpSp>
        <p:nvGrpSpPr>
          <p:cNvPr id="63" name="Group 63"/>
          <p:cNvGrpSpPr/>
          <p:nvPr/>
        </p:nvGrpSpPr>
        <p:grpSpPr>
          <a:xfrm>
            <a:off x="12590682" y="6889475"/>
            <a:ext cx="337879" cy="295645"/>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263D6D"/>
            </a:solidFill>
          </p:spPr>
        </p:sp>
        <p:sp>
          <p:nvSpPr>
            <p:cNvPr id="65" name="TextBox 65"/>
            <p:cNvSpPr txBox="1"/>
            <p:nvPr/>
          </p:nvSpPr>
          <p:spPr>
            <a:xfrm>
              <a:off x="127000" y="22225"/>
              <a:ext cx="558800" cy="35877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54934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6122248" cy="800091"/>
          </a:xfrm>
          <a:prstGeom prst="rect">
            <a:avLst/>
          </a:prstGeom>
        </p:spPr>
        <p:txBody>
          <a:bodyPr lIns="0" tIns="0" rIns="0" bIns="0" rtlCol="0" anchor="t">
            <a:spAutoFit/>
          </a:bodyPr>
          <a:lstStyle/>
          <a:p>
            <a:pPr algn="l">
              <a:lnSpc>
                <a:spcPct val="100000"/>
              </a:lnSpc>
            </a:pPr>
            <a:r>
              <a:rPr lang="zh-CN" altLang="en-US" sz="5199" b="1" dirty="0">
                <a:solidFill>
                  <a:srgbClr val="100F0D"/>
                </a:solidFill>
                <a:latin typeface="思源黑体 2 Heavy"/>
                <a:ea typeface="思源黑体 2 Heavy"/>
                <a:cs typeface="思源黑体 2 Heavy"/>
                <a:sym typeface="思源黑体 2 Heavy"/>
              </a:rPr>
              <a:t>评测数据与方法</a:t>
            </a:r>
            <a:endParaRPr lang="en-US" sz="5199" b="1" dirty="0">
              <a:solidFill>
                <a:srgbClr val="100F0D"/>
              </a:solidFill>
              <a:latin typeface="思源黑体 2 Heavy"/>
              <a:ea typeface="思源黑体 2 Heavy"/>
              <a:cs typeface="思源黑体 2 Heavy"/>
              <a:sym typeface="思源黑体 2 Heavy"/>
            </a:endParaRPr>
          </a:p>
        </p:txBody>
      </p:sp>
      <p:sp>
        <p:nvSpPr>
          <p:cNvPr id="3" name="TextBox 3"/>
          <p:cNvSpPr txBox="1"/>
          <p:nvPr/>
        </p:nvSpPr>
        <p:spPr>
          <a:xfrm>
            <a:off x="1221328" y="1635590"/>
            <a:ext cx="6095025" cy="292388"/>
          </a:xfrm>
          <a:prstGeom prst="rect">
            <a:avLst/>
          </a:prstGeom>
        </p:spPr>
        <p:txBody>
          <a:bodyPr lIns="0" tIns="0" rIns="0" bIns="0" rtlCol="0" anchor="t">
            <a:spAutoFit/>
          </a:bodyPr>
          <a:lstStyle/>
          <a:p>
            <a:pPr marL="0" lvl="0" indent="0" algn="l">
              <a:lnSpc>
                <a:spcPct val="100000"/>
              </a:lnSpc>
              <a:spcBef>
                <a:spcPct val="0"/>
              </a:spcBef>
            </a:pPr>
            <a:r>
              <a:rPr lang="en-US" sz="1900" dirty="0">
                <a:solidFill>
                  <a:srgbClr val="263D6D"/>
                </a:solidFill>
                <a:latin typeface="Akzidenz-Grotesk"/>
                <a:ea typeface="Akzidenz-Grotesk"/>
                <a:cs typeface="Akzidenz-Grotesk"/>
                <a:sym typeface="Akzidenz-Grotesk"/>
              </a:rPr>
              <a:t>Evaluation Data and Methods</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936383" y="2086115"/>
            <a:ext cx="2600842" cy="508922"/>
          </a:xfrm>
          <a:prstGeom prst="rect">
            <a:avLst/>
          </a:prstGeom>
        </p:spPr>
        <p:txBody>
          <a:bodyPr lIns="0" tIns="0" rIns="0" bIns="0" rtlCol="0" anchor="t">
            <a:spAutoFit/>
          </a:bodyPr>
          <a:lstStyle/>
          <a:p>
            <a:pPr marL="0" lvl="0" indent="0" algn="ctr">
              <a:lnSpc>
                <a:spcPts val="4368"/>
              </a:lnSpc>
              <a:spcBef>
                <a:spcPct val="0"/>
              </a:spcBef>
            </a:pPr>
            <a:r>
              <a:rPr lang="zh-CN" altLang="en-US" sz="2800" b="1" dirty="0">
                <a:solidFill>
                  <a:srgbClr val="1E1E1E"/>
                </a:solidFill>
                <a:latin typeface="思源黑体 2 Bold"/>
                <a:ea typeface="思源黑体 2 Bold"/>
                <a:cs typeface="思源黑体 2 Bold"/>
                <a:sym typeface="思源黑体 2 Bold"/>
              </a:rPr>
              <a:t>评测集构成</a:t>
            </a:r>
            <a:endParaRPr lang="en-US" sz="2800" b="1" dirty="0">
              <a:solidFill>
                <a:srgbClr val="1E1E1E"/>
              </a:solidFill>
              <a:latin typeface="思源黑体 2 Bold"/>
              <a:ea typeface="思源黑体 2 Bold"/>
              <a:cs typeface="思源黑体 2 Bold"/>
              <a:sym typeface="思源黑体 2 Bold"/>
            </a:endParaRPr>
          </a:p>
        </p:txBody>
      </p:sp>
      <p:sp>
        <p:nvSpPr>
          <p:cNvPr id="50" name="TextBox 30">
            <a:extLst>
              <a:ext uri="{FF2B5EF4-FFF2-40B4-BE49-F238E27FC236}">
                <a16:creationId xmlns:a16="http://schemas.microsoft.com/office/drawing/2014/main" id="{0862757C-DE1C-DAB6-F611-248728B9A771}"/>
              </a:ext>
            </a:extLst>
          </p:cNvPr>
          <p:cNvSpPr txBox="1"/>
          <p:nvPr/>
        </p:nvSpPr>
        <p:spPr>
          <a:xfrm>
            <a:off x="10210800" y="2089430"/>
            <a:ext cx="2600842" cy="508922"/>
          </a:xfrm>
          <a:prstGeom prst="rect">
            <a:avLst/>
          </a:prstGeom>
        </p:spPr>
        <p:txBody>
          <a:bodyPr lIns="0" tIns="0" rIns="0" bIns="0" rtlCol="0" anchor="t">
            <a:spAutoFit/>
          </a:bodyPr>
          <a:lstStyle/>
          <a:p>
            <a:pPr marL="0" lvl="0" indent="0" algn="ctr">
              <a:lnSpc>
                <a:spcPts val="4368"/>
              </a:lnSpc>
              <a:spcBef>
                <a:spcPct val="0"/>
              </a:spcBef>
            </a:pPr>
            <a:r>
              <a:rPr lang="zh-CN" altLang="en-US" sz="2800" b="1" dirty="0">
                <a:solidFill>
                  <a:srgbClr val="1E1E1E"/>
                </a:solidFill>
                <a:latin typeface="思源黑体 2 Bold"/>
                <a:ea typeface="思源黑体 2 Bold"/>
                <a:cs typeface="思源黑体 2 Bold"/>
                <a:sym typeface="思源黑体 2 Bold"/>
              </a:rPr>
              <a:t>评测流程</a:t>
            </a:r>
            <a:endParaRPr lang="en-US" sz="2800" b="1" dirty="0">
              <a:solidFill>
                <a:srgbClr val="1E1E1E"/>
              </a:solidFill>
              <a:latin typeface="思源黑体 2 Bold"/>
              <a:ea typeface="思源黑体 2 Bold"/>
              <a:cs typeface="思源黑体 2 Bold"/>
              <a:sym typeface="思源黑体 2 Bold"/>
            </a:endParaRPr>
          </a:p>
        </p:txBody>
      </p:sp>
      <p:pic>
        <p:nvPicPr>
          <p:cNvPr id="52" name="图片 51">
            <a:extLst>
              <a:ext uri="{FF2B5EF4-FFF2-40B4-BE49-F238E27FC236}">
                <a16:creationId xmlns:a16="http://schemas.microsoft.com/office/drawing/2014/main" id="{4E714C3A-078F-9F3F-F9E6-2DC41DC7D2B8}"/>
              </a:ext>
            </a:extLst>
          </p:cNvPr>
          <p:cNvPicPr>
            <a:picLocks noChangeAspect="1"/>
          </p:cNvPicPr>
          <p:nvPr/>
        </p:nvPicPr>
        <p:blipFill>
          <a:blip r:embed="rId2"/>
          <a:stretch>
            <a:fillRect/>
          </a:stretch>
        </p:blipFill>
        <p:spPr>
          <a:xfrm>
            <a:off x="304800" y="2753174"/>
            <a:ext cx="9773209" cy="5057326"/>
          </a:xfrm>
          <a:prstGeom prst="rect">
            <a:avLst/>
          </a:prstGeom>
        </p:spPr>
      </p:pic>
      <p:sp>
        <p:nvSpPr>
          <p:cNvPr id="54" name="TextBox 37">
            <a:extLst>
              <a:ext uri="{FF2B5EF4-FFF2-40B4-BE49-F238E27FC236}">
                <a16:creationId xmlns:a16="http://schemas.microsoft.com/office/drawing/2014/main" id="{F35BF1B2-288E-D991-DF68-7556E83ED49F}"/>
              </a:ext>
            </a:extLst>
          </p:cNvPr>
          <p:cNvSpPr txBox="1"/>
          <p:nvPr/>
        </p:nvSpPr>
        <p:spPr>
          <a:xfrm>
            <a:off x="10870654" y="3162300"/>
            <a:ext cx="5664746" cy="4793685"/>
          </a:xfrm>
          <a:prstGeom prst="rect">
            <a:avLst/>
          </a:prstGeom>
        </p:spPr>
        <p:txBody>
          <a:bodyPr wrap="square" lIns="0" tIns="0" rIns="0" bIns="0" rtlCol="0" anchor="t">
            <a:spAutoFit/>
          </a:bodyPr>
          <a:lstStyle/>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1.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重启服务以清空内存状态，关闭语义缓存，并用本地检索请求预热</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Embedding</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与</a:t>
            </a:r>
            <a:r>
              <a:rPr kumimoji="0" lang="en-US" altLang="zh-CN" sz="2000" b="0" i="0" u="none" strike="noStrike" kern="1200" cap="none" spc="0" normalizeH="0" baseline="0" noProof="0" dirty="0" err="1">
                <a:ln>
                  <a:noFill/>
                </a:ln>
                <a:solidFill>
                  <a:srgbClr val="100F0D"/>
                </a:solidFill>
                <a:effectLst/>
                <a:uLnTx/>
                <a:uFillTx/>
                <a:latin typeface="思源黑体 2"/>
                <a:ea typeface="思源黑体 2"/>
                <a:cs typeface="思源黑体 2"/>
                <a:sym typeface="思源黑体 2"/>
              </a:rPr>
              <a:t>Reranker</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t>
            </a:r>
          </a:p>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2.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对</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52</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题逐题运行</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RAG</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，每题保存原始回答、</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Top5</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引用、耗时、</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Token</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和缓存标志。</a:t>
            </a:r>
          </a:p>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3.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独立重启服务后逐题运行</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Agent</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，保存</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Thought Action Observation Reference Done</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事件。</a:t>
            </a:r>
          </a:p>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4.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连续错误达到</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3</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次时停止批跑；网络恢复后从未成功题目断点续跑，保留每题最后一次有效结果。</a:t>
            </a:r>
          </a:p>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5.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按题型汇总来源覆盖、数字召回、延迟、</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Token</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、推理轮次和工具事件。</a:t>
            </a:r>
          </a:p>
          <a:p>
            <a:pPr marL="0" marR="0" lvl="0" indent="0" defTabSz="914400" rtl="0" eaLnBrk="1" fontAlgn="auto" latinLnBrk="0" hangingPunct="1">
              <a:lnSpc>
                <a:spcPts val="2856"/>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6. </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由</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AI</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审阅者逐题对照标准答案与原始回答，按三维</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0</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至</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2</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分量表给出评分和扣分理由；统计</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52</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题全量及</a:t>
            </a:r>
            <a:r>
              <a:rPr kumimoji="0" lang="en-US" altLang="zh-CN"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40</a:t>
            </a:r>
            <a:r>
              <a:rPr kumimoji="0" lang="zh-CN" altLang="en-US" sz="20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题独立题面子集。</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3BC9F-54A3-9E02-C4A7-BC7135A77B0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7B3726E-2F38-692A-3A99-1B2503AFED71}"/>
              </a:ext>
            </a:extLst>
          </p:cNvPr>
          <p:cNvSpPr txBox="1"/>
          <p:nvPr/>
        </p:nvSpPr>
        <p:spPr>
          <a:xfrm>
            <a:off x="1221328" y="791367"/>
            <a:ext cx="6122248" cy="800091"/>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评测结果</a:t>
            </a:r>
            <a:endParaRPr kumimoji="0" 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sp>
        <p:nvSpPr>
          <p:cNvPr id="3" name="TextBox 3">
            <a:extLst>
              <a:ext uri="{FF2B5EF4-FFF2-40B4-BE49-F238E27FC236}">
                <a16:creationId xmlns:a16="http://schemas.microsoft.com/office/drawing/2014/main" id="{D0AADA78-1AC8-CB04-6EDF-77082523629D}"/>
              </a:ext>
            </a:extLst>
          </p:cNvPr>
          <p:cNvSpPr txBox="1"/>
          <p:nvPr/>
        </p:nvSpPr>
        <p:spPr>
          <a:xfrm>
            <a:off x="1221328" y="1635590"/>
            <a:ext cx="6095025" cy="292388"/>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b="0" i="0" u="none" strike="noStrike" kern="1200" cap="none" spc="0" normalizeH="0" baseline="0" noProof="0" dirty="0">
                <a:ln>
                  <a:noFill/>
                </a:ln>
                <a:solidFill>
                  <a:srgbClr val="263D6D"/>
                </a:solidFill>
                <a:effectLst/>
                <a:uLnTx/>
                <a:uFillTx/>
                <a:latin typeface="Akzidenz-Grotesk"/>
                <a:ea typeface="Akzidenz-Grotesk"/>
                <a:cs typeface="Akzidenz-Grotesk"/>
                <a:sym typeface="Akzidenz-Grotesk"/>
              </a:rPr>
              <a:t>Evaluation Results</a:t>
            </a:r>
          </a:p>
        </p:txBody>
      </p:sp>
      <p:grpSp>
        <p:nvGrpSpPr>
          <p:cNvPr id="4" name="Group 4">
            <a:extLst>
              <a:ext uri="{FF2B5EF4-FFF2-40B4-BE49-F238E27FC236}">
                <a16:creationId xmlns:a16="http://schemas.microsoft.com/office/drawing/2014/main" id="{0CB7697A-0A95-EFBE-38AE-1C473BDBDBB0}"/>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5DD3E13C-2273-7E95-4871-881DA63E739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C113BFAC-604E-CAE4-9ACC-7CD45F631F6B}"/>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13D8A4C4-775A-623E-EAE4-49970EFE2B89}"/>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1E8D639F-B672-8B57-6022-257819A26A1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1DD35F41-988C-BCEC-7438-07162531F3CF}"/>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DA9B3E62-5F98-8B24-D3B8-AAD3401244C1}"/>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C3D91E37-AF9B-58BE-BF7F-F636F86DD466}"/>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E379FFB6-65DE-05FE-4FDF-05C2713182CE}"/>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8BEF66BF-9ECE-7615-7904-F11AD6B30DF0}"/>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DF8B5908-00C0-3CE2-7DB9-F2F67027BED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8F28BAB0-8DEF-F765-754C-870308B0A7DC}"/>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B10736AF-74D5-9A27-0A20-60DF28764683}"/>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942C4DB6-20EB-ECE9-DBCE-075177D7D2E7}"/>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A4761CE4-4702-6E72-B194-B365D6270B25}"/>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7C0B3A0D-9B3F-1579-90E6-7CAA66A581C1}"/>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E8DD27C0-1188-B4BA-EAE3-A82A5F284E8C}"/>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6B2AAC1C-E149-8EEC-6827-00A2F513E816}"/>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TextBox 30">
            <a:extLst>
              <a:ext uri="{FF2B5EF4-FFF2-40B4-BE49-F238E27FC236}">
                <a16:creationId xmlns:a16="http://schemas.microsoft.com/office/drawing/2014/main" id="{395691C2-5868-4FAC-BFD1-A256DFE3C7B1}"/>
              </a:ext>
            </a:extLst>
          </p:cNvPr>
          <p:cNvSpPr txBox="1"/>
          <p:nvPr/>
        </p:nvSpPr>
        <p:spPr>
          <a:xfrm>
            <a:off x="1032147" y="2050403"/>
            <a:ext cx="2600842" cy="508922"/>
          </a:xfrm>
          <a:prstGeom prst="rect">
            <a:avLst/>
          </a:prstGeom>
        </p:spPr>
        <p:txBody>
          <a:bodyPr lIns="0" tIns="0" rIns="0" bIns="0" rtlCol="0" anchor="t">
            <a:spAutoFit/>
          </a:bodyPr>
          <a:lstStyle/>
          <a:p>
            <a:pPr marL="0" marR="0" lvl="0" indent="0" algn="ctr" defTabSz="914400" rtl="0" eaLnBrk="1" fontAlgn="auto" latinLnBrk="0" hangingPunct="1">
              <a:lnSpc>
                <a:spcPts val="4368"/>
              </a:lnSpc>
              <a:spcBef>
                <a:spcPct val="0"/>
              </a:spcBef>
              <a:spcAft>
                <a:spcPts val="0"/>
              </a:spcAft>
              <a:buClrTx/>
              <a:buSzTx/>
              <a:buFontTx/>
              <a:buNone/>
              <a:tabLst/>
              <a:defRPr/>
            </a:pP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检索优化结果</a:t>
            </a:r>
            <a:endParaRPr kumimoji="0" 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37" name="TextBox 37">
            <a:extLst>
              <a:ext uri="{FF2B5EF4-FFF2-40B4-BE49-F238E27FC236}">
                <a16:creationId xmlns:a16="http://schemas.microsoft.com/office/drawing/2014/main" id="{A378CCDD-F9BA-A385-AC34-E789ACCF13C2}"/>
              </a:ext>
            </a:extLst>
          </p:cNvPr>
          <p:cNvSpPr txBox="1"/>
          <p:nvPr/>
        </p:nvSpPr>
        <p:spPr>
          <a:xfrm>
            <a:off x="9829800" y="4082263"/>
            <a:ext cx="5677783" cy="1839927"/>
          </a:xfrm>
          <a:prstGeom prst="rect">
            <a:avLst/>
          </a:prstGeom>
        </p:spPr>
        <p:txBody>
          <a:bodyPr wrap="square" lIns="0" tIns="0" rIns="0" bIns="0" rtlCol="0" anchor="t">
            <a:spAutoFit/>
          </a:bodyPr>
          <a:lstStyle/>
          <a:p>
            <a:pPr marL="0" marR="0" lvl="0" indent="0" defTabSz="914400" rtl="0" eaLnBrk="1" fontAlgn="auto" latinLnBrk="0" hangingPunct="1">
              <a:lnSpc>
                <a:spcPts val="2856"/>
              </a:lnSpc>
              <a:spcBef>
                <a:spcPct val="0"/>
              </a:spcBef>
              <a:spcAft>
                <a:spcPts val="0"/>
              </a:spcAft>
              <a:buClrTx/>
              <a:buSzTx/>
              <a:buFontTx/>
              <a:buNone/>
              <a:tabLst/>
              <a:defRPr/>
            </a:pP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双语术语扩展、单来源分块上限和向量来源保留修复了原</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11</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个检索未命中问题。该结果证明已知检索</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Bad Case</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得到处理，但仍需用未参与调参的留出集验证泛化能力。</a:t>
            </a:r>
          </a:p>
        </p:txBody>
      </p:sp>
      <p:pic>
        <p:nvPicPr>
          <p:cNvPr id="50" name="图片 49">
            <a:extLst>
              <a:ext uri="{FF2B5EF4-FFF2-40B4-BE49-F238E27FC236}">
                <a16:creationId xmlns:a16="http://schemas.microsoft.com/office/drawing/2014/main" id="{B51B292C-6920-FDD5-0438-77C21D3E27DA}"/>
              </a:ext>
            </a:extLst>
          </p:cNvPr>
          <p:cNvPicPr>
            <a:picLocks noChangeAspect="1"/>
          </p:cNvPicPr>
          <p:nvPr/>
        </p:nvPicPr>
        <p:blipFill>
          <a:blip r:embed="rId2"/>
          <a:stretch>
            <a:fillRect/>
          </a:stretch>
        </p:blipFill>
        <p:spPr>
          <a:xfrm>
            <a:off x="1221327" y="3501830"/>
            <a:ext cx="8040222" cy="3000794"/>
          </a:xfrm>
          <a:prstGeom prst="rect">
            <a:avLst/>
          </a:prstGeom>
        </p:spPr>
      </p:pic>
    </p:spTree>
    <p:extLst>
      <p:ext uri="{BB962C8B-B14F-4D97-AF65-F5344CB8AC3E}">
        <p14:creationId xmlns:p14="http://schemas.microsoft.com/office/powerpoint/2010/main" val="7616271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583C-8DCE-7BB5-D149-334F2EA73BA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CB5E8DC-FA1E-A567-8C8D-B05475AF1043}"/>
              </a:ext>
            </a:extLst>
          </p:cNvPr>
          <p:cNvSpPr txBox="1"/>
          <p:nvPr/>
        </p:nvSpPr>
        <p:spPr>
          <a:xfrm>
            <a:off x="1221328" y="791367"/>
            <a:ext cx="6122248" cy="800091"/>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评测结果</a:t>
            </a:r>
            <a:endParaRPr kumimoji="0" 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sp>
        <p:nvSpPr>
          <p:cNvPr id="3" name="TextBox 3">
            <a:extLst>
              <a:ext uri="{FF2B5EF4-FFF2-40B4-BE49-F238E27FC236}">
                <a16:creationId xmlns:a16="http://schemas.microsoft.com/office/drawing/2014/main" id="{882146C8-9DA1-7613-C1D4-15D1B2560DA9}"/>
              </a:ext>
            </a:extLst>
          </p:cNvPr>
          <p:cNvSpPr txBox="1"/>
          <p:nvPr/>
        </p:nvSpPr>
        <p:spPr>
          <a:xfrm>
            <a:off x="1221328" y="1635590"/>
            <a:ext cx="6095025" cy="292388"/>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b="0" i="0" u="none" strike="noStrike" kern="1200" cap="none" spc="0" normalizeH="0" baseline="0" noProof="0" dirty="0">
                <a:ln>
                  <a:noFill/>
                </a:ln>
                <a:solidFill>
                  <a:srgbClr val="263D6D"/>
                </a:solidFill>
                <a:effectLst/>
                <a:uLnTx/>
                <a:uFillTx/>
                <a:latin typeface="Akzidenz-Grotesk"/>
                <a:ea typeface="Akzidenz-Grotesk"/>
                <a:cs typeface="Akzidenz-Grotesk"/>
                <a:sym typeface="Akzidenz-Grotesk"/>
              </a:rPr>
              <a:t>Evaluation Results</a:t>
            </a:r>
          </a:p>
        </p:txBody>
      </p:sp>
      <p:grpSp>
        <p:nvGrpSpPr>
          <p:cNvPr id="4" name="Group 4">
            <a:extLst>
              <a:ext uri="{FF2B5EF4-FFF2-40B4-BE49-F238E27FC236}">
                <a16:creationId xmlns:a16="http://schemas.microsoft.com/office/drawing/2014/main" id="{9F86824C-7BEC-3A05-31B7-8BC1A054E3AA}"/>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9255FAC6-4C73-77E7-DA11-ACEB8F6FAEA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E0BD3A43-EB01-1295-8258-BBC313588DE2}"/>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BDE0C148-015F-2B28-C2ED-4D8DAA7F7C7D}"/>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E507AE2D-2CD7-CAEC-F10B-C880AC8E9EA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3B193857-3F83-D269-EDF1-816529F9F8E9}"/>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AACD7151-46A5-478A-8C60-3B4731662B63}"/>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121E044C-3582-C7B0-C9EA-6409A73BDA3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98767BB6-5AAD-837D-7645-FBC13693405D}"/>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C45C6964-A382-ACE2-17FF-E71F4C494B2A}"/>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F648E280-9491-C872-12A5-BA594BE727F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B3287DFD-2575-02C7-FF88-BEB237B4A29D}"/>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92440E57-01AA-E022-3E88-1B935B08D2A5}"/>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542601AE-F41A-63D1-F0D0-B40B6F0E9271}"/>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1CBB2BEC-0A71-5147-148E-0DF913264383}"/>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27257EE5-378F-7AA0-0D67-EDE682A0D86D}"/>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646894F0-1FEB-9783-1B93-1ACB2F1A739F}"/>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47F35EC2-C31A-829D-5C4D-88B45A99F1DE}"/>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TextBox 30">
            <a:extLst>
              <a:ext uri="{FF2B5EF4-FFF2-40B4-BE49-F238E27FC236}">
                <a16:creationId xmlns:a16="http://schemas.microsoft.com/office/drawing/2014/main" id="{FBC1C026-A9A5-E3AC-E517-2C3A7E7CE2C5}"/>
              </a:ext>
            </a:extLst>
          </p:cNvPr>
          <p:cNvSpPr txBox="1"/>
          <p:nvPr/>
        </p:nvSpPr>
        <p:spPr>
          <a:xfrm>
            <a:off x="1032147" y="1927978"/>
            <a:ext cx="3920853" cy="508922"/>
          </a:xfrm>
          <a:prstGeom prst="rect">
            <a:avLst/>
          </a:prstGeom>
        </p:spPr>
        <p:txBody>
          <a:bodyPr wrap="square" lIns="0" tIns="0" rIns="0" bIns="0" rtlCol="0" anchor="t">
            <a:spAutoFit/>
          </a:bodyPr>
          <a:lstStyle/>
          <a:p>
            <a:pPr marL="0" marR="0" lvl="0" indent="0" algn="ctr" defTabSz="914400" rtl="0" eaLnBrk="1" fontAlgn="auto" latinLnBrk="0" hangingPunct="1">
              <a:lnSpc>
                <a:spcPts val="4368"/>
              </a:lnSpc>
              <a:spcBef>
                <a:spcPct val="0"/>
              </a:spcBef>
              <a:spcAft>
                <a:spcPts val="0"/>
              </a:spcAft>
              <a:buClrTx/>
              <a:buSzTx/>
              <a:buFontTx/>
              <a:buNone/>
              <a:tabLst/>
              <a:defRPr/>
            </a:pPr>
            <a:r>
              <a:rPr kumimoji="0" lang="en-US" altLang="zh-CN"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RAG</a:t>
            </a: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与</a:t>
            </a:r>
            <a:r>
              <a:rPr kumimoji="0" lang="en-US" altLang="zh-CN"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Agent</a:t>
            </a: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总体结果</a:t>
            </a:r>
            <a:endParaRPr kumimoji="0" 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37" name="TextBox 37">
            <a:extLst>
              <a:ext uri="{FF2B5EF4-FFF2-40B4-BE49-F238E27FC236}">
                <a16:creationId xmlns:a16="http://schemas.microsoft.com/office/drawing/2014/main" id="{45325701-8164-F2C3-0759-EFFF98605AEE}"/>
              </a:ext>
            </a:extLst>
          </p:cNvPr>
          <p:cNvSpPr txBox="1"/>
          <p:nvPr/>
        </p:nvSpPr>
        <p:spPr>
          <a:xfrm>
            <a:off x="8458200" y="7222086"/>
            <a:ext cx="9296400" cy="1468031"/>
          </a:xfrm>
          <a:prstGeom prst="rect">
            <a:avLst/>
          </a:prstGeom>
        </p:spPr>
        <p:txBody>
          <a:bodyPr wrap="square" lIns="0" tIns="0" rIns="0" bIns="0" rtlCol="0" anchor="t">
            <a:spAutoFit/>
          </a:bodyPr>
          <a:lstStyle/>
          <a:p>
            <a:pPr marL="0" marR="0" lvl="0" indent="0" algn="l" defTabSz="914400" rtl="0" eaLnBrk="1" fontAlgn="auto" latinLnBrk="0" hangingPunct="1">
              <a:lnSpc>
                <a:spcPts val="2856"/>
              </a:lnSpc>
              <a:spcBef>
                <a:spcPct val="0"/>
              </a:spcBef>
              <a:spcAft>
                <a:spcPts val="0"/>
              </a:spcAft>
              <a:buClrTx/>
              <a:buSzTx/>
              <a:buFontTx/>
              <a:buNone/>
              <a:tabLst/>
              <a:defRPr/>
            </a:pP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Agent</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把相关论文全部覆盖率从</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86.54%</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提高到</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94.23%</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，但数字要点平均召回和全召回题占比没有同步提高。该结果表明多轮检索扩大了来源覆盖，却也可能引入冗余上下文，导致最终回答遗漏原本已经找到的数字。</a:t>
            </a:r>
          </a:p>
        </p:txBody>
      </p:sp>
      <p:pic>
        <p:nvPicPr>
          <p:cNvPr id="23" name="图片 22">
            <a:extLst>
              <a:ext uri="{FF2B5EF4-FFF2-40B4-BE49-F238E27FC236}">
                <a16:creationId xmlns:a16="http://schemas.microsoft.com/office/drawing/2014/main" id="{012F2FDB-2C9F-4CCB-C37C-B3B082FB14B1}"/>
              </a:ext>
            </a:extLst>
          </p:cNvPr>
          <p:cNvPicPr>
            <a:picLocks noChangeAspect="1"/>
          </p:cNvPicPr>
          <p:nvPr/>
        </p:nvPicPr>
        <p:blipFill>
          <a:blip r:embed="rId2"/>
          <a:stretch>
            <a:fillRect/>
          </a:stretch>
        </p:blipFill>
        <p:spPr>
          <a:xfrm>
            <a:off x="1170526" y="2521225"/>
            <a:ext cx="6846211" cy="4330289"/>
          </a:xfrm>
          <a:prstGeom prst="rect">
            <a:avLst/>
          </a:prstGeom>
        </p:spPr>
      </p:pic>
      <p:pic>
        <p:nvPicPr>
          <p:cNvPr id="25" name="图片 24">
            <a:extLst>
              <a:ext uri="{FF2B5EF4-FFF2-40B4-BE49-F238E27FC236}">
                <a16:creationId xmlns:a16="http://schemas.microsoft.com/office/drawing/2014/main" id="{9B3B007B-A1DE-5C5B-C979-D5B485A37098}"/>
              </a:ext>
            </a:extLst>
          </p:cNvPr>
          <p:cNvPicPr>
            <a:picLocks noChangeAspect="1"/>
          </p:cNvPicPr>
          <p:nvPr/>
        </p:nvPicPr>
        <p:blipFill>
          <a:blip r:embed="rId3"/>
          <a:stretch>
            <a:fillRect/>
          </a:stretch>
        </p:blipFill>
        <p:spPr>
          <a:xfrm>
            <a:off x="1170526" y="6851514"/>
            <a:ext cx="6982874" cy="1391124"/>
          </a:xfrm>
          <a:prstGeom prst="rect">
            <a:avLst/>
          </a:prstGeom>
        </p:spPr>
      </p:pic>
      <p:pic>
        <p:nvPicPr>
          <p:cNvPr id="26" name="Picture 1">
            <a:extLst>
              <a:ext uri="{FF2B5EF4-FFF2-40B4-BE49-F238E27FC236}">
                <a16:creationId xmlns:a16="http://schemas.microsoft.com/office/drawing/2014/main" id="{2772C2D7-3935-A9AC-10AB-3C41A432FF8E}"/>
              </a:ext>
            </a:extLst>
          </p:cNvPr>
          <p:cNvPicPr>
            <a:picLocks noChangeAspect="1"/>
          </p:cNvPicPr>
          <p:nvPr/>
        </p:nvPicPr>
        <p:blipFill>
          <a:blip r:embed="rId4"/>
          <a:stretch>
            <a:fillRect/>
          </a:stretch>
        </p:blipFill>
        <p:spPr>
          <a:xfrm>
            <a:off x="8285803" y="2075803"/>
            <a:ext cx="8852903" cy="4979204"/>
          </a:xfrm>
          <a:prstGeom prst="rect">
            <a:avLst/>
          </a:prstGeom>
        </p:spPr>
      </p:pic>
    </p:spTree>
    <p:extLst>
      <p:ext uri="{BB962C8B-B14F-4D97-AF65-F5344CB8AC3E}">
        <p14:creationId xmlns:p14="http://schemas.microsoft.com/office/powerpoint/2010/main" val="114461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7AF7C-B13A-7057-D697-D70C360C2B9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5F7F2CF-CE7D-D963-A917-CA2A67DF3C79}"/>
              </a:ext>
            </a:extLst>
          </p:cNvPr>
          <p:cNvSpPr txBox="1"/>
          <p:nvPr/>
        </p:nvSpPr>
        <p:spPr>
          <a:xfrm>
            <a:off x="1221328" y="791367"/>
            <a:ext cx="6122248" cy="800091"/>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评测结果</a:t>
            </a:r>
            <a:endParaRPr kumimoji="0" 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sp>
        <p:nvSpPr>
          <p:cNvPr id="3" name="TextBox 3">
            <a:extLst>
              <a:ext uri="{FF2B5EF4-FFF2-40B4-BE49-F238E27FC236}">
                <a16:creationId xmlns:a16="http://schemas.microsoft.com/office/drawing/2014/main" id="{E90BFE2E-AF13-C2C0-BFAD-D8AB01C38F71}"/>
              </a:ext>
            </a:extLst>
          </p:cNvPr>
          <p:cNvSpPr txBox="1"/>
          <p:nvPr/>
        </p:nvSpPr>
        <p:spPr>
          <a:xfrm>
            <a:off x="1221328" y="1635590"/>
            <a:ext cx="6095025" cy="292388"/>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b="0" i="0" u="none" strike="noStrike" kern="1200" cap="none" spc="0" normalizeH="0" baseline="0" noProof="0" dirty="0">
                <a:ln>
                  <a:noFill/>
                </a:ln>
                <a:solidFill>
                  <a:srgbClr val="263D6D"/>
                </a:solidFill>
                <a:effectLst/>
                <a:uLnTx/>
                <a:uFillTx/>
                <a:latin typeface="Akzidenz-Grotesk"/>
                <a:ea typeface="Akzidenz-Grotesk"/>
                <a:cs typeface="Akzidenz-Grotesk"/>
                <a:sym typeface="Akzidenz-Grotesk"/>
              </a:rPr>
              <a:t>Evaluation Results</a:t>
            </a:r>
          </a:p>
        </p:txBody>
      </p:sp>
      <p:grpSp>
        <p:nvGrpSpPr>
          <p:cNvPr id="4" name="Group 4">
            <a:extLst>
              <a:ext uri="{FF2B5EF4-FFF2-40B4-BE49-F238E27FC236}">
                <a16:creationId xmlns:a16="http://schemas.microsoft.com/office/drawing/2014/main" id="{3CD68E12-2DD1-F130-31DD-94EAE068956D}"/>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145D549B-AB28-90D0-2C88-5DC1BE83B5F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551F3EC0-2F0C-D29A-C389-AE0CBEC5BF3E}"/>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48C506F9-D64A-8781-321D-FFF7DFB96632}"/>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8B7AD994-AB7A-5BFB-AD2C-214284E2ACD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07E1C5A2-123A-27F9-837B-7BAAC2FBE23E}"/>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97D5409B-6353-FF42-71BB-53AEE26C8923}"/>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77FC4644-7875-F12E-C788-084E0C60135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2A4770CD-82AE-E3C0-B9F8-E4664CF87675}"/>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95E26A31-0761-4458-376C-5485CED689C3}"/>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67B75028-7A8A-CCB2-C74B-2F8B5EC57BB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A96A42F3-11A7-90AF-F5F7-242E76C81E15}"/>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FB3B84A0-E731-EA68-31FE-0A8DEA324EE0}"/>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1B12EA7B-4ED6-C901-2106-63D3021F44F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4858596A-C690-5B26-498C-04A77DD92A38}"/>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3E07DDD9-2906-9B23-FA87-41D683CEE0CB}"/>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F9EC8E77-4A7A-634B-599D-2493BC5F08AB}"/>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EE7FACFC-A962-24D9-38D6-4EE6B521A2E1}"/>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TextBox 30">
            <a:extLst>
              <a:ext uri="{FF2B5EF4-FFF2-40B4-BE49-F238E27FC236}">
                <a16:creationId xmlns:a16="http://schemas.microsoft.com/office/drawing/2014/main" id="{4621F2AC-CC9E-3B80-1DDE-198F77E82D0C}"/>
              </a:ext>
            </a:extLst>
          </p:cNvPr>
          <p:cNvSpPr txBox="1"/>
          <p:nvPr/>
        </p:nvSpPr>
        <p:spPr>
          <a:xfrm>
            <a:off x="1032147" y="1927978"/>
            <a:ext cx="3920853" cy="508922"/>
          </a:xfrm>
          <a:prstGeom prst="rect">
            <a:avLst/>
          </a:prstGeom>
        </p:spPr>
        <p:txBody>
          <a:bodyPr wrap="square" lIns="0" tIns="0" rIns="0" bIns="0" rtlCol="0" anchor="t">
            <a:spAutoFit/>
          </a:bodyPr>
          <a:lstStyle/>
          <a:p>
            <a:pPr marL="0" marR="0" lvl="0" indent="0" algn="ctr" defTabSz="914400" rtl="0" eaLnBrk="1" fontAlgn="auto" latinLnBrk="0" hangingPunct="1">
              <a:lnSpc>
                <a:spcPts val="4368"/>
              </a:lnSpc>
              <a:spcBef>
                <a:spcPct val="0"/>
              </a:spcBef>
              <a:spcAft>
                <a:spcPts val="0"/>
              </a:spcAft>
              <a:buClrTx/>
              <a:buSzTx/>
              <a:buFontTx/>
              <a:buNone/>
              <a:tabLst/>
              <a:defRPr/>
            </a:pPr>
            <a:r>
              <a:rPr kumimoji="0" lang="en-US" altLang="zh-CN"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RAG</a:t>
            </a: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与</a:t>
            </a:r>
            <a:r>
              <a:rPr kumimoji="0" lang="en-US" altLang="zh-CN"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Agent</a:t>
            </a: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总体结果</a:t>
            </a:r>
            <a:endParaRPr kumimoji="0" 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37" name="TextBox 37">
            <a:extLst>
              <a:ext uri="{FF2B5EF4-FFF2-40B4-BE49-F238E27FC236}">
                <a16:creationId xmlns:a16="http://schemas.microsoft.com/office/drawing/2014/main" id="{D7EA7D15-1389-0AA2-00CA-99EF89DB1A27}"/>
              </a:ext>
            </a:extLst>
          </p:cNvPr>
          <p:cNvSpPr txBox="1"/>
          <p:nvPr/>
        </p:nvSpPr>
        <p:spPr>
          <a:xfrm>
            <a:off x="886827" y="7511684"/>
            <a:ext cx="16722453" cy="724237"/>
          </a:xfrm>
          <a:prstGeom prst="rect">
            <a:avLst/>
          </a:prstGeom>
        </p:spPr>
        <p:txBody>
          <a:bodyPr wrap="square" lIns="0" tIns="0" rIns="0" bIns="0" rtlCol="0" anchor="t">
            <a:spAutoFit/>
          </a:bodyPr>
          <a:lstStyle/>
          <a:p>
            <a:pPr marL="0" marR="0" lvl="0" indent="0" algn="l" defTabSz="914400" rtl="0" eaLnBrk="1" fontAlgn="auto" latinLnBrk="0" hangingPunct="1">
              <a:lnSpc>
                <a:spcPts val="2856"/>
              </a:lnSpc>
              <a:spcBef>
                <a:spcPct val="0"/>
              </a:spcBef>
              <a:spcAft>
                <a:spcPts val="0"/>
              </a:spcAft>
              <a:buClrTx/>
              <a:buSzTx/>
              <a:buFontTx/>
              <a:buNone/>
              <a:tabLst/>
              <a:defRPr/>
            </a:pP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Agent</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平均延迟比</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RAG</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增加</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6.44</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秒，</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P95</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增加</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16.03</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秒，平均</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Token</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约为</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RAG</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的</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3.58</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倍。系统在需要多来源推理时获得更高覆盖，但应通过停止条件和上下文压缩控制成本。</a:t>
            </a:r>
          </a:p>
        </p:txBody>
      </p:sp>
      <p:pic>
        <p:nvPicPr>
          <p:cNvPr id="22" name="Picture 2">
            <a:extLst>
              <a:ext uri="{FF2B5EF4-FFF2-40B4-BE49-F238E27FC236}">
                <a16:creationId xmlns:a16="http://schemas.microsoft.com/office/drawing/2014/main" id="{CAC16E3E-6163-239D-641A-3401B1B90B9C}"/>
              </a:ext>
            </a:extLst>
          </p:cNvPr>
          <p:cNvPicPr>
            <a:picLocks noChangeAspect="1"/>
          </p:cNvPicPr>
          <p:nvPr/>
        </p:nvPicPr>
        <p:blipFill>
          <a:blip r:embed="rId2"/>
          <a:stretch>
            <a:fillRect/>
          </a:stretch>
        </p:blipFill>
        <p:spPr>
          <a:xfrm>
            <a:off x="848727" y="2605293"/>
            <a:ext cx="8208545" cy="4616793"/>
          </a:xfrm>
          <a:prstGeom prst="rect">
            <a:avLst/>
          </a:prstGeom>
        </p:spPr>
      </p:pic>
      <p:pic>
        <p:nvPicPr>
          <p:cNvPr id="24" name="Picture 3">
            <a:extLst>
              <a:ext uri="{FF2B5EF4-FFF2-40B4-BE49-F238E27FC236}">
                <a16:creationId xmlns:a16="http://schemas.microsoft.com/office/drawing/2014/main" id="{D2B209CC-131B-4B60-421C-A324E32BD90C}"/>
              </a:ext>
            </a:extLst>
          </p:cNvPr>
          <p:cNvPicPr>
            <a:picLocks noChangeAspect="1"/>
          </p:cNvPicPr>
          <p:nvPr/>
        </p:nvPicPr>
        <p:blipFill>
          <a:blip r:embed="rId3"/>
          <a:stretch>
            <a:fillRect/>
          </a:stretch>
        </p:blipFill>
        <p:spPr>
          <a:xfrm>
            <a:off x="9230729" y="2988714"/>
            <a:ext cx="7784553" cy="3988707"/>
          </a:xfrm>
          <a:prstGeom prst="rect">
            <a:avLst/>
          </a:prstGeom>
        </p:spPr>
      </p:pic>
    </p:spTree>
    <p:extLst>
      <p:ext uri="{BB962C8B-B14F-4D97-AF65-F5344CB8AC3E}">
        <p14:creationId xmlns:p14="http://schemas.microsoft.com/office/powerpoint/2010/main" val="2187377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4FBBD-077B-BA95-7D6E-189CFD9D539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9FE946B-6348-E51E-0C31-13705BB2D06A}"/>
              </a:ext>
            </a:extLst>
          </p:cNvPr>
          <p:cNvSpPr txBox="1"/>
          <p:nvPr/>
        </p:nvSpPr>
        <p:spPr>
          <a:xfrm>
            <a:off x="1221328" y="791367"/>
            <a:ext cx="6122248" cy="800091"/>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评测结果</a:t>
            </a:r>
            <a:endParaRPr kumimoji="0" 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sp>
        <p:nvSpPr>
          <p:cNvPr id="3" name="TextBox 3">
            <a:extLst>
              <a:ext uri="{FF2B5EF4-FFF2-40B4-BE49-F238E27FC236}">
                <a16:creationId xmlns:a16="http://schemas.microsoft.com/office/drawing/2014/main" id="{7601391A-64D0-5E2E-1E6A-E6969A611FBB}"/>
              </a:ext>
            </a:extLst>
          </p:cNvPr>
          <p:cNvSpPr txBox="1"/>
          <p:nvPr/>
        </p:nvSpPr>
        <p:spPr>
          <a:xfrm>
            <a:off x="1221328" y="1635590"/>
            <a:ext cx="6095025" cy="292388"/>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b="0" i="0" u="none" strike="noStrike" kern="1200" cap="none" spc="0" normalizeH="0" baseline="0" noProof="0" dirty="0">
                <a:ln>
                  <a:noFill/>
                </a:ln>
                <a:solidFill>
                  <a:srgbClr val="263D6D"/>
                </a:solidFill>
                <a:effectLst/>
                <a:uLnTx/>
                <a:uFillTx/>
                <a:latin typeface="Akzidenz-Grotesk"/>
                <a:ea typeface="Akzidenz-Grotesk"/>
                <a:cs typeface="Akzidenz-Grotesk"/>
                <a:sym typeface="Akzidenz-Grotesk"/>
              </a:rPr>
              <a:t>Evaluation Results</a:t>
            </a:r>
          </a:p>
        </p:txBody>
      </p:sp>
      <p:grpSp>
        <p:nvGrpSpPr>
          <p:cNvPr id="4" name="Group 4">
            <a:extLst>
              <a:ext uri="{FF2B5EF4-FFF2-40B4-BE49-F238E27FC236}">
                <a16:creationId xmlns:a16="http://schemas.microsoft.com/office/drawing/2014/main" id="{5CE46D81-ECAF-8CD4-602B-D52002CF3575}"/>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24868244-F61D-B23A-06C8-178E0F609FEE}"/>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6BC1C6C7-9319-FDFB-BE69-600506B23BDB}"/>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3BA9C74D-C915-2934-B74B-F22AEC0C2C3A}"/>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CE736E9E-A282-058B-7060-03314E6A648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D4AD3728-E4B9-B69D-2643-5CF0762E4293}"/>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74213311-3B83-74D3-355C-7CD830C961DB}"/>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B26E0890-7F2C-0FC9-85E8-C9B9551ED079}"/>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8E708E0F-DC83-DF4C-8018-D6896FAB6BE1}"/>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58B271BD-526D-BAAA-11F6-61AD2789C1F8}"/>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D76A0B3B-D3D9-A12A-A2B7-1FE13C089BE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31FE2012-4942-E29E-75F9-5C8E79341F0A}"/>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01241A21-EC3A-0A05-C396-9C71D09C7AB3}"/>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698F682C-EF14-1334-4AFD-7686B4E18DF2}"/>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22DC7D1C-649E-7307-4A53-4E6277F487E7}"/>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FD3CDA48-AA33-9EB3-6A91-4D454B23C6B6}"/>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79A7DF05-FCB7-2EE5-A557-D5773E8A230D}"/>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3673FAB7-413F-9DD8-0422-2DB94A1A6915}"/>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TextBox 30">
            <a:extLst>
              <a:ext uri="{FF2B5EF4-FFF2-40B4-BE49-F238E27FC236}">
                <a16:creationId xmlns:a16="http://schemas.microsoft.com/office/drawing/2014/main" id="{813250F9-E83D-6A32-4B40-61AECA488174}"/>
              </a:ext>
            </a:extLst>
          </p:cNvPr>
          <p:cNvSpPr txBox="1"/>
          <p:nvPr/>
        </p:nvSpPr>
        <p:spPr>
          <a:xfrm>
            <a:off x="152400" y="1981534"/>
            <a:ext cx="3920853" cy="508922"/>
          </a:xfrm>
          <a:prstGeom prst="rect">
            <a:avLst/>
          </a:prstGeom>
        </p:spPr>
        <p:txBody>
          <a:bodyPr wrap="square" lIns="0" tIns="0" rIns="0" bIns="0" rtlCol="0" anchor="t">
            <a:spAutoFit/>
          </a:bodyPr>
          <a:lstStyle/>
          <a:p>
            <a:pPr marL="0" marR="0" lvl="0" indent="0" algn="ctr" defTabSz="914400" rtl="0" eaLnBrk="1" fontAlgn="auto" latinLnBrk="0" hangingPunct="1">
              <a:lnSpc>
                <a:spcPts val="4368"/>
              </a:lnSpc>
              <a:spcBef>
                <a:spcPct val="0"/>
              </a:spcBef>
              <a:spcAft>
                <a:spcPts val="0"/>
              </a:spcAft>
              <a:buClrTx/>
              <a:buSzTx/>
              <a:buFontTx/>
              <a:buNone/>
              <a:tabLst/>
              <a:defRPr/>
            </a:pP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分题型结果</a:t>
            </a:r>
            <a:endParaRPr kumimoji="0" 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37" name="TextBox 37">
            <a:extLst>
              <a:ext uri="{FF2B5EF4-FFF2-40B4-BE49-F238E27FC236}">
                <a16:creationId xmlns:a16="http://schemas.microsoft.com/office/drawing/2014/main" id="{540B5AEE-2236-CB35-6771-D0DE445FB9F5}"/>
              </a:ext>
            </a:extLst>
          </p:cNvPr>
          <p:cNvSpPr txBox="1"/>
          <p:nvPr/>
        </p:nvSpPr>
        <p:spPr>
          <a:xfrm>
            <a:off x="886827" y="7511684"/>
            <a:ext cx="16722453" cy="1096134"/>
          </a:xfrm>
          <a:prstGeom prst="rect">
            <a:avLst/>
          </a:prstGeom>
        </p:spPr>
        <p:txBody>
          <a:bodyPr wrap="square" lIns="0" tIns="0" rIns="0" bIns="0" rtlCol="0" anchor="t">
            <a:spAutoFit/>
          </a:bodyPr>
          <a:lstStyle/>
          <a:p>
            <a:pPr marL="0" marR="0" lvl="0" indent="0" algn="l" defTabSz="914400" rtl="0" eaLnBrk="1" fontAlgn="auto" latinLnBrk="0" hangingPunct="1">
              <a:lnSpc>
                <a:spcPts val="2856"/>
              </a:lnSpc>
              <a:spcBef>
                <a:spcPct val="0"/>
              </a:spcBef>
              <a:spcAft>
                <a:spcPts val="0"/>
              </a:spcAft>
              <a:buClrTx/>
              <a:buSzTx/>
              <a:buFontTx/>
              <a:buNone/>
              <a:tabLst/>
              <a:defRPr/>
            </a:pP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Agent</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在事实性和推理性问题上实现</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100%</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相关论文覆盖，但对比性问题只有</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83.33%</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，低于</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RAG</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的</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91.67%</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C001</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至</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C007</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及</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I001</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至</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I005</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共</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12</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题使用未定义的“两篇论文”“两篇方法”等指代；在独立会话下无法保证模型按标准答案选中</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P01</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和</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P02</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C001</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C002</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中的</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Agent</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澄清请求是合理行为，不能简单解释为知识缺失。</a:t>
            </a:r>
          </a:p>
        </p:txBody>
      </p:sp>
      <p:pic>
        <p:nvPicPr>
          <p:cNvPr id="25" name="图片 24">
            <a:extLst>
              <a:ext uri="{FF2B5EF4-FFF2-40B4-BE49-F238E27FC236}">
                <a16:creationId xmlns:a16="http://schemas.microsoft.com/office/drawing/2014/main" id="{050D3DCE-46CF-1D11-0EBD-8EA28DF8831C}"/>
              </a:ext>
            </a:extLst>
          </p:cNvPr>
          <p:cNvPicPr>
            <a:picLocks noChangeAspect="1"/>
          </p:cNvPicPr>
          <p:nvPr/>
        </p:nvPicPr>
        <p:blipFill>
          <a:blip r:embed="rId2"/>
          <a:stretch>
            <a:fillRect/>
          </a:stretch>
        </p:blipFill>
        <p:spPr>
          <a:xfrm>
            <a:off x="1093515" y="2530858"/>
            <a:ext cx="8154538" cy="1419423"/>
          </a:xfrm>
          <a:prstGeom prst="rect">
            <a:avLst/>
          </a:prstGeom>
        </p:spPr>
      </p:pic>
      <p:pic>
        <p:nvPicPr>
          <p:cNvPr id="27" name="图片 26">
            <a:extLst>
              <a:ext uri="{FF2B5EF4-FFF2-40B4-BE49-F238E27FC236}">
                <a16:creationId xmlns:a16="http://schemas.microsoft.com/office/drawing/2014/main" id="{B1C8CD8A-033F-0B8B-719B-A0F7C6F65F2C}"/>
              </a:ext>
            </a:extLst>
          </p:cNvPr>
          <p:cNvPicPr>
            <a:picLocks noChangeAspect="1"/>
          </p:cNvPicPr>
          <p:nvPr/>
        </p:nvPicPr>
        <p:blipFill>
          <a:blip r:embed="rId3"/>
          <a:stretch>
            <a:fillRect/>
          </a:stretch>
        </p:blipFill>
        <p:spPr>
          <a:xfrm>
            <a:off x="1032147" y="3737247"/>
            <a:ext cx="8068801" cy="2476846"/>
          </a:xfrm>
          <a:prstGeom prst="rect">
            <a:avLst/>
          </a:prstGeom>
        </p:spPr>
      </p:pic>
      <p:pic>
        <p:nvPicPr>
          <p:cNvPr id="28" name="Picture 4">
            <a:extLst>
              <a:ext uri="{FF2B5EF4-FFF2-40B4-BE49-F238E27FC236}">
                <a16:creationId xmlns:a16="http://schemas.microsoft.com/office/drawing/2014/main" id="{5E10B650-36AD-65C5-9A5F-0C4D3C7E7F9A}"/>
              </a:ext>
            </a:extLst>
          </p:cNvPr>
          <p:cNvPicPr>
            <a:picLocks noChangeAspect="1"/>
          </p:cNvPicPr>
          <p:nvPr/>
        </p:nvPicPr>
        <p:blipFill>
          <a:blip r:embed="rId4"/>
          <a:stretch>
            <a:fillRect/>
          </a:stretch>
        </p:blipFill>
        <p:spPr>
          <a:xfrm>
            <a:off x="9601199" y="2314575"/>
            <a:ext cx="7197467" cy="4048125"/>
          </a:xfrm>
          <a:prstGeom prst="rect">
            <a:avLst/>
          </a:prstGeom>
        </p:spPr>
      </p:pic>
    </p:spTree>
    <p:extLst>
      <p:ext uri="{BB962C8B-B14F-4D97-AF65-F5344CB8AC3E}">
        <p14:creationId xmlns:p14="http://schemas.microsoft.com/office/powerpoint/2010/main" val="967707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F2161-07CF-33A5-F391-6FF96B67539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C40D6F0-1DF5-F590-BE22-5BC638DD6459}"/>
              </a:ext>
            </a:extLst>
          </p:cNvPr>
          <p:cNvSpPr txBox="1"/>
          <p:nvPr/>
        </p:nvSpPr>
        <p:spPr>
          <a:xfrm>
            <a:off x="1221328" y="791367"/>
            <a:ext cx="6122248" cy="800091"/>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rPr>
              <a:t>评测结果</a:t>
            </a:r>
            <a:endParaRPr kumimoji="0" lang="en-US" sz="5199" b="1" i="0" u="none" strike="noStrike" kern="1200" cap="none" spc="0" normalizeH="0" baseline="0" noProof="0" dirty="0">
              <a:ln>
                <a:noFill/>
              </a:ln>
              <a:solidFill>
                <a:srgbClr val="100F0D"/>
              </a:solidFill>
              <a:effectLst/>
              <a:uLnTx/>
              <a:uFillTx/>
              <a:latin typeface="思源黑体 2 Heavy"/>
              <a:ea typeface="思源黑体 2 Heavy"/>
              <a:cs typeface="思源黑体 2 Heavy"/>
              <a:sym typeface="思源黑体 2 Heavy"/>
            </a:endParaRPr>
          </a:p>
        </p:txBody>
      </p:sp>
      <p:sp>
        <p:nvSpPr>
          <p:cNvPr id="3" name="TextBox 3">
            <a:extLst>
              <a:ext uri="{FF2B5EF4-FFF2-40B4-BE49-F238E27FC236}">
                <a16:creationId xmlns:a16="http://schemas.microsoft.com/office/drawing/2014/main" id="{DBFE2183-1A6D-0EDA-475F-A52210B54D41}"/>
              </a:ext>
            </a:extLst>
          </p:cNvPr>
          <p:cNvSpPr txBox="1"/>
          <p:nvPr/>
        </p:nvSpPr>
        <p:spPr>
          <a:xfrm>
            <a:off x="1221328" y="1635590"/>
            <a:ext cx="6095025" cy="292388"/>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900" b="0" i="0" u="none" strike="noStrike" kern="1200" cap="none" spc="0" normalizeH="0" baseline="0" noProof="0" dirty="0">
                <a:ln>
                  <a:noFill/>
                </a:ln>
                <a:solidFill>
                  <a:srgbClr val="263D6D"/>
                </a:solidFill>
                <a:effectLst/>
                <a:uLnTx/>
                <a:uFillTx/>
                <a:latin typeface="Akzidenz-Grotesk"/>
                <a:ea typeface="Akzidenz-Grotesk"/>
                <a:cs typeface="Akzidenz-Grotesk"/>
                <a:sym typeface="Akzidenz-Grotesk"/>
              </a:rPr>
              <a:t>Evaluation Results</a:t>
            </a:r>
          </a:p>
        </p:txBody>
      </p:sp>
      <p:grpSp>
        <p:nvGrpSpPr>
          <p:cNvPr id="4" name="Group 4">
            <a:extLst>
              <a:ext uri="{FF2B5EF4-FFF2-40B4-BE49-F238E27FC236}">
                <a16:creationId xmlns:a16="http://schemas.microsoft.com/office/drawing/2014/main" id="{0D8C9FDB-591A-2766-C129-9C15B5D9C3A1}"/>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2C9BF904-CB4E-8139-3865-C9CCE20E3B8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FFF60F2D-0CCC-1178-1EBF-C34160F1CE24}"/>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6B26F0DB-9FBD-159F-BDA4-9FAE18532244}"/>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0B9E0058-EF01-FA4B-6907-C7E8FC012B2A}"/>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8BA473F0-686C-4FF5-D1DC-072646AEFE9A}"/>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a:extLst>
              <a:ext uri="{FF2B5EF4-FFF2-40B4-BE49-F238E27FC236}">
                <a16:creationId xmlns:a16="http://schemas.microsoft.com/office/drawing/2014/main" id="{9003DE14-D8C4-8959-7F5D-42EDBBCFB5D2}"/>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59E64FB2-79EB-6E5B-2DAE-59642E1BC363}"/>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D1EFEB54-3F75-8093-6674-20DF357769E3}"/>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a:extLst>
              <a:ext uri="{FF2B5EF4-FFF2-40B4-BE49-F238E27FC236}">
                <a16:creationId xmlns:a16="http://schemas.microsoft.com/office/drawing/2014/main" id="{C127DB51-267C-692B-DB7F-D841F348C703}"/>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5AF971BC-8E41-8044-BC08-B38B638B465C}"/>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15D43FD5-651B-12A7-42B0-FD9F2B2E153C}"/>
                </a:ext>
              </a:extLst>
            </p:cNvPr>
            <p:cNvSpPr txBox="1"/>
            <p:nvPr/>
          </p:nvSpPr>
          <p:spPr>
            <a:xfrm>
              <a:off x="63500" y="34925"/>
              <a:ext cx="724297" cy="714375"/>
            </a:xfrm>
            <a:prstGeom prst="rect">
              <a:avLst/>
            </a:prstGeom>
          </p:spPr>
          <p:txBody>
            <a:bodyPr lIns="8064" tIns="8064" rIns="8064" bIns="8064" rtlCol="0" anchor="ctr"/>
            <a:lstStyle/>
            <a:p>
              <a:pPr marL="0" marR="0" lvl="0" indent="0" algn="ctr" defTabSz="914400" rtl="0" eaLnBrk="1" fontAlgn="auto" latinLnBrk="0" hangingPunct="1">
                <a:lnSpc>
                  <a:spcPts val="26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28266812-8349-6B4D-FF59-08DB4BAA955C}"/>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818F4509-8984-D1EA-FAE8-564B57894ECF}"/>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9D10E141-E074-9AA4-3301-A1E437BFA259}"/>
                </a:ext>
              </a:extLst>
            </p:cNvPr>
            <p:cNvSpPr txBox="1"/>
            <p:nvPr/>
          </p:nvSpPr>
          <p:spPr>
            <a:xfrm>
              <a:off x="63500" y="34925"/>
              <a:ext cx="724297"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FD4984F2-7271-1EAF-0F05-E1E7207F8F9C}"/>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CD625E37-6C79-7EB2-DFC5-D5419FB6FC48}"/>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6D429BB3-04DD-9BC6-D6BB-7BECA70637EF}"/>
                </a:ext>
              </a:extLst>
            </p:cNvPr>
            <p:cNvSpPr txBox="1"/>
            <p:nvPr/>
          </p:nvSpPr>
          <p:spPr>
            <a:xfrm>
              <a:off x="63500" y="34925"/>
              <a:ext cx="757185" cy="71437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TextBox 30">
            <a:extLst>
              <a:ext uri="{FF2B5EF4-FFF2-40B4-BE49-F238E27FC236}">
                <a16:creationId xmlns:a16="http://schemas.microsoft.com/office/drawing/2014/main" id="{F980619A-BB7D-771E-A3CC-411F8A865F32}"/>
              </a:ext>
            </a:extLst>
          </p:cNvPr>
          <p:cNvSpPr txBox="1"/>
          <p:nvPr/>
        </p:nvSpPr>
        <p:spPr>
          <a:xfrm>
            <a:off x="152400" y="1981534"/>
            <a:ext cx="3920853" cy="508922"/>
          </a:xfrm>
          <a:prstGeom prst="rect">
            <a:avLst/>
          </a:prstGeom>
        </p:spPr>
        <p:txBody>
          <a:bodyPr wrap="square" lIns="0" tIns="0" rIns="0" bIns="0" rtlCol="0" anchor="t">
            <a:spAutoFit/>
          </a:bodyPr>
          <a:lstStyle/>
          <a:p>
            <a:pPr marL="0" marR="0" lvl="0" indent="0" algn="ctr" defTabSz="914400" rtl="0" eaLnBrk="1" fontAlgn="auto" latinLnBrk="0" hangingPunct="1">
              <a:lnSpc>
                <a:spcPts val="4368"/>
              </a:lnSpc>
              <a:spcBef>
                <a:spcPct val="0"/>
              </a:spcBef>
              <a:spcAft>
                <a:spcPts val="0"/>
              </a:spcAft>
              <a:buClrTx/>
              <a:buSzTx/>
              <a:buFontTx/>
              <a:buNone/>
              <a:tabLst/>
              <a:defRPr/>
            </a:pPr>
            <a:r>
              <a:rPr lang="zh-CN" altLang="en-US" sz="2800" b="1" dirty="0">
                <a:solidFill>
                  <a:srgbClr val="1E1E1E"/>
                </a:solidFill>
                <a:latin typeface="思源黑体 2 Bold"/>
                <a:ea typeface="思源黑体 2 Bold"/>
                <a:cs typeface="思源黑体 2 Bold"/>
                <a:sym typeface="思源黑体 2 Bold"/>
              </a:rPr>
              <a:t>     </a:t>
            </a:r>
            <a:r>
              <a:rPr kumimoji="0" lang="en-US" altLang="zh-CN"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Agent</a:t>
            </a:r>
            <a:r>
              <a:rPr kumimoji="0" lang="zh-CN" alt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rPr>
              <a:t>行为结果</a:t>
            </a:r>
            <a:endParaRPr kumimoji="0" lang="en-US" sz="2800" b="1" i="0" u="none" strike="noStrike" kern="1200" cap="none" spc="0" normalizeH="0" baseline="0" noProof="0" dirty="0">
              <a:ln>
                <a:noFill/>
              </a:ln>
              <a:solidFill>
                <a:srgbClr val="1E1E1E"/>
              </a:solidFill>
              <a:effectLst/>
              <a:uLnTx/>
              <a:uFillTx/>
              <a:latin typeface="思源黑体 2 Bold"/>
              <a:ea typeface="思源黑体 2 Bold"/>
              <a:cs typeface="思源黑体 2 Bold"/>
              <a:sym typeface="思源黑体 2 Bold"/>
            </a:endParaRPr>
          </a:p>
        </p:txBody>
      </p:sp>
      <p:sp>
        <p:nvSpPr>
          <p:cNvPr id="37" name="TextBox 37">
            <a:extLst>
              <a:ext uri="{FF2B5EF4-FFF2-40B4-BE49-F238E27FC236}">
                <a16:creationId xmlns:a16="http://schemas.microsoft.com/office/drawing/2014/main" id="{49EC3C47-4D77-FCC9-1BE1-C6AB6025E61E}"/>
              </a:ext>
            </a:extLst>
          </p:cNvPr>
          <p:cNvSpPr txBox="1"/>
          <p:nvPr/>
        </p:nvSpPr>
        <p:spPr>
          <a:xfrm>
            <a:off x="9707777" y="3543300"/>
            <a:ext cx="7799973" cy="1839927"/>
          </a:xfrm>
          <a:prstGeom prst="rect">
            <a:avLst/>
          </a:prstGeom>
        </p:spPr>
        <p:txBody>
          <a:bodyPr wrap="square" lIns="0" tIns="0" rIns="0" bIns="0" rtlCol="0" anchor="t">
            <a:spAutoFit/>
          </a:bodyPr>
          <a:lstStyle/>
          <a:p>
            <a:pPr marL="0" marR="0" lvl="0" indent="0" algn="l" defTabSz="914400" rtl="0" eaLnBrk="1" fontAlgn="auto" latinLnBrk="0" hangingPunct="1">
              <a:lnSpc>
                <a:spcPts val="2856"/>
              </a:lnSpc>
              <a:spcBef>
                <a:spcPct val="0"/>
              </a:spcBef>
              <a:spcAft>
                <a:spcPts val="0"/>
              </a:spcAft>
              <a:buClrTx/>
              <a:buSzTx/>
              <a:buFontTx/>
              <a:buNone/>
              <a:tabLst/>
              <a:defRPr/>
            </a:pP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Agent</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共调用</a:t>
            </a:r>
            <a:r>
              <a:rPr kumimoji="0" lang="en-US" altLang="zh-CN" sz="2400" b="0" i="0" u="none" strike="noStrike" kern="1200" cap="none" spc="0" normalizeH="0" baseline="0" noProof="0" dirty="0" err="1">
                <a:ln>
                  <a:noFill/>
                </a:ln>
                <a:solidFill>
                  <a:srgbClr val="100F0D"/>
                </a:solidFill>
                <a:effectLst/>
                <a:uLnTx/>
                <a:uFillTx/>
                <a:latin typeface="思源黑体 2"/>
                <a:ea typeface="思源黑体 2"/>
                <a:cs typeface="思源黑体 2"/>
                <a:sym typeface="思源黑体 2"/>
              </a:rPr>
              <a:t>knowledge_search</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134</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a:t>
            </a:r>
            <a:r>
              <a:rPr kumimoji="0" lang="en-US" altLang="zh-CN" sz="2400" b="0" i="0" u="none" strike="noStrike" kern="1200" cap="none" spc="0" normalizeH="0" baseline="0" noProof="0" dirty="0" err="1">
                <a:ln>
                  <a:noFill/>
                </a:ln>
                <a:solidFill>
                  <a:srgbClr val="100F0D"/>
                </a:solidFill>
                <a:effectLst/>
                <a:uLnTx/>
                <a:uFillTx/>
                <a:latin typeface="思源黑体 2"/>
                <a:ea typeface="思源黑体 2"/>
                <a:cs typeface="思源黑体 2"/>
                <a:sym typeface="思源黑体 2"/>
              </a:rPr>
              <a:t>knowledge_qa</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18</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a:t>
            </a:r>
            <a:r>
              <a:rPr kumimoji="0" lang="en-US" altLang="zh-CN" sz="2400" b="0" i="0" u="none" strike="noStrike" kern="1200" cap="none" spc="0" normalizeH="0" baseline="0" noProof="0" dirty="0" err="1">
                <a:ln>
                  <a:noFill/>
                </a:ln>
                <a:solidFill>
                  <a:srgbClr val="100F0D"/>
                </a:solidFill>
                <a:effectLst/>
                <a:uLnTx/>
                <a:uFillTx/>
                <a:latin typeface="思源黑体 2"/>
                <a:ea typeface="思源黑体 2"/>
                <a:cs typeface="思源黑体 2"/>
                <a:sym typeface="思源黑体 2"/>
              </a:rPr>
              <a:t>paper_meta</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12</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calculator 3</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次和</a:t>
            </a:r>
            <a:r>
              <a:rPr kumimoji="0" lang="en-US" altLang="zh-CN" sz="2400" b="0" i="0" u="none" strike="noStrike" kern="1200" cap="none" spc="0" normalizeH="0" baseline="0" noProof="0" dirty="0" err="1">
                <a:ln>
                  <a:noFill/>
                </a:ln>
                <a:solidFill>
                  <a:srgbClr val="100F0D"/>
                </a:solidFill>
                <a:effectLst/>
                <a:uLnTx/>
                <a:uFillTx/>
                <a:latin typeface="思源黑体 2"/>
                <a:ea typeface="思源黑体 2"/>
                <a:cs typeface="思源黑体 2"/>
                <a:sym typeface="思源黑体 2"/>
              </a:rPr>
              <a:t>paper_compare</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 3</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次。工具执行基本稳定，但只有</a:t>
            </a:r>
            <a:r>
              <a:rPr kumimoji="0" lang="en-US" altLang="zh-CN"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27</a:t>
            </a:r>
            <a:r>
              <a:rPr kumimoji="0" lang="zh-CN" altLang="en-US" sz="2400" b="0" i="0" u="none" strike="noStrike" kern="1200" cap="none" spc="0" normalizeH="0" baseline="0" noProof="0" dirty="0">
                <a:ln>
                  <a:noFill/>
                </a:ln>
                <a:solidFill>
                  <a:srgbClr val="100F0D"/>
                </a:solidFill>
                <a:effectLst/>
                <a:uLnTx/>
                <a:uFillTx/>
                <a:latin typeface="思源黑体 2"/>
                <a:ea typeface="思源黑体 2"/>
                <a:cs typeface="思源黑体 2"/>
                <a:sym typeface="思源黑体 2"/>
              </a:rPr>
              <a:t>题严格包含评测集标注的期望工具，说明决策质量仍低于执行质量。</a:t>
            </a:r>
          </a:p>
        </p:txBody>
      </p:sp>
      <p:pic>
        <p:nvPicPr>
          <p:cNvPr id="23" name="图片 22">
            <a:extLst>
              <a:ext uri="{FF2B5EF4-FFF2-40B4-BE49-F238E27FC236}">
                <a16:creationId xmlns:a16="http://schemas.microsoft.com/office/drawing/2014/main" id="{56125952-B190-B742-0A76-5FBCAB706EE4}"/>
              </a:ext>
            </a:extLst>
          </p:cNvPr>
          <p:cNvPicPr>
            <a:picLocks noChangeAspect="1"/>
          </p:cNvPicPr>
          <p:nvPr/>
        </p:nvPicPr>
        <p:blipFill>
          <a:blip r:embed="rId2"/>
          <a:stretch>
            <a:fillRect/>
          </a:stretch>
        </p:blipFill>
        <p:spPr>
          <a:xfrm>
            <a:off x="848727" y="2627926"/>
            <a:ext cx="8221222" cy="4572638"/>
          </a:xfrm>
          <a:prstGeom prst="rect">
            <a:avLst/>
          </a:prstGeom>
        </p:spPr>
      </p:pic>
    </p:spTree>
    <p:extLst>
      <p:ext uri="{BB962C8B-B14F-4D97-AF65-F5344CB8AC3E}">
        <p14:creationId xmlns:p14="http://schemas.microsoft.com/office/powerpoint/2010/main" val="3684115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A6819-3EC3-9534-C2EE-7E864550E53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DA3F5C2-597A-6B90-F11B-E27009739845}"/>
              </a:ext>
            </a:extLst>
          </p:cNvPr>
          <p:cNvSpPr txBox="1"/>
          <p:nvPr/>
        </p:nvSpPr>
        <p:spPr>
          <a:xfrm>
            <a:off x="1221328" y="791367"/>
            <a:ext cx="6122248" cy="790575"/>
          </a:xfrm>
          <a:prstGeom prst="rect">
            <a:avLst/>
          </a:prstGeom>
        </p:spPr>
        <p:txBody>
          <a:bodyPr lIns="0" tIns="0" rIns="0" bIns="0" rtlCol="0" anchor="t">
            <a:spAutoFit/>
          </a:bodyPr>
          <a:lstStyle/>
          <a:p>
            <a:pPr>
              <a:lnSpc>
                <a:spcPts val="6239"/>
              </a:lnSpc>
            </a:pPr>
            <a:r>
              <a:rPr lang="zh-CN" altLang="en-US" sz="5199" b="1" dirty="0">
                <a:solidFill>
                  <a:srgbClr val="100F0D"/>
                </a:solidFill>
                <a:latin typeface="思源黑体 2 Heavy"/>
                <a:ea typeface="思源黑体 2 Heavy"/>
                <a:cs typeface="思源黑体 2 Heavy"/>
                <a:sym typeface="思源黑体 2 Heavy"/>
              </a:rPr>
              <a:t>Bad Case分析</a:t>
            </a:r>
            <a:endParaRPr lang="en-US" altLang="zh-CN" sz="5199" b="1" dirty="0">
              <a:solidFill>
                <a:srgbClr val="100F0D"/>
              </a:solidFill>
              <a:latin typeface="思源黑体 2 Heavy"/>
              <a:ea typeface="思源黑体 2 Heavy"/>
              <a:cs typeface="思源黑体 2 Heavy"/>
              <a:sym typeface="思源黑体 2 Heavy"/>
            </a:endParaRPr>
          </a:p>
        </p:txBody>
      </p:sp>
      <p:grpSp>
        <p:nvGrpSpPr>
          <p:cNvPr id="4" name="Group 4">
            <a:extLst>
              <a:ext uri="{FF2B5EF4-FFF2-40B4-BE49-F238E27FC236}">
                <a16:creationId xmlns:a16="http://schemas.microsoft.com/office/drawing/2014/main" id="{35770941-4829-614F-DAF7-844B6D7C755B}"/>
              </a:ext>
            </a:extLst>
          </p:cNvPr>
          <p:cNvGrpSpPr/>
          <p:nvPr/>
        </p:nvGrpSpPr>
        <p:grpSpPr>
          <a:xfrm rot="-10800000">
            <a:off x="-903612" y="332422"/>
            <a:ext cx="1491947" cy="1424478"/>
            <a:chOff x="0" y="0"/>
            <a:chExt cx="851297" cy="812800"/>
          </a:xfrm>
        </p:grpSpPr>
        <p:sp>
          <p:nvSpPr>
            <p:cNvPr id="5" name="Freeform 5">
              <a:extLst>
                <a:ext uri="{FF2B5EF4-FFF2-40B4-BE49-F238E27FC236}">
                  <a16:creationId xmlns:a16="http://schemas.microsoft.com/office/drawing/2014/main" id="{E716D685-E2F3-8648-DC93-7BD5C1807D1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a:extLst>
                <a:ext uri="{FF2B5EF4-FFF2-40B4-BE49-F238E27FC236}">
                  <a16:creationId xmlns:a16="http://schemas.microsoft.com/office/drawing/2014/main" id="{3E75432E-6044-A7D7-1FFE-A22C9FC5E30A}"/>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a:extLst>
              <a:ext uri="{FF2B5EF4-FFF2-40B4-BE49-F238E27FC236}">
                <a16:creationId xmlns:a16="http://schemas.microsoft.com/office/drawing/2014/main" id="{C3E773D2-5F1F-E97D-B1D7-9C67E3244295}"/>
              </a:ext>
            </a:extLst>
          </p:cNvPr>
          <p:cNvGrpSpPr/>
          <p:nvPr/>
        </p:nvGrpSpPr>
        <p:grpSpPr>
          <a:xfrm rot="-10800000">
            <a:off x="475354" y="-1092056"/>
            <a:ext cx="1491947" cy="1424478"/>
            <a:chOff x="0" y="0"/>
            <a:chExt cx="851297" cy="812800"/>
          </a:xfrm>
        </p:grpSpPr>
        <p:sp>
          <p:nvSpPr>
            <p:cNvPr id="8" name="Freeform 8">
              <a:extLst>
                <a:ext uri="{FF2B5EF4-FFF2-40B4-BE49-F238E27FC236}">
                  <a16:creationId xmlns:a16="http://schemas.microsoft.com/office/drawing/2014/main" id="{37F05756-07B4-D238-4821-4D793C00F5E5}"/>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a:extLst>
                <a:ext uri="{FF2B5EF4-FFF2-40B4-BE49-F238E27FC236}">
                  <a16:creationId xmlns:a16="http://schemas.microsoft.com/office/drawing/2014/main" id="{C0BBF72B-0CAE-3039-FE1C-1ECA2A7C43F8}"/>
                </a:ext>
              </a:extLst>
            </p:cNvPr>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a:extLst>
              <a:ext uri="{FF2B5EF4-FFF2-40B4-BE49-F238E27FC236}">
                <a16:creationId xmlns:a16="http://schemas.microsoft.com/office/drawing/2014/main" id="{2A39D070-BCF5-045D-E0EB-340B5C99C921}"/>
              </a:ext>
            </a:extLst>
          </p:cNvPr>
          <p:cNvGrpSpPr/>
          <p:nvPr/>
        </p:nvGrpSpPr>
        <p:grpSpPr>
          <a:xfrm rot="-10800000">
            <a:off x="-1016593" y="-156042"/>
            <a:ext cx="1491947" cy="1424478"/>
            <a:chOff x="0" y="0"/>
            <a:chExt cx="851297" cy="812800"/>
          </a:xfrm>
        </p:grpSpPr>
        <p:sp>
          <p:nvSpPr>
            <p:cNvPr id="11" name="Freeform 11">
              <a:extLst>
                <a:ext uri="{FF2B5EF4-FFF2-40B4-BE49-F238E27FC236}">
                  <a16:creationId xmlns:a16="http://schemas.microsoft.com/office/drawing/2014/main" id="{BB194C87-6D3C-F2CC-B5A6-A660FE2DCF2D}"/>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a:extLst>
                <a:ext uri="{FF2B5EF4-FFF2-40B4-BE49-F238E27FC236}">
                  <a16:creationId xmlns:a16="http://schemas.microsoft.com/office/drawing/2014/main" id="{713886D4-7EAE-0DE0-8C1F-3818CE62374B}"/>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a:extLst>
              <a:ext uri="{FF2B5EF4-FFF2-40B4-BE49-F238E27FC236}">
                <a16:creationId xmlns:a16="http://schemas.microsoft.com/office/drawing/2014/main" id="{266A52F6-1CB7-0986-4E12-2BEDD3E68D72}"/>
              </a:ext>
            </a:extLst>
          </p:cNvPr>
          <p:cNvGrpSpPr/>
          <p:nvPr/>
        </p:nvGrpSpPr>
        <p:grpSpPr>
          <a:xfrm rot="-10800000">
            <a:off x="-81438" y="-262335"/>
            <a:ext cx="1113585" cy="1063226"/>
            <a:chOff x="0" y="0"/>
            <a:chExt cx="851297" cy="812800"/>
          </a:xfrm>
        </p:grpSpPr>
        <p:sp>
          <p:nvSpPr>
            <p:cNvPr id="14" name="Freeform 14">
              <a:extLst>
                <a:ext uri="{FF2B5EF4-FFF2-40B4-BE49-F238E27FC236}">
                  <a16:creationId xmlns:a16="http://schemas.microsoft.com/office/drawing/2014/main" id="{6C348AC4-6A8D-46C8-2122-3D4B964DDD88}"/>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a:extLst>
                <a:ext uri="{FF2B5EF4-FFF2-40B4-BE49-F238E27FC236}">
                  <a16:creationId xmlns:a16="http://schemas.microsoft.com/office/drawing/2014/main" id="{0179D47F-713E-F31A-9A73-6A36DBF7F1FD}"/>
                </a:ext>
              </a:extLst>
            </p:cNvPr>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a:extLst>
              <a:ext uri="{FF2B5EF4-FFF2-40B4-BE49-F238E27FC236}">
                <a16:creationId xmlns:a16="http://schemas.microsoft.com/office/drawing/2014/main" id="{EBBC37EB-3FF4-AAAC-38E1-F76D5317F856}"/>
              </a:ext>
            </a:extLst>
          </p:cNvPr>
          <p:cNvGrpSpPr/>
          <p:nvPr/>
        </p:nvGrpSpPr>
        <p:grpSpPr>
          <a:xfrm>
            <a:off x="16978402" y="9330128"/>
            <a:ext cx="2319341" cy="2214456"/>
            <a:chOff x="0" y="0"/>
            <a:chExt cx="851297" cy="812800"/>
          </a:xfrm>
        </p:grpSpPr>
        <p:sp>
          <p:nvSpPr>
            <p:cNvPr id="17" name="Freeform 17">
              <a:extLst>
                <a:ext uri="{FF2B5EF4-FFF2-40B4-BE49-F238E27FC236}">
                  <a16:creationId xmlns:a16="http://schemas.microsoft.com/office/drawing/2014/main" id="{D1DA62D6-CBBE-B8F8-471D-3D4E3D6109A0}"/>
                </a:ext>
              </a:extLst>
            </p:cNvPr>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a:extLst>
                <a:ext uri="{FF2B5EF4-FFF2-40B4-BE49-F238E27FC236}">
                  <a16:creationId xmlns:a16="http://schemas.microsoft.com/office/drawing/2014/main" id="{3DD461FD-4222-B38D-135E-97FBD5E7D618}"/>
                </a:ext>
              </a:extLst>
            </p:cNvPr>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a:extLst>
              <a:ext uri="{FF2B5EF4-FFF2-40B4-BE49-F238E27FC236}">
                <a16:creationId xmlns:a16="http://schemas.microsoft.com/office/drawing/2014/main" id="{6D851ED2-5F54-AB0A-C9BE-0E054D42785E}"/>
              </a:ext>
            </a:extLst>
          </p:cNvPr>
          <p:cNvGrpSpPr/>
          <p:nvPr/>
        </p:nvGrpSpPr>
        <p:grpSpPr>
          <a:xfrm rot="2700000">
            <a:off x="16275755" y="9690440"/>
            <a:ext cx="2408942" cy="2214456"/>
            <a:chOff x="0" y="0"/>
            <a:chExt cx="884185" cy="812800"/>
          </a:xfrm>
        </p:grpSpPr>
        <p:sp>
          <p:nvSpPr>
            <p:cNvPr id="20" name="Freeform 20">
              <a:extLst>
                <a:ext uri="{FF2B5EF4-FFF2-40B4-BE49-F238E27FC236}">
                  <a16:creationId xmlns:a16="http://schemas.microsoft.com/office/drawing/2014/main" id="{54DEAFEF-2DC5-002A-31E9-41E93962ADA7}"/>
                </a:ext>
              </a:extLst>
            </p:cNvPr>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a:extLst>
                <a:ext uri="{FF2B5EF4-FFF2-40B4-BE49-F238E27FC236}">
                  <a16:creationId xmlns:a16="http://schemas.microsoft.com/office/drawing/2014/main" id="{D89AEAA4-0F75-7DEB-D7A1-A685DCB6B8BE}"/>
                </a:ext>
              </a:extLst>
            </p:cNvPr>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29" name="TextBox 29">
            <a:extLst>
              <a:ext uri="{FF2B5EF4-FFF2-40B4-BE49-F238E27FC236}">
                <a16:creationId xmlns:a16="http://schemas.microsoft.com/office/drawing/2014/main" id="{1E03D7AF-B355-58F1-EE5F-10ED45789977}"/>
              </a:ext>
            </a:extLst>
          </p:cNvPr>
          <p:cNvSpPr txBox="1"/>
          <p:nvPr/>
        </p:nvSpPr>
        <p:spPr>
          <a:xfrm>
            <a:off x="1053918" y="2418238"/>
            <a:ext cx="16739291" cy="4776116"/>
          </a:xfrm>
          <a:prstGeom prst="rect">
            <a:avLst/>
          </a:prstGeom>
        </p:spPr>
        <p:txBody>
          <a:bodyPr wrap="square" lIns="0" tIns="0" rIns="0" bIns="0" rtlCol="0" anchor="t">
            <a:spAutoFit/>
          </a:bodyPr>
          <a:lstStyle/>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F020：RAG命中P04但Top5只有背景分块，遗漏含1291张图像、59物种的关键块，数字召回为0；Agent经英文改写检索补救成功，代价是5轮检索、20,394 Token并带入无关引用P06/P07。F015等误称论文未给IoU，根因在表格证据未进入回答前核验。</a:t>
            </a: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p:txBody>
      </p:sp>
      <p:sp>
        <p:nvSpPr>
          <p:cNvPr id="30" name="TextBox 30">
            <a:extLst>
              <a:ext uri="{FF2B5EF4-FFF2-40B4-BE49-F238E27FC236}">
                <a16:creationId xmlns:a16="http://schemas.microsoft.com/office/drawing/2014/main" id="{A66EB7EA-5808-9852-6DBB-E5C1271B2049}"/>
              </a:ext>
            </a:extLst>
          </p:cNvPr>
          <p:cNvSpPr txBox="1"/>
          <p:nvPr/>
        </p:nvSpPr>
        <p:spPr>
          <a:xfrm>
            <a:off x="304800" y="1823763"/>
            <a:ext cx="6398673" cy="533416"/>
          </a:xfrm>
          <a:prstGeom prst="rect">
            <a:avLst/>
          </a:prstGeom>
        </p:spPr>
        <p:txBody>
          <a:bodyPr wrap="square" lIns="0" tIns="0" rIns="0" bIns="0" rtlCol="0" anchor="t">
            <a:spAutoFit/>
          </a:bodyPr>
          <a:lstStyle/>
          <a:p>
            <a:pPr marL="0" lvl="0" indent="0" algn="ctr">
              <a:lnSpc>
                <a:spcPts val="4368"/>
              </a:lnSpc>
              <a:spcBef>
                <a:spcPct val="0"/>
              </a:spcBef>
            </a:pPr>
            <a:r>
              <a:rPr lang="zh-CN" altLang="en-US" sz="3600" b="1" dirty="0">
                <a:solidFill>
                  <a:srgbClr val="1E1E1E"/>
                </a:solidFill>
                <a:latin typeface="思源黑体 2 Bold"/>
                <a:ea typeface="思源黑体 2 Bold"/>
                <a:cs typeface="思源黑体 2 Bold"/>
                <a:sym typeface="思源黑体 2 Bold"/>
              </a:rPr>
              <a:t>检索漏读与</a:t>
            </a:r>
            <a:r>
              <a:rPr lang="en-US" altLang="zh-CN" sz="3600" b="1" dirty="0">
                <a:solidFill>
                  <a:srgbClr val="1E1E1E"/>
                </a:solidFill>
                <a:latin typeface="思源黑体 2 Bold"/>
                <a:ea typeface="思源黑体 2 Bold"/>
                <a:cs typeface="思源黑体 2 Bold"/>
                <a:sym typeface="思源黑体 2 Bold"/>
              </a:rPr>
              <a:t>表格误判</a:t>
            </a:r>
            <a:endParaRPr lang="en-US" sz="3600" b="1" dirty="0">
              <a:solidFill>
                <a:srgbClr val="1E1E1E"/>
              </a:solidFill>
              <a:latin typeface="思源黑体 2 Bold"/>
              <a:ea typeface="思源黑体 2 Bold"/>
              <a:cs typeface="思源黑体 2 Bold"/>
              <a:sym typeface="思源黑体 2 Bold"/>
            </a:endParaRPr>
          </a:p>
        </p:txBody>
      </p:sp>
      <p:sp>
        <p:nvSpPr>
          <p:cNvPr id="28" name="TextBox 29">
            <a:extLst>
              <a:ext uri="{FF2B5EF4-FFF2-40B4-BE49-F238E27FC236}">
                <a16:creationId xmlns:a16="http://schemas.microsoft.com/office/drawing/2014/main" id="{CA4DA391-2519-4219-50A6-AE0A91B92904}"/>
              </a:ext>
            </a:extLst>
          </p:cNvPr>
          <p:cNvSpPr txBox="1"/>
          <p:nvPr/>
        </p:nvSpPr>
        <p:spPr>
          <a:xfrm>
            <a:off x="1053918" y="7092575"/>
            <a:ext cx="16739291" cy="3791231"/>
          </a:xfrm>
          <a:prstGeom prst="rect">
            <a:avLst/>
          </a:prstGeom>
        </p:spPr>
        <p:txBody>
          <a:bodyPr wrap="square" lIns="0" tIns="0" rIns="0" bIns="0" rtlCol="0" anchor="t">
            <a:spAutoFit/>
          </a:bodyPr>
          <a:lstStyle/>
          <a:p>
            <a:pPr marL="0" lvl="0" indent="0">
              <a:lnSpc>
                <a:spcPct val="200000"/>
              </a:lnSpc>
              <a:spcBef>
                <a:spcPct val="0"/>
              </a:spcBef>
            </a:pPr>
            <a:r>
              <a:rPr lang="zh-CN" altLang="en-US" sz="3200" dirty="0">
                <a:solidFill>
                  <a:srgbClr val="100F0D"/>
                </a:solidFill>
                <a:latin typeface="思源黑体 2"/>
                <a:ea typeface="思源黑体 2"/>
                <a:cs typeface="思源黑体 2"/>
                <a:sym typeface="思源黑体 2"/>
              </a:rPr>
              <a:t>I009把Thought/Action文本直接当最终回答未执行工具（协议泄漏）；27/52题用满5轮，Observation注入致上下文膨胀；C001/C002题面「两篇论文」指代不明；错误答案曾进入语义缓存，已加开关关闭。</a:t>
            </a: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a:p>
            <a:pPr marL="0" lvl="0" indent="0">
              <a:lnSpc>
                <a:spcPct val="200000"/>
              </a:lnSpc>
              <a:spcBef>
                <a:spcPct val="0"/>
              </a:spcBef>
            </a:pPr>
            <a:endParaRPr lang="zh-CN" altLang="en-US" sz="3200" dirty="0">
              <a:solidFill>
                <a:srgbClr val="100F0D"/>
              </a:solidFill>
              <a:latin typeface="思源黑体 2"/>
              <a:ea typeface="思源黑体 2"/>
              <a:cs typeface="思源黑体 2"/>
              <a:sym typeface="思源黑体 2"/>
            </a:endParaRPr>
          </a:p>
        </p:txBody>
      </p:sp>
      <p:sp>
        <p:nvSpPr>
          <p:cNvPr id="32" name="TextBox 30">
            <a:extLst>
              <a:ext uri="{FF2B5EF4-FFF2-40B4-BE49-F238E27FC236}">
                <a16:creationId xmlns:a16="http://schemas.microsoft.com/office/drawing/2014/main" id="{763A5AA2-7FF2-E6AD-884E-FB42EC19D4C4}"/>
              </a:ext>
            </a:extLst>
          </p:cNvPr>
          <p:cNvSpPr txBox="1"/>
          <p:nvPr/>
        </p:nvSpPr>
        <p:spPr>
          <a:xfrm>
            <a:off x="838200" y="6431237"/>
            <a:ext cx="6398673" cy="553998"/>
          </a:xfrm>
          <a:prstGeom prst="rect">
            <a:avLst/>
          </a:prstGeom>
        </p:spPr>
        <p:txBody>
          <a:bodyPr wrap="square" lIns="0" tIns="0" rIns="0" bIns="0" rtlCol="0" anchor="t">
            <a:spAutoFit/>
          </a:bodyPr>
          <a:lstStyle/>
          <a:p>
            <a:pPr marL="0" lvl="0" indent="0" algn="ctr">
              <a:lnSpc>
                <a:spcPct val="100000"/>
              </a:lnSpc>
              <a:spcBef>
                <a:spcPct val="0"/>
              </a:spcBef>
            </a:pPr>
            <a:r>
              <a:rPr lang="en-US" sz="3600" b="1" dirty="0" err="1">
                <a:solidFill>
                  <a:srgbClr val="1E1E1E"/>
                </a:solidFill>
                <a:latin typeface="思源黑体 2 Bold"/>
                <a:ea typeface="思源黑体 2 Bold"/>
                <a:cs typeface="思源黑体 2 Bold"/>
                <a:sym typeface="思源黑体 2 Bold"/>
              </a:rPr>
              <a:t>Agent决策</a:t>
            </a:r>
            <a:r>
              <a:rPr lang="en-US" sz="3600" b="1" dirty="0">
                <a:solidFill>
                  <a:srgbClr val="1E1E1E"/>
                </a:solidFill>
                <a:latin typeface="思源黑体 2 Bold"/>
                <a:ea typeface="思源黑体 2 Bold"/>
                <a:cs typeface="思源黑体 2 Bold"/>
                <a:sym typeface="思源黑体 2 Bold"/>
              </a:rPr>
              <a:t>与</a:t>
            </a:r>
            <a:r>
              <a:rPr lang="zh-CN" altLang="en-US" sz="3600" b="1" dirty="0">
                <a:solidFill>
                  <a:srgbClr val="1E1E1E"/>
                </a:solidFill>
                <a:latin typeface="思源黑体 2 Bold"/>
                <a:ea typeface="思源黑体 2 Bold"/>
                <a:cs typeface="思源黑体 2 Bold"/>
                <a:sym typeface="思源黑体 2 Bold"/>
              </a:rPr>
              <a:t>运行问题</a:t>
            </a:r>
            <a:endParaRPr lang="en-US" sz="3600" b="1" dirty="0">
              <a:solidFill>
                <a:srgbClr val="1E1E1E"/>
              </a:solidFill>
              <a:latin typeface="思源黑体 2 Bold"/>
              <a:ea typeface="思源黑体 2 Bold"/>
              <a:cs typeface="思源黑体 2 Bold"/>
              <a:sym typeface="思源黑体 2 Bold"/>
            </a:endParaRPr>
          </a:p>
        </p:txBody>
      </p:sp>
    </p:spTree>
    <p:extLst>
      <p:ext uri="{BB962C8B-B14F-4D97-AF65-F5344CB8AC3E}">
        <p14:creationId xmlns:p14="http://schemas.microsoft.com/office/powerpoint/2010/main" val="73141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1328" y="791367"/>
            <a:ext cx="13485272" cy="795089"/>
          </a:xfrm>
          <a:prstGeom prst="rect">
            <a:avLst/>
          </a:prstGeom>
        </p:spPr>
        <p:txBody>
          <a:bodyPr wrap="square" lIns="0" tIns="0" rIns="0" bIns="0" rtlCol="0" anchor="t">
            <a:spAutoFit/>
          </a:bodyPr>
          <a:lstStyle/>
          <a:p>
            <a:pPr algn="l">
              <a:lnSpc>
                <a:spcPts val="6239"/>
              </a:lnSpc>
            </a:pPr>
            <a:r>
              <a:rPr lang="en-US" sz="5199" b="1" dirty="0">
                <a:solidFill>
                  <a:srgbClr val="100F0D"/>
                </a:solidFill>
                <a:latin typeface="思源黑体 2 Heavy"/>
                <a:ea typeface="思源黑体 2 Heavy"/>
                <a:cs typeface="思源黑体 2 Heavy"/>
                <a:sym typeface="思源黑体 2 Heavy"/>
              </a:rPr>
              <a:t>已完成优化 </a:t>
            </a:r>
            <a:r>
              <a:rPr lang="zh-CN" altLang="en-US" sz="5199" b="1" dirty="0">
                <a:solidFill>
                  <a:srgbClr val="100F0D"/>
                </a:solidFill>
                <a:latin typeface="思源黑体 2 Heavy"/>
                <a:ea typeface="思源黑体 2 Heavy"/>
                <a:cs typeface="思源黑体 2 Heavy"/>
                <a:sym typeface="思源黑体 2 Heavy"/>
              </a:rPr>
              <a:t>与高优先建议</a:t>
            </a:r>
          </a:p>
        </p:txBody>
      </p:sp>
      <p:grpSp>
        <p:nvGrpSpPr>
          <p:cNvPr id="4" name="Group 4"/>
          <p:cNvGrpSpPr/>
          <p:nvPr/>
        </p:nvGrpSpPr>
        <p:grpSpPr>
          <a:xfrm rot="-10800000">
            <a:off x="-903612" y="332422"/>
            <a:ext cx="1491947" cy="1424478"/>
            <a:chOff x="0" y="0"/>
            <a:chExt cx="851297" cy="812800"/>
          </a:xfrm>
        </p:grpSpPr>
        <p:sp>
          <p:nvSpPr>
            <p:cNvPr id="5" name="Freeform 5"/>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2941"/>
              </a:srgbClr>
            </a:solidFill>
          </p:spPr>
        </p:sp>
        <p:sp>
          <p:nvSpPr>
            <p:cNvPr id="6" name="TextBox 6"/>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7" name="Group 7"/>
          <p:cNvGrpSpPr/>
          <p:nvPr/>
        </p:nvGrpSpPr>
        <p:grpSpPr>
          <a:xfrm rot="-10800000">
            <a:off x="475354" y="-1092056"/>
            <a:ext cx="1491947" cy="1424478"/>
            <a:chOff x="0" y="0"/>
            <a:chExt cx="851297" cy="812800"/>
          </a:xfrm>
        </p:grpSpPr>
        <p:sp>
          <p:nvSpPr>
            <p:cNvPr id="8" name="Freeform 8"/>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74902"/>
              </a:srgbClr>
            </a:solidFill>
          </p:spPr>
        </p:sp>
        <p:sp>
          <p:nvSpPr>
            <p:cNvPr id="9" name="TextBox 9"/>
            <p:cNvSpPr txBox="1"/>
            <p:nvPr/>
          </p:nvSpPr>
          <p:spPr>
            <a:xfrm>
              <a:off x="63500" y="34925"/>
              <a:ext cx="724297" cy="714375"/>
            </a:xfrm>
            <a:prstGeom prst="rect">
              <a:avLst/>
            </a:prstGeom>
          </p:spPr>
          <p:txBody>
            <a:bodyPr lIns="8064" tIns="8064" rIns="8064" bIns="8064" rtlCol="0" anchor="ctr"/>
            <a:lstStyle/>
            <a:p>
              <a:pPr marL="0" lvl="0" indent="0" algn="ctr">
                <a:lnSpc>
                  <a:spcPts val="2660"/>
                </a:lnSpc>
                <a:spcBef>
                  <a:spcPct val="0"/>
                </a:spcBef>
              </a:pPr>
              <a:endParaRPr/>
            </a:p>
          </p:txBody>
        </p:sp>
      </p:grpSp>
      <p:grpSp>
        <p:nvGrpSpPr>
          <p:cNvPr id="10" name="Group 10"/>
          <p:cNvGrpSpPr/>
          <p:nvPr/>
        </p:nvGrpSpPr>
        <p:grpSpPr>
          <a:xfrm rot="-10800000">
            <a:off x="-1016593" y="-156042"/>
            <a:ext cx="1491947" cy="1424478"/>
            <a:chOff x="0" y="0"/>
            <a:chExt cx="851297" cy="812800"/>
          </a:xfrm>
        </p:grpSpPr>
        <p:sp>
          <p:nvSpPr>
            <p:cNvPr id="11" name="Freeform 11"/>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46667"/>
              </a:srgbClr>
            </a:solidFill>
          </p:spPr>
        </p:sp>
        <p:sp>
          <p:nvSpPr>
            <p:cNvPr id="12" name="TextBox 12"/>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3" name="Group 13"/>
          <p:cNvGrpSpPr/>
          <p:nvPr/>
        </p:nvGrpSpPr>
        <p:grpSpPr>
          <a:xfrm rot="-10800000">
            <a:off x="-81438" y="-262335"/>
            <a:ext cx="1113585" cy="1063226"/>
            <a:chOff x="0" y="0"/>
            <a:chExt cx="851297" cy="812800"/>
          </a:xfrm>
        </p:grpSpPr>
        <p:sp>
          <p:nvSpPr>
            <p:cNvPr id="14" name="Freeform 14"/>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5" name="TextBox 15"/>
            <p:cNvSpPr txBox="1"/>
            <p:nvPr/>
          </p:nvSpPr>
          <p:spPr>
            <a:xfrm>
              <a:off x="63500" y="34925"/>
              <a:ext cx="724297" cy="714375"/>
            </a:xfrm>
            <a:prstGeom prst="rect">
              <a:avLst/>
            </a:prstGeom>
          </p:spPr>
          <p:txBody>
            <a:bodyPr lIns="8064" tIns="8064" rIns="8064" bIns="8064" rtlCol="0" anchor="ctr"/>
            <a:lstStyle/>
            <a:p>
              <a:pPr algn="ctr">
                <a:lnSpc>
                  <a:spcPts val="2660"/>
                </a:lnSpc>
              </a:pPr>
              <a:endParaRPr/>
            </a:p>
          </p:txBody>
        </p:sp>
      </p:grpSp>
      <p:grpSp>
        <p:nvGrpSpPr>
          <p:cNvPr id="16" name="Group 16"/>
          <p:cNvGrpSpPr/>
          <p:nvPr/>
        </p:nvGrpSpPr>
        <p:grpSpPr>
          <a:xfrm>
            <a:off x="16978402" y="9330128"/>
            <a:ext cx="2319341" cy="2214456"/>
            <a:chOff x="0" y="0"/>
            <a:chExt cx="851297" cy="812800"/>
          </a:xfrm>
        </p:grpSpPr>
        <p:sp>
          <p:nvSpPr>
            <p:cNvPr id="17" name="Freeform 17"/>
            <p:cNvSpPr/>
            <p:nvPr/>
          </p:nvSpPr>
          <p:spPr>
            <a:xfrm>
              <a:off x="0" y="0"/>
              <a:ext cx="851297" cy="812800"/>
            </a:xfrm>
            <a:custGeom>
              <a:avLst/>
              <a:gdLst/>
              <a:ahLst/>
              <a:cxnLst/>
              <a:rect l="l" t="t" r="r" b="b"/>
              <a:pathLst>
                <a:path w="851297" h="812800">
                  <a:moveTo>
                    <a:pt x="613172" y="0"/>
                  </a:moveTo>
                  <a:lnTo>
                    <a:pt x="851297" y="238125"/>
                  </a:lnTo>
                  <a:lnTo>
                    <a:pt x="851297" y="574675"/>
                  </a:lnTo>
                  <a:lnTo>
                    <a:pt x="613172" y="812800"/>
                  </a:lnTo>
                  <a:lnTo>
                    <a:pt x="238125" y="812800"/>
                  </a:lnTo>
                  <a:lnTo>
                    <a:pt x="0" y="574675"/>
                  </a:lnTo>
                  <a:lnTo>
                    <a:pt x="0" y="238125"/>
                  </a:lnTo>
                  <a:lnTo>
                    <a:pt x="238125" y="0"/>
                  </a:lnTo>
                  <a:lnTo>
                    <a:pt x="613172" y="0"/>
                  </a:lnTo>
                  <a:close/>
                </a:path>
              </a:pathLst>
            </a:custGeom>
            <a:solidFill>
              <a:srgbClr val="263D6D">
                <a:alpha val="27843"/>
              </a:srgbClr>
            </a:solidFill>
          </p:spPr>
        </p:sp>
        <p:sp>
          <p:nvSpPr>
            <p:cNvPr id="18" name="TextBox 18"/>
            <p:cNvSpPr txBox="1"/>
            <p:nvPr/>
          </p:nvSpPr>
          <p:spPr>
            <a:xfrm>
              <a:off x="63500" y="34925"/>
              <a:ext cx="724297" cy="7143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2700000">
            <a:off x="16275755" y="9690440"/>
            <a:ext cx="2408942" cy="2214456"/>
            <a:chOff x="0" y="0"/>
            <a:chExt cx="884185" cy="812800"/>
          </a:xfrm>
        </p:grpSpPr>
        <p:sp>
          <p:nvSpPr>
            <p:cNvPr id="20" name="Freeform 20"/>
            <p:cNvSpPr/>
            <p:nvPr/>
          </p:nvSpPr>
          <p:spPr>
            <a:xfrm>
              <a:off x="0" y="0"/>
              <a:ext cx="884185" cy="812800"/>
            </a:xfrm>
            <a:custGeom>
              <a:avLst/>
              <a:gdLst/>
              <a:ahLst/>
              <a:cxnLst/>
              <a:rect l="l" t="t" r="r" b="b"/>
              <a:pathLst>
                <a:path w="884185" h="812800">
                  <a:moveTo>
                    <a:pt x="646060" y="0"/>
                  </a:moveTo>
                  <a:lnTo>
                    <a:pt x="884185" y="238125"/>
                  </a:lnTo>
                  <a:lnTo>
                    <a:pt x="884185" y="574675"/>
                  </a:lnTo>
                  <a:lnTo>
                    <a:pt x="646060" y="812800"/>
                  </a:lnTo>
                  <a:lnTo>
                    <a:pt x="238125" y="812800"/>
                  </a:lnTo>
                  <a:lnTo>
                    <a:pt x="0" y="574675"/>
                  </a:lnTo>
                  <a:lnTo>
                    <a:pt x="0" y="238125"/>
                  </a:lnTo>
                  <a:lnTo>
                    <a:pt x="238125" y="0"/>
                  </a:lnTo>
                  <a:lnTo>
                    <a:pt x="646060" y="0"/>
                  </a:lnTo>
                  <a:close/>
                </a:path>
              </a:pathLst>
            </a:custGeom>
            <a:solidFill>
              <a:srgbClr val="263D6D">
                <a:alpha val="52941"/>
              </a:srgbClr>
            </a:solidFill>
          </p:spPr>
        </p:sp>
        <p:sp>
          <p:nvSpPr>
            <p:cNvPr id="21" name="TextBox 21"/>
            <p:cNvSpPr txBox="1"/>
            <p:nvPr/>
          </p:nvSpPr>
          <p:spPr>
            <a:xfrm>
              <a:off x="63500" y="34925"/>
              <a:ext cx="757185" cy="714375"/>
            </a:xfrm>
            <a:prstGeom prst="rect">
              <a:avLst/>
            </a:prstGeom>
          </p:spPr>
          <p:txBody>
            <a:bodyPr lIns="50800" tIns="50800" rIns="50800" bIns="50800" rtlCol="0" anchor="ctr"/>
            <a:lstStyle/>
            <a:p>
              <a:pPr algn="ctr">
                <a:lnSpc>
                  <a:spcPts val="2659"/>
                </a:lnSpc>
              </a:pPr>
              <a:endParaRPr/>
            </a:p>
          </p:txBody>
        </p:sp>
      </p:grpSp>
      <p:sp>
        <p:nvSpPr>
          <p:cNvPr id="74" name="AutoShape 5">
            <a:extLst>
              <a:ext uri="{FF2B5EF4-FFF2-40B4-BE49-F238E27FC236}">
                <a16:creationId xmlns:a16="http://schemas.microsoft.com/office/drawing/2014/main" id="{E9E3592A-72CA-80F4-F63D-D6ACB019B60F}"/>
              </a:ext>
            </a:extLst>
          </p:cNvPr>
          <p:cNvSpPr txBox="1"/>
          <p:nvPr/>
        </p:nvSpPr>
        <p:spPr>
          <a:xfrm>
            <a:off x="1586364"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01 </a:t>
            </a:r>
            <a:r>
              <a:rPr lang="en-US" sz="2800" b="1" i="0" u="none" strike="noStrike" dirty="0" err="1">
                <a:solidFill>
                  <a:srgbClr val="2B4C7E"/>
                </a:solidFill>
                <a:latin typeface="Noto Sans SC"/>
                <a:ea typeface="Noto Sans SC"/>
                <a:cs typeface="Noto Sans SC"/>
                <a:sym typeface="Noto Sans SC"/>
              </a:rPr>
              <a:t>检索与数据层</a:t>
            </a:r>
            <a:endParaRPr lang="en-US" sz="2800" dirty="0"/>
          </a:p>
        </p:txBody>
      </p:sp>
      <p:sp>
        <p:nvSpPr>
          <p:cNvPr id="76" name="AutoShape 7">
            <a:extLst>
              <a:ext uri="{FF2B5EF4-FFF2-40B4-BE49-F238E27FC236}">
                <a16:creationId xmlns:a16="http://schemas.microsoft.com/office/drawing/2014/main" id="{2467931C-0298-2FE9-2C26-BD87607FF3ED}"/>
              </a:ext>
            </a:extLst>
          </p:cNvPr>
          <p:cNvSpPr txBox="1"/>
          <p:nvPr/>
        </p:nvSpPr>
        <p:spPr>
          <a:xfrm>
            <a:off x="1660518" y="3382161"/>
            <a:ext cx="3657601" cy="5780888"/>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50000"/>
              </a:lnSpc>
              <a:defRPr/>
            </a:pPr>
            <a:r>
              <a:rPr lang="en-US" sz="2000" b="0" i="0" u="none" strike="noStrike" dirty="0" err="1">
                <a:solidFill>
                  <a:srgbClr val="3C4655"/>
                </a:solidFill>
                <a:latin typeface="Noto Sans SC"/>
                <a:ea typeface="Noto Sans SC"/>
                <a:cs typeface="Noto Sans SC"/>
                <a:sym typeface="Noto Sans SC"/>
              </a:rPr>
              <a:t>双语术语扩展同用于向量与BM25；限制同一论文TopK分块数并保留多来源；修订歧义题面（C001-C007、I001-I005写明P01/P02）后重跑而非覆盖原始结果。</a:t>
            </a:r>
            <a:endParaRPr lang="en-US" sz="2000" dirty="0"/>
          </a:p>
          <a:p>
            <a:pPr marL="0" indent="0" algn="l">
              <a:lnSpc>
                <a:spcPct val="150000"/>
              </a:lnSpc>
            </a:pPr>
            <a:endParaRPr lang="en-US" sz="2000" dirty="0"/>
          </a:p>
          <a:p>
            <a:pPr marL="0" indent="0" algn="l">
              <a:lnSpc>
                <a:spcPct val="150000"/>
              </a:lnSpc>
            </a:pPr>
            <a:endParaRPr lang="en-US" sz="2000" dirty="0"/>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p:txBody>
      </p:sp>
      <p:cxnSp>
        <p:nvCxnSpPr>
          <p:cNvPr id="77" name="Connector 8">
            <a:extLst>
              <a:ext uri="{FF2B5EF4-FFF2-40B4-BE49-F238E27FC236}">
                <a16:creationId xmlns:a16="http://schemas.microsoft.com/office/drawing/2014/main" id="{E4B51A58-DAFF-ADE7-7A99-B6B24334CB34}"/>
              </a:ext>
            </a:extLst>
          </p:cNvPr>
          <p:cNvCxnSpPr>
            <a:cxnSpLocks/>
          </p:cNvCxnSpPr>
          <p:nvPr/>
        </p:nvCxnSpPr>
        <p:spPr>
          <a:xfrm>
            <a:off x="6001972" y="2980333"/>
            <a:ext cx="21721" cy="6916385"/>
          </a:xfrm>
          <a:prstGeom prst="straightConnector1">
            <a:avLst/>
          </a:prstGeom>
          <a:solidFill>
            <a:srgbClr val="DEE0E3">
              <a:alpha val="100000"/>
            </a:srgbClr>
          </a:solidFill>
          <a:ln w="12700" cap="flat" cmpd="sng">
            <a:solidFill>
              <a:srgbClr val="E1E6F0">
                <a:alpha val="100000"/>
              </a:srgbClr>
            </a:solidFill>
            <a:prstDash val="solid"/>
            <a:round/>
            <a:headEnd type="none" w="med" len="med"/>
            <a:tailEnd type="none" w="med" len="med"/>
          </a:ln>
        </p:spPr>
      </p:cxnSp>
      <p:sp>
        <p:nvSpPr>
          <p:cNvPr id="78" name="AutoShape 9">
            <a:extLst>
              <a:ext uri="{FF2B5EF4-FFF2-40B4-BE49-F238E27FC236}">
                <a16:creationId xmlns:a16="http://schemas.microsoft.com/office/drawing/2014/main" id="{1BF1F2BA-ED68-1DD7-5A0E-2DEBE1E2046C}"/>
              </a:ext>
            </a:extLst>
          </p:cNvPr>
          <p:cNvSpPr txBox="1"/>
          <p:nvPr/>
        </p:nvSpPr>
        <p:spPr>
          <a:xfrm>
            <a:off x="6023693"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02 </a:t>
            </a:r>
            <a:r>
              <a:rPr lang="en-US" sz="2800" b="1" i="0" u="none" strike="noStrike" dirty="0" err="1">
                <a:solidFill>
                  <a:srgbClr val="2B4C7E"/>
                </a:solidFill>
                <a:latin typeface="Noto Sans SC"/>
                <a:ea typeface="Noto Sans SC"/>
                <a:cs typeface="Noto Sans SC"/>
                <a:sym typeface="Noto Sans SC"/>
              </a:rPr>
              <a:t>Agent决策层</a:t>
            </a:r>
            <a:endParaRPr lang="en-US" sz="2800" dirty="0"/>
          </a:p>
        </p:txBody>
      </p:sp>
      <p:sp>
        <p:nvSpPr>
          <p:cNvPr id="80" name="AutoShape 11">
            <a:extLst>
              <a:ext uri="{FF2B5EF4-FFF2-40B4-BE49-F238E27FC236}">
                <a16:creationId xmlns:a16="http://schemas.microsoft.com/office/drawing/2014/main" id="{F0FC146D-DA02-A8AA-A91F-4227C0933421}"/>
              </a:ext>
            </a:extLst>
          </p:cNvPr>
          <p:cNvSpPr txBox="1"/>
          <p:nvPr/>
        </p:nvSpPr>
        <p:spPr>
          <a:xfrm>
            <a:off x="6274114" y="4152900"/>
            <a:ext cx="3657601" cy="41797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50000"/>
              </a:lnSpc>
              <a:defRPr/>
            </a:pPr>
            <a:r>
              <a:rPr lang="en-US" sz="2000" b="0" i="0" u="none" strike="noStrike" dirty="0">
                <a:solidFill>
                  <a:srgbClr val="3C4655"/>
                </a:solidFill>
                <a:latin typeface="Noto Sans SC"/>
                <a:ea typeface="Noto Sans SC"/>
                <a:cs typeface="Noto Sans SC"/>
                <a:sym typeface="Noto Sans SC"/>
              </a:rPr>
              <a:t>修复工具观察未进上下文问题（保留detail限3,000字）；按位置去重引用；建议答完校验兜底重试、证据充分即提前终止、只保留答案实际使用的引用。</a:t>
            </a:r>
            <a:endParaRPr lang="en-US" sz="2000" dirty="0"/>
          </a:p>
          <a:p>
            <a:pPr marL="0" indent="0" algn="l">
              <a:lnSpc>
                <a:spcPct val="150000"/>
              </a:lnSpc>
            </a:pPr>
            <a:endParaRPr lang="en-US" sz="2000" dirty="0"/>
          </a:p>
          <a:p>
            <a:pPr marL="0" indent="0" algn="l">
              <a:lnSpc>
                <a:spcPct val="150000"/>
              </a:lnSpc>
            </a:pPr>
            <a:endParaRPr lang="en-US" sz="2000" dirty="0"/>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152400" indent="-152400" algn="l">
              <a:lnSpc>
                <a:spcPct val="150000"/>
              </a:lnSpc>
              <a:buClr>
                <a:srgbClr val="3C4655"/>
              </a:buClr>
              <a:buChar char="•"/>
            </a:pPr>
            <a:endParaRPr lang="en-US" sz="2000" b="0" i="0" u="none" strike="noStrike" dirty="0">
              <a:solidFill>
                <a:srgbClr val="3C4655"/>
              </a:solidFill>
              <a:latin typeface="Noto Sans SC"/>
              <a:ea typeface="Noto Sans SC"/>
              <a:cs typeface="Noto Sans SC"/>
              <a:sym typeface="Noto Sans SC"/>
            </a:endParaRPr>
          </a:p>
          <a:p>
            <a:pPr marL="0" indent="0" algn="l">
              <a:lnSpc>
                <a:spcPct val="150000"/>
              </a:lnSpc>
            </a:pPr>
            <a:endParaRPr lang="en-US" sz="2000" b="0" i="0" u="none" strike="noStrike" dirty="0">
              <a:solidFill>
                <a:srgbClr val="3C4655"/>
              </a:solidFill>
              <a:latin typeface="Noto Sans SC"/>
              <a:ea typeface="Noto Sans SC"/>
              <a:cs typeface="Noto Sans SC"/>
              <a:sym typeface="Noto Sans SC"/>
            </a:endParaRPr>
          </a:p>
          <a:p>
            <a:pPr marL="0" indent="0" algn="l">
              <a:lnSpc>
                <a:spcPct val="150000"/>
              </a:lnSpc>
            </a:pPr>
            <a:endParaRPr lang="en-US" sz="2000" b="0" i="0" u="none" strike="noStrike" dirty="0">
              <a:solidFill>
                <a:srgbClr val="3C4655"/>
              </a:solidFill>
              <a:latin typeface="Noto Sans SC"/>
              <a:ea typeface="Noto Sans SC"/>
              <a:cs typeface="Noto Sans SC"/>
              <a:sym typeface="Noto Sans SC"/>
            </a:endParaRPr>
          </a:p>
        </p:txBody>
      </p:sp>
      <p:cxnSp>
        <p:nvCxnSpPr>
          <p:cNvPr id="81" name="Connector 12">
            <a:extLst>
              <a:ext uri="{FF2B5EF4-FFF2-40B4-BE49-F238E27FC236}">
                <a16:creationId xmlns:a16="http://schemas.microsoft.com/office/drawing/2014/main" id="{D8043665-9A70-7CD2-4404-C041AC4445AA}"/>
              </a:ext>
            </a:extLst>
          </p:cNvPr>
          <p:cNvCxnSpPr>
            <a:cxnSpLocks/>
          </p:cNvCxnSpPr>
          <p:nvPr/>
        </p:nvCxnSpPr>
        <p:spPr>
          <a:xfrm>
            <a:off x="11049000" y="3016245"/>
            <a:ext cx="21721" cy="6916385"/>
          </a:xfrm>
          <a:prstGeom prst="straightConnector1">
            <a:avLst/>
          </a:prstGeom>
          <a:solidFill>
            <a:srgbClr val="DEE0E3">
              <a:alpha val="100000"/>
            </a:srgbClr>
          </a:solidFill>
          <a:ln w="12700" cap="flat" cmpd="sng">
            <a:solidFill>
              <a:srgbClr val="E1E6F0">
                <a:alpha val="100000"/>
              </a:srgbClr>
            </a:solidFill>
            <a:prstDash val="solid"/>
            <a:round/>
            <a:headEnd type="none" w="med" len="med"/>
            <a:tailEnd type="none" w="med" len="med"/>
          </a:ln>
        </p:spPr>
      </p:cxnSp>
      <p:sp>
        <p:nvSpPr>
          <p:cNvPr id="82" name="AutoShape 13">
            <a:extLst>
              <a:ext uri="{FF2B5EF4-FFF2-40B4-BE49-F238E27FC236}">
                <a16:creationId xmlns:a16="http://schemas.microsoft.com/office/drawing/2014/main" id="{A79E1BE9-8F8F-041B-B0BD-C35238380CA1}"/>
              </a:ext>
            </a:extLst>
          </p:cNvPr>
          <p:cNvSpPr txBox="1"/>
          <p:nvPr/>
        </p:nvSpPr>
        <p:spPr>
          <a:xfrm>
            <a:off x="11070721" y="2360952"/>
            <a:ext cx="3657601" cy="619381"/>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a:lnSpc>
                <a:spcPct val="125000"/>
              </a:lnSpc>
              <a:defRPr/>
            </a:pPr>
            <a:r>
              <a:rPr lang="en-US" sz="2800" b="1" i="0" u="none" strike="noStrike" dirty="0">
                <a:solidFill>
                  <a:srgbClr val="2B4C7E"/>
                </a:solidFill>
                <a:latin typeface="Noto Sans SC"/>
                <a:ea typeface="Noto Sans SC"/>
                <a:cs typeface="Noto Sans SC"/>
                <a:sym typeface="Noto Sans SC"/>
              </a:rPr>
              <a:t>03 </a:t>
            </a:r>
            <a:r>
              <a:rPr lang="en-US" sz="2800" b="1" i="0" u="none" strike="noStrike" dirty="0" err="1">
                <a:solidFill>
                  <a:srgbClr val="2B4C7E"/>
                </a:solidFill>
                <a:latin typeface="Noto Sans SC"/>
                <a:ea typeface="Noto Sans SC"/>
                <a:cs typeface="Noto Sans SC"/>
                <a:sym typeface="Noto Sans SC"/>
              </a:rPr>
              <a:t>评测工程化</a:t>
            </a:r>
            <a:endParaRPr lang="en-US" sz="2800" dirty="0"/>
          </a:p>
        </p:txBody>
      </p:sp>
      <p:sp>
        <p:nvSpPr>
          <p:cNvPr id="84" name="AutoShape 15">
            <a:extLst>
              <a:ext uri="{FF2B5EF4-FFF2-40B4-BE49-F238E27FC236}">
                <a16:creationId xmlns:a16="http://schemas.microsoft.com/office/drawing/2014/main" id="{3A956A8E-188C-70C7-0AE4-63C7152F2526}"/>
              </a:ext>
            </a:extLst>
          </p:cNvPr>
          <p:cNvSpPr txBox="1"/>
          <p:nvPr/>
        </p:nvSpPr>
        <p:spPr>
          <a:xfrm>
            <a:off x="11299421" y="3968017"/>
            <a:ext cx="3657601" cy="22747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50000"/>
              </a:lnSpc>
              <a:buClr>
                <a:srgbClr val="3C4655"/>
              </a:buClr>
              <a:defRPr/>
            </a:pPr>
            <a:r>
              <a:rPr lang="en-US" sz="2000" b="1" i="0" u="none" strike="noStrike" dirty="0">
                <a:solidFill>
                  <a:srgbClr val="3C4655"/>
                </a:solidFill>
                <a:latin typeface="Noto Sans SC"/>
                <a:ea typeface="Noto Sans SC"/>
                <a:cs typeface="Noto Sans SC"/>
                <a:sym typeface="Noto Sans SC"/>
              </a:rPr>
              <a:t>新增缓存开关保证各题独立；</a:t>
            </a:r>
            <a:r>
              <a:rPr lang="en-US" sz="2000" b="1" i="0" u="none" strike="noStrike" dirty="0" err="1">
                <a:solidFill>
                  <a:srgbClr val="3C4655"/>
                </a:solidFill>
                <a:latin typeface="Noto Sans SC"/>
                <a:ea typeface="Noto Sans SC"/>
                <a:cs typeface="Noto Sans SC"/>
                <a:sym typeface="Noto Sans SC"/>
              </a:rPr>
              <a:t>断点续跑脚本逐题保存、</a:t>
            </a:r>
            <a:r>
              <a:rPr lang="en-US" sz="2000" b="0" i="0" u="none" strike="noStrike" dirty="0">
                <a:solidFill>
                  <a:srgbClr val="3C4655"/>
                </a:solidFill>
                <a:latin typeface="Noto Sans SC"/>
                <a:ea typeface="Noto Sans SC"/>
                <a:cs typeface="Noto Sans SC"/>
                <a:sym typeface="Noto Sans SC"/>
              </a:rPr>
              <a:t>连续3次失败自动停止；</a:t>
            </a:r>
            <a:r>
              <a:rPr lang="en-US" sz="2000" b="0" i="0" u="none" strike="noStrike" dirty="0" err="1">
                <a:solidFill>
                  <a:srgbClr val="3C4655"/>
                </a:solidFill>
                <a:latin typeface="Noto Sans SC"/>
                <a:ea typeface="Noto Sans SC"/>
                <a:cs typeface="Noto Sans SC"/>
                <a:sym typeface="Noto Sans SC"/>
              </a:rPr>
              <a:t>关闭热重载、</a:t>
            </a:r>
            <a:endParaRPr lang="en-US" sz="2000" dirty="0"/>
          </a:p>
          <a:p>
            <a:pPr algn="l">
              <a:lnSpc>
                <a:spcPct val="150000"/>
              </a:lnSpc>
              <a:buClr>
                <a:srgbClr val="3C4655"/>
              </a:buClr>
            </a:pPr>
            <a:r>
              <a:rPr lang="en-US" sz="2000" b="1" i="0" u="none" strike="noStrike" dirty="0">
                <a:solidFill>
                  <a:srgbClr val="3C4655"/>
                </a:solidFill>
                <a:latin typeface="Noto Sans SC"/>
                <a:ea typeface="Noto Sans SC"/>
                <a:cs typeface="Noto Sans SC"/>
                <a:sym typeface="Noto Sans SC"/>
              </a:rPr>
              <a:t>题间隔5秒分8题小批跑，</a:t>
            </a:r>
            <a:r>
              <a:rPr lang="en-US" sz="2000" b="1" i="0" u="none" strike="noStrike" dirty="0" err="1">
                <a:solidFill>
                  <a:srgbClr val="3C4655"/>
                </a:solidFill>
                <a:latin typeface="Noto Sans SC"/>
                <a:ea typeface="Noto Sans SC"/>
                <a:cs typeface="Noto Sans SC"/>
                <a:sym typeface="Noto Sans SC"/>
              </a:rPr>
              <a:t>39题网络失败全部恢复；</a:t>
            </a:r>
            <a:r>
              <a:rPr lang="en-US" sz="2000" b="0" i="0" u="none" strike="noStrike" dirty="0">
                <a:solidFill>
                  <a:srgbClr val="3C4655"/>
                </a:solidFill>
                <a:latin typeface="Noto Sans SC"/>
                <a:ea typeface="Noto Sans SC"/>
                <a:cs typeface="Noto Sans SC"/>
                <a:sym typeface="Noto Sans SC"/>
              </a:rPr>
              <a:t>缓存上线质量门槛与</a:t>
            </a:r>
            <a:r>
              <a:rPr lang="en-US" sz="2000" b="0" i="0" u="none" strike="noStrike" dirty="0" err="1">
                <a:solidFill>
                  <a:srgbClr val="3C4655"/>
                </a:solidFill>
                <a:latin typeface="Noto Sans SC"/>
                <a:ea typeface="Noto Sans SC"/>
                <a:cs typeface="Noto Sans SC"/>
                <a:sym typeface="Noto Sans SC"/>
              </a:rPr>
              <a:t>手动清理接口。</a:t>
            </a:r>
            <a:endParaRPr lang="en-US" sz="2000" b="0" i="0" u="none" strike="noStrike" dirty="0">
              <a:solidFill>
                <a:srgbClr val="3C4655"/>
              </a:solidFill>
              <a:latin typeface="Noto Sans SC"/>
              <a:ea typeface="Noto Sans SC"/>
              <a:cs typeface="Noto Sans SC"/>
              <a:sym typeface="Noto Sans SC"/>
            </a:endParaRPr>
          </a:p>
          <a:p>
            <a:pPr algn="l">
              <a:lnSpc>
                <a:spcPct val="150000"/>
              </a:lnSpc>
              <a:buClr>
                <a:srgbClr val="3C4655"/>
              </a:buClr>
            </a:pPr>
            <a:endParaRPr lang="en-US" sz="2000" b="0" i="0" u="none" strike="noStrike" dirty="0">
              <a:solidFill>
                <a:srgbClr val="3C4655"/>
              </a:solidFill>
              <a:latin typeface="Noto Sans SC"/>
              <a:ea typeface="Noto Sans SC"/>
              <a:cs typeface="Noto Sans SC"/>
              <a:sym typeface="Noto Sans SC"/>
            </a:endParaRPr>
          </a:p>
        </p:txBody>
      </p:sp>
    </p:spTree>
    <p:extLst>
      <p:ext uri="{BB962C8B-B14F-4D97-AF65-F5344CB8AC3E}">
        <p14:creationId xmlns:p14="http://schemas.microsoft.com/office/powerpoint/2010/main" val="1288592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5140</Words>
  <Application>Microsoft Office PowerPoint</Application>
  <PresentationFormat>自定义</PresentationFormat>
  <Paragraphs>388</Paragraphs>
  <Slides>51</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51</vt:i4>
      </vt:variant>
    </vt:vector>
  </HeadingPairs>
  <TitlesOfParts>
    <vt:vector size="69" baseType="lpstr">
      <vt:lpstr>Akzidenz-Grotesk Medium</vt:lpstr>
      <vt:lpstr>Noto Sans SC</vt:lpstr>
      <vt:lpstr>Cambria Math</vt:lpstr>
      <vt:lpstr>Akzidenz-Grotesk</vt:lpstr>
      <vt:lpstr>思源黑体 4</vt:lpstr>
      <vt:lpstr>Arial</vt:lpstr>
      <vt:lpstr>思源黑体 2 Heavy</vt:lpstr>
      <vt:lpstr>思源黑体 2 Bold</vt:lpstr>
      <vt:lpstr>思源黑体 3</vt:lpstr>
      <vt:lpstr>Calibri</vt:lpstr>
      <vt:lpstr>思源黑体 2</vt:lpstr>
      <vt:lpstr>思源黑体 2 Medium</vt:lpstr>
      <vt:lpstr>Akzidenz-Grotesk Bold</vt:lpstr>
      <vt:lpstr>思源黑体 1 Heavy</vt:lpstr>
      <vt:lpstr>Roboto Mono</vt:lpstr>
      <vt:lpstr>等线</vt:lpstr>
      <vt:lpstr>思源黑体 4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蓝色简约几何风大学生毕业论文答辩演示文稿</dc:title>
  <dc:creator>wlllxhq</dc:creator>
  <cp:lastModifiedBy>wei hua</cp:lastModifiedBy>
  <cp:revision>12</cp:revision>
  <dcterms:created xsi:type="dcterms:W3CDTF">2006-08-16T00:00:00Z</dcterms:created>
  <dcterms:modified xsi:type="dcterms:W3CDTF">2026-10-11T01:34:00Z</dcterms:modified>
  <dc:identifier>DAHWqW31XJ8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{"Label":"1","ContentProducer":"001191110105MA01AN806X00000","ProduceID":"DAHWqW31XJ8","ReservedCode1":"","ContentPropagator":"001191110105MA01AN806X00000","PropagateID":"DAHWqW31XJ8","ReservedCode2":""}</vt:lpwstr>
  </property>
</Properties>
</file>